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35e05f64-6f4c-927b-1098-3831fa4e46ea}">
          <p14:sldIdLst>
            <p14:sldId id="256"/>
          </p14:sldIdLst>
        </p14:section>
        <p14:section name="Resultados" id="{3f6682f8-2e2a-d0f8-1c3a-2ba67168c0b4}">
          <p14:sldIdLst>
            <p14:sldId id="257"/>
            <p14:sldId id="258"/>
            <p14:sldId id="259"/>
            <p14:sldId id="260"/>
          </p14:sldIdLst>
        </p14:section>
        <p14:section name="Avaliação e próximos passos" id="{40799a9f-d856-57b6-59c9-2c821204188d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Investido (R$)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&quot;R$ &quot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1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WhatsApp</c:v>
                  </c:pt>
                  <c:pt idx="1">
                    <c:v>Perfil IG</c:v>
                  </c:pt>
                  <c:pt idx="2">
                    <c:v>Engaj. 1</c:v>
                  </c:pt>
                  <c:pt idx="3">
                    <c:v>Engaj. 2</c:v>
                  </c:pt>
                  <c:pt idx="4">
                    <c:v>Criativo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777.99</c:v>
                </c:pt>
                <c:pt idx="1">
                  <c:v>182.14</c:v>
                </c:pt>
                <c:pt idx="2">
                  <c:v>179.05</c:v>
                </c:pt>
                <c:pt idx="3">
                  <c:v>99.96</c:v>
                </c:pt>
                <c:pt idx="4">
                  <c:v>149.02</c:v>
                </c:pt>
              </c:numCache>
            </c:numRef>
          </c:val>
        </c:ser>
        <c:dLbls>
          <c:numFmt formatCode="&quot;R$ &quot;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1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quadro 1"/>
          <p:cNvSpPr/>
          <p:nvPr/>
        </p:nvSpPr>
        <p:spPr>
          <a:xfrm>
            <a:off x="7589520" y="365760"/>
            <a:ext cx="1645920" cy="2011680"/>
          </a:xfrm>
          <a:prstGeom prst="rect">
            <a:avLst/>
          </a:prstGeom>
          <a:solidFill>
            <a:srgbClr val="2A1C2A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4" name="quadro 2"/>
          <p:cNvSpPr/>
          <p:nvPr/>
        </p:nvSpPr>
        <p:spPr>
          <a:xfrm>
            <a:off x="7955280" y="731520"/>
            <a:ext cx="1280160" cy="1280160"/>
          </a:xfrm>
          <a:prstGeom prst="rect">
            <a:avLst/>
          </a:prstGeom>
          <a:solidFill>
            <a:srgbClr val="4F212F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5" name="linha 1"/>
          <p:cNvSpPr/>
          <p:nvPr/>
        </p:nvSpPr>
        <p:spPr>
          <a:xfrm flipH="1">
            <a:off x="6812280" y="749808"/>
            <a:ext cx="594360" cy="1874520"/>
          </a:xfrm>
          <a:prstGeom prst="line">
            <a:avLst/>
          </a:prstGeom>
          <a:noFill/>
          <a:ln w="12700">
            <a:solidFill>
              <a:srgbClr val="E63946"/>
            </a:solidFill>
            <a:prstDash val="solid"/>
          </a:ln>
        </p:spPr>
      </p:sp>
      <p:sp>
        <p:nvSpPr>
          <p:cNvPr id="6" name="linha 2"/>
          <p:cNvSpPr/>
          <p:nvPr/>
        </p:nvSpPr>
        <p:spPr>
          <a:xfrm>
            <a:off x="7406640" y="365760"/>
            <a:ext cx="0" cy="2011680"/>
          </a:xfrm>
          <a:prstGeom prst="line">
            <a:avLst/>
          </a:prstGeom>
          <a:noFill/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66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BLUETREE · FACEBOOK &amp; INSTAGRAM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1887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Anúncios de Réveillon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Parcial até 22/10/2026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Campanhas veiculadas · Resultado por anúncio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Pontos positivos e de atenção · Próximos passos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Pirueta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RESUMO FINANCEIRO · RÉVEILLON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investido por anúncio</a:t>
            </a:r>
            <a:endParaRPr lang="en-US" sz="2800" dirty="0"/>
          </a:p>
        </p:txBody>
      </p:sp>
      <p:graphicFrame>
        <p:nvGraphicFramePr>
          <p:cNvPr id="5" name="grafico investimento" descr=""/>
          <p:cNvGraphicFramePr/>
          <p:nvPr/>
        </p:nvGraphicFramePr>
        <p:xfrm>
          <a:off x="365760" y="1280160"/>
          <a:ext cx="4663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 WhatsApp · mensagens"/>
          <p:cNvSpPr/>
          <p:nvPr/>
        </p:nvSpPr>
        <p:spPr>
          <a:xfrm>
            <a:off x="5303520" y="1280160"/>
            <a:ext cx="3429000" cy="603504"/>
          </a:xfrm>
          <a:prstGeom prst="roundRect">
            <a:avLst>
              <a:gd name="adj" fmla="val 9091"/>
            </a:avLst>
          </a:prstGeom>
          <a:solidFill>
            <a:srgbClr val="E2F3E8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4068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WhatsApp · mensagens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R$ 777,99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627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196 conversas · R$3,97/conversa</a:t>
            </a:r>
            <a:endParaRPr lang="en-US" sz="900" dirty="0"/>
          </a:p>
        </p:txBody>
      </p:sp>
      <p:sp>
        <p:nvSpPr>
          <p:cNvPr id="10" name="card Visitas ao perfil"/>
          <p:cNvSpPr/>
          <p:nvPr/>
        </p:nvSpPr>
        <p:spPr>
          <a:xfrm>
            <a:off x="5303520" y="1993392"/>
            <a:ext cx="3429000" cy="603504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0680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Visitas ao perfil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R$ 182,14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3408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474 visitas · R$0,38/visita</a:t>
            </a:r>
            <a:endParaRPr lang="en-US" sz="900" dirty="0"/>
          </a:p>
        </p:txBody>
      </p:sp>
      <p:sp>
        <p:nvSpPr>
          <p:cNvPr id="14" name="card Engajamento (2 ads)"/>
          <p:cNvSpPr/>
          <p:nvPr/>
        </p:nvSpPr>
        <p:spPr>
          <a:xfrm>
            <a:off x="5303520" y="2706624"/>
            <a:ext cx="3429000" cy="603504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2779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Engajamento (2 ads)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R$ 279,01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30540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1.406 interações</a:t>
            </a:r>
            <a:endParaRPr lang="en-US" sz="900" dirty="0"/>
          </a:p>
        </p:txBody>
      </p:sp>
      <p:sp>
        <p:nvSpPr>
          <p:cNvPr id="18" name="card Criativo 1"/>
          <p:cNvSpPr/>
          <p:nvPr/>
        </p:nvSpPr>
        <p:spPr>
          <a:xfrm>
            <a:off x="5303520" y="3419856"/>
            <a:ext cx="3429000" cy="603504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4068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Criativo 1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R$ 149,02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7673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7 resultados · R$21,29/result.</a:t>
            </a:r>
            <a:endParaRPr lang="en-US" sz="900" dirty="0"/>
          </a:p>
        </p:txBody>
      </p:sp>
      <p:sp>
        <p:nvSpPr>
          <p:cNvPr id="22" name="card total"/>
          <p:cNvSpPr/>
          <p:nvPr/>
        </p:nvSpPr>
        <p:spPr>
          <a:xfrm>
            <a:off x="5303520" y="4133088"/>
            <a:ext cx="3429000" cy="603504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4068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Total geral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R$ 1.388,16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44805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87.728 impressões · 5 anúncios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HISTÓRICO DE ANÚNCIOS · RÉVEILLON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Anúncios veiculados — Réveillon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Campanha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Resultado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Custo/Result.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1261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Investido</a:t>
            </a:r>
            <a:endParaRPr lang="en-US" sz="850" dirty="0"/>
          </a:p>
        </p:txBody>
      </p:sp>
      <p:sp>
        <p:nvSpPr>
          <p:cNvPr id="9" name="linha cabecalho"/>
          <p:cNvSpPr/>
          <p:nvPr/>
        </p:nvSpPr>
        <p:spPr>
          <a:xfrm>
            <a:off x="411480" y="1499616"/>
            <a:ext cx="832104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0" name="tag WhatsApp"/>
          <p:cNvSpPr txBox="1"/>
          <p:nvPr/>
        </p:nvSpPr>
        <p:spPr>
          <a:xfrm>
            <a:off x="411480" y="1613916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E2F3E8"/>
          </a:solidFill>
          <a:ln w="9525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WhatsApp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5361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Mensagens · Réveillon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19.581 alcance · 196 conversas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536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R$3,97/conversa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5361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R$777,99</a:t>
            </a:r>
            <a:endParaRPr lang="en-US" sz="1100" dirty="0"/>
          </a:p>
        </p:txBody>
      </p:sp>
      <p:sp>
        <p:nvSpPr>
          <p:cNvPr id="15" name="faixa linha"/>
          <p:cNvSpPr/>
          <p:nvPr/>
        </p:nvSpPr>
        <p:spPr>
          <a:xfrm>
            <a:off x="411480" y="1938528"/>
            <a:ext cx="832104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ag Perfil IG"/>
          <p:cNvSpPr txBox="1"/>
          <p:nvPr/>
        </p:nvSpPr>
        <p:spPr>
          <a:xfrm>
            <a:off x="411480" y="2016252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9525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Perfil IG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193852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Engajamento · visitas ao perfil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19385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13.560 alcance · 474 visitas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9385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R$0,38/visita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R$182,14</a:t>
            </a:r>
            <a:endParaRPr lang="en-US" sz="1100" dirty="0"/>
          </a:p>
        </p:txBody>
      </p:sp>
      <p:sp>
        <p:nvSpPr>
          <p:cNvPr id="21" name="tag Engajamento"/>
          <p:cNvSpPr txBox="1"/>
          <p:nvPr/>
        </p:nvSpPr>
        <p:spPr>
          <a:xfrm>
            <a:off x="411480" y="2418588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Engajamento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23408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Engajamento · Ad 1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23408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8.763 alcance · 946 interações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3408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R$0,19/interação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3408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R$179,05</a:t>
            </a:r>
            <a:endParaRPr lang="en-US" sz="1100" dirty="0"/>
          </a:p>
        </p:txBody>
      </p:sp>
      <p:sp>
        <p:nvSpPr>
          <p:cNvPr id="26" name="faixa linha"/>
          <p:cNvSpPr/>
          <p:nvPr/>
        </p:nvSpPr>
        <p:spPr>
          <a:xfrm>
            <a:off x="411480" y="2743200"/>
            <a:ext cx="832104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ag Engajamento"/>
          <p:cNvSpPr txBox="1"/>
          <p:nvPr/>
        </p:nvSpPr>
        <p:spPr>
          <a:xfrm>
            <a:off x="411480" y="2820924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Engajamento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27432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Engajamento · Ad 2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794760" y="27432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7.650 alcance · 460 interações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2743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R$0,22/interação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7432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R$99,96</a:t>
            </a:r>
            <a:endParaRPr lang="en-US" sz="1100" dirty="0"/>
          </a:p>
        </p:txBody>
      </p:sp>
      <p:sp>
        <p:nvSpPr>
          <p:cNvPr id="32" name="tag Anúncio"/>
          <p:cNvSpPr txBox="1"/>
          <p:nvPr/>
        </p:nvSpPr>
        <p:spPr>
          <a:xfrm>
            <a:off x="411480" y="3223260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9525">
            <a:solidFill>
              <a:srgbClr val="6B72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Anúncio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31455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Criativo 1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31455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4.256 alcance · 7 resultados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31455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R$21,29/resultado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452360" y="31455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R$149,02</a:t>
            </a:r>
            <a:endParaRPr lang="en-US" sz="1100" dirty="0"/>
          </a:p>
        </p:txBody>
      </p:sp>
      <p:sp>
        <p:nvSpPr>
          <p:cNvPr id="37" name="linha total"/>
          <p:cNvSpPr/>
          <p:nvPr/>
        </p:nvSpPr>
        <p:spPr>
          <a:xfrm>
            <a:off x="411480" y="3602736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36027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Total investido — Réveillon (parcial)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36027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R$ 1.388,16</a:t>
            </a:r>
            <a:endParaRPr lang="en-US" sz="1300" dirty="0"/>
          </a:p>
        </p:txBody>
      </p:sp>
      <p:sp>
        <p:nvSpPr>
          <p:cNvPr id="40" name="caixa info"/>
          <p:cNvSpPr/>
          <p:nvPr/>
        </p:nvSpPr>
        <p:spPr>
          <a:xfrm>
            <a:off x="411480" y="4114800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o info"/>
          <p:cNvSpPr txBox="1"/>
          <p:nvPr/>
        </p:nvSpPr>
        <p:spPr>
          <a:xfrm>
            <a:off x="640080" y="41879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D97706"/>
                </a:solidFill>
              </a:rPr>
              <a:t>📊  Resumo do gerenciador Meta — Réveillon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</a:rPr>
              <a:t>Total usado: R$1.388,16  ·  87.728 impressões  ·  53.810 de alcance somado entre os anúncios (a mesma pessoa pode ter visto mais de um).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CAMPANHA DE MENSAGENS · WHATSAPP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Conversas no WhatsApp — campanha principal</a:t>
            </a:r>
            <a:endParaRPr lang="en-US" sz="2800" dirty="0"/>
          </a:p>
        </p:txBody>
      </p:sp>
      <p:pic>
        <p:nvPicPr>
          <p:cNvPr id="5" name="criativo video 1" descr="Criativo de Réveillon: apresentadora no salão de ev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2103120" cy="3095714"/>
          </a:xfrm>
          <a:prstGeom prst="rect">
            <a:avLst/>
          </a:prstGeom>
        </p:spPr>
      </p:pic>
      <p:pic>
        <p:nvPicPr>
          <p:cNvPr id="6" name="criativo video 2" descr="Criativo de Réveillon: apresentadora na área exter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98448"/>
            <a:ext cx="2103120" cy="309571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4622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Criativos da campanha (vídeos) — todos no mesmo conjunto de anúncios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212080" y="1234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conversas iniciadas no WhatsApp</a:t>
            </a:r>
            <a:endParaRPr lang="en-US" sz="1200" dirty="0"/>
          </a:p>
        </p:txBody>
      </p:sp>
      <p:sp>
        <p:nvSpPr>
          <p:cNvPr id="10" name="mini por conversa"/>
          <p:cNvSpPr/>
          <p:nvPr/>
        </p:nvSpPr>
        <p:spPr>
          <a:xfrm>
            <a:off x="5212080" y="2377440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21808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R$3,97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321808" y="2706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por conversa</a:t>
            </a:r>
            <a:endParaRPr lang="en-US" sz="900" dirty="0"/>
          </a:p>
        </p:txBody>
      </p:sp>
      <p:sp>
        <p:nvSpPr>
          <p:cNvPr id="13" name="mini investido (R$30/dia)"/>
          <p:cNvSpPr/>
          <p:nvPr/>
        </p:nvSpPr>
        <p:spPr>
          <a:xfrm>
            <a:off x="6995160" y="2377440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104888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R$777,99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104888" y="2706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investido (R$30/dia)</a:t>
            </a:r>
            <a:endParaRPr lang="en-US" sz="900" dirty="0"/>
          </a:p>
        </p:txBody>
      </p:sp>
      <p:sp>
        <p:nvSpPr>
          <p:cNvPr id="16" name="mini impressões"/>
          <p:cNvSpPr/>
          <p:nvPr/>
        </p:nvSpPr>
        <p:spPr>
          <a:xfrm>
            <a:off x="5212080" y="3035808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21808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32.193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321808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impressões</a:t>
            </a:r>
            <a:endParaRPr lang="en-US" sz="900" dirty="0"/>
          </a:p>
        </p:txBody>
      </p:sp>
      <p:sp>
        <p:nvSpPr>
          <p:cNvPr id="19" name="mini pessoas alcançadas"/>
          <p:cNvSpPr/>
          <p:nvPr/>
        </p:nvSpPr>
        <p:spPr>
          <a:xfrm>
            <a:off x="6995160" y="3035808"/>
            <a:ext cx="1645920" cy="566928"/>
          </a:xfrm>
          <a:prstGeom prst="roundRect">
            <a:avLst>
              <a:gd name="adj" fmla="val 9677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04888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19.581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104888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pessoas alcançadas</a:t>
            </a:r>
            <a:endParaRPr lang="en-US" sz="900" dirty="0"/>
          </a:p>
        </p:txBody>
      </p:sp>
      <p:sp>
        <p:nvSpPr>
          <p:cNvPr id="22" name="nota conjunto"/>
          <p:cNvSpPr/>
          <p:nvPr/>
        </p:nvSpPr>
        <p:spPr>
          <a:xfrm>
            <a:off x="5212080" y="3767328"/>
            <a:ext cx="3429000" cy="896112"/>
          </a:xfrm>
          <a:prstGeom prst="roundRect">
            <a:avLst>
              <a:gd name="adj" fmla="val 6122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349240" y="381304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Como os criativos rodaram no mesmo conjunto, o Meta distribuiu a verba entre eles e o resultado acima é o consolidado da campanha. O custo por conversa ficou na faixa das campanhas de WhatsApp do 1º semestre (R$1,50 a R$7,86).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ANÚNCIOS DE ENGAJAMENTO · RÉVEILLON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Engajamento: o público interagindo com a festa</a:t>
            </a:r>
            <a:endParaRPr lang="en-US" sz="2800" dirty="0"/>
          </a:p>
        </p:txBody>
      </p:sp>
      <p:sp>
        <p:nvSpPr>
          <p:cNvPr id="5" name="card eng 0"/>
          <p:cNvSpPr/>
          <p:nvPr/>
        </p:nvSpPr>
        <p:spPr>
          <a:xfrm>
            <a:off x="457200" y="13258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ag Perfil IG"/>
          <p:cNvSpPr txBox="1"/>
          <p:nvPr/>
        </p:nvSpPr>
        <p:spPr>
          <a:xfrm>
            <a:off x="594360" y="148132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9525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Perfil IG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visitas ao perfil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R$0,38 por visita</a:t>
            </a:r>
            <a:endParaRPr lang="en-US" sz="950" dirty="0"/>
          </a:p>
        </p:txBody>
      </p:sp>
      <p:sp>
        <p:nvSpPr>
          <p:cNvPr id="10" name="divisor"/>
          <p:cNvSpPr/>
          <p:nvPr/>
        </p:nvSpPr>
        <p:spPr>
          <a:xfrm>
            <a:off x="594360" y="2907792"/>
            <a:ext cx="1645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R$182,14 investido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18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13.560 alcance · R$20/dia</a:t>
            </a:r>
            <a:endParaRPr lang="en-US" sz="850" dirty="0"/>
          </a:p>
        </p:txBody>
      </p:sp>
      <p:sp>
        <p:nvSpPr>
          <p:cNvPr id="13" name="card eng 1"/>
          <p:cNvSpPr/>
          <p:nvPr/>
        </p:nvSpPr>
        <p:spPr>
          <a:xfrm>
            <a:off x="2560320" y="13258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ag Engajamento"/>
          <p:cNvSpPr txBox="1"/>
          <p:nvPr/>
        </p:nvSpPr>
        <p:spPr>
          <a:xfrm>
            <a:off x="2697480" y="148132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Engajamento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946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interações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R$0,19 por interação</a:t>
            </a:r>
            <a:endParaRPr lang="en-US" sz="950" dirty="0"/>
          </a:p>
        </p:txBody>
      </p:sp>
      <p:sp>
        <p:nvSpPr>
          <p:cNvPr id="18" name="divisor"/>
          <p:cNvSpPr/>
          <p:nvPr/>
        </p:nvSpPr>
        <p:spPr>
          <a:xfrm>
            <a:off x="2697480" y="2907792"/>
            <a:ext cx="1645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R$179,05 investido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218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8.763 alcance · R$15/dia</a:t>
            </a:r>
            <a:endParaRPr lang="en-US" sz="850" dirty="0"/>
          </a:p>
        </p:txBody>
      </p:sp>
      <p:sp>
        <p:nvSpPr>
          <p:cNvPr id="21" name="card eng 2"/>
          <p:cNvSpPr/>
          <p:nvPr/>
        </p:nvSpPr>
        <p:spPr>
          <a:xfrm>
            <a:off x="4663440" y="13258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ag Engajamento"/>
          <p:cNvSpPr txBox="1"/>
          <p:nvPr/>
        </p:nvSpPr>
        <p:spPr>
          <a:xfrm>
            <a:off x="4800600" y="148132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Engajamento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interações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R$0,22 por interação</a:t>
            </a:r>
            <a:endParaRPr lang="en-US" sz="950" dirty="0"/>
          </a:p>
        </p:txBody>
      </p:sp>
      <p:sp>
        <p:nvSpPr>
          <p:cNvPr id="26" name="divisor"/>
          <p:cNvSpPr/>
          <p:nvPr/>
        </p:nvSpPr>
        <p:spPr>
          <a:xfrm>
            <a:off x="4800600" y="2907792"/>
            <a:ext cx="1645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R$99,96 investido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218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7.650 alcance · R$100 total</a:t>
            </a:r>
            <a:endParaRPr lang="en-US" sz="850" dirty="0"/>
          </a:p>
        </p:txBody>
      </p:sp>
      <p:sp>
        <p:nvSpPr>
          <p:cNvPr id="29" name="card eng 3"/>
          <p:cNvSpPr/>
          <p:nvPr/>
        </p:nvSpPr>
        <p:spPr>
          <a:xfrm>
            <a:off x="6766560" y="13258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DE8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ag Criativo 1"/>
          <p:cNvSpPr txBox="1"/>
          <p:nvPr/>
        </p:nvSpPr>
        <p:spPr>
          <a:xfrm>
            <a:off x="6903720" y="1481328"/>
            <a:ext cx="914400" cy="246888"/>
          </a:xfrm>
          <a:prstGeom prst="roundRect">
            <a:avLst>
              <a:gd name="adj" fmla="val 22222"/>
            </a:avLst>
          </a:prstGeom>
          <a:solidFill>
            <a:srgbClr val="FDE8EA"/>
          </a:solidFill>
          <a:ln w="9525">
            <a:solidFill>
              <a:srgbClr val="E639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Criativo 1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resultados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R$21,29 por resultado</a:t>
            </a:r>
            <a:endParaRPr lang="en-US" sz="950" dirty="0"/>
          </a:p>
        </p:txBody>
      </p:sp>
      <p:sp>
        <p:nvSpPr>
          <p:cNvPr id="34" name="divisor"/>
          <p:cNvSpPr/>
          <p:nvPr/>
        </p:nvSpPr>
        <p:spPr>
          <a:xfrm>
            <a:off x="6903720" y="2907792"/>
            <a:ext cx="1645920" cy="0"/>
          </a:xfrm>
          <a:prstGeom prst="line">
            <a:avLst/>
          </a:prstGeom>
          <a:noFill/>
          <a:ln w="9525">
            <a:solidFill>
              <a:srgbClr val="F5B5B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R$149,02 investido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2186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4.256 alcance · R$150 total</a:t>
            </a:r>
            <a:endParaRPr lang="en-US" sz="850" dirty="0"/>
          </a:p>
        </p:txBody>
      </p:sp>
      <p:sp>
        <p:nvSpPr>
          <p:cNvPr id="37" name="caixa info"/>
          <p:cNvSpPr/>
          <p:nvPr/>
        </p:nvSpPr>
        <p:spPr>
          <a:xfrm>
            <a:off x="411480" y="3794760"/>
            <a:ext cx="832104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o info"/>
          <p:cNvSpPr txBox="1"/>
          <p:nvPr/>
        </p:nvSpPr>
        <p:spPr>
          <a:xfrm>
            <a:off x="640080" y="3867912"/>
            <a:ext cx="7863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563EB"/>
                </a:solidFill>
              </a:rPr>
              <a:t>❤️  Engajamento somado: 1.406 interações + 474 visitas ao perfil por R$461,15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</a:rPr>
              <a:t>Custo por interação perto do melhor resultado do 1º semestre (R$0,17 na campanha de Mães). Já o Criativo 1 custou R$21,29 por resultado, cerca de 5× o custo de uma conversa no WhatsApp.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AVALIAÇÃO · RÉVEILLON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funcionou · O que melhorar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 POSITIVOS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⚠️  ATENÇÃO</a:t>
            </a:r>
            <a:endParaRPr lang="en-US" sz="1000" dirty="0"/>
          </a:p>
        </p:txBody>
      </p:sp>
      <p:sp>
        <p:nvSpPr>
          <p:cNvPr id="7" name="card aval"/>
          <p:cNvSpPr/>
          <p:nvPr/>
        </p:nvSpPr>
        <p:spPr>
          <a:xfrm>
            <a:off x="457200" y="1572768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2763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💬 Conversa no WhatsApp a R$3,97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Mais barata que Noite Blue (R$7,00) e Mães (R$7,86)</a:t>
            </a:r>
            <a:endParaRPr lang="en-US" sz="1100" dirty="0"/>
          </a:p>
        </p:txBody>
      </p:sp>
      <p:sp>
        <p:nvSpPr>
          <p:cNvPr id="9" name="card aval"/>
          <p:cNvSpPr/>
          <p:nvPr/>
        </p:nvSpPr>
        <p:spPr>
          <a:xfrm>
            <a:off x="457200" y="2359152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14016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❤️ Interação barata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R$0,19 e R$0,22 por interação, perto do recorde de R$0,17</a:t>
            </a:r>
            <a:endParaRPr lang="en-US" sz="1100" dirty="0"/>
          </a:p>
        </p:txBody>
      </p:sp>
      <p:sp>
        <p:nvSpPr>
          <p:cNvPr id="11" name="card aval"/>
          <p:cNvSpPr/>
          <p:nvPr/>
        </p:nvSpPr>
        <p:spPr>
          <a:xfrm>
            <a:off x="457200" y="3145536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00400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📍 474 visitas ao perfil a R$0,38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Público indo ao Instagram conhecer a festa</a:t>
            </a:r>
            <a:endParaRPr lang="en-US" sz="1100" dirty="0"/>
          </a:p>
        </p:txBody>
      </p:sp>
      <p:sp>
        <p:nvSpPr>
          <p:cNvPr id="13" name="card aval"/>
          <p:cNvSpPr/>
          <p:nvPr/>
        </p:nvSpPr>
        <p:spPr>
          <a:xfrm>
            <a:off x="457200" y="3931920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986784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🎬 Vídeo com pessoa real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Formato que já era o mais forte nos relatórios anteriores</a:t>
            </a:r>
            <a:endParaRPr lang="en-US" sz="1100" dirty="0"/>
          </a:p>
        </p:txBody>
      </p:sp>
      <p:sp>
        <p:nvSpPr>
          <p:cNvPr id="15" name="card aval"/>
          <p:cNvSpPr/>
          <p:nvPr/>
        </p:nvSpPr>
        <p:spPr>
          <a:xfrm>
            <a:off x="4709160" y="1572768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62763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🔍 Sem leitura por criativo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Todos no mesmo conjunto: falta ver qual vídeo trouxe as conversas</a:t>
            </a:r>
            <a:endParaRPr lang="en-US" sz="1100" dirty="0"/>
          </a:p>
        </p:txBody>
      </p:sp>
      <p:sp>
        <p:nvSpPr>
          <p:cNvPr id="17" name="card aval"/>
          <p:cNvSpPr/>
          <p:nvPr/>
        </p:nvSpPr>
        <p:spPr>
          <a:xfrm>
            <a:off x="4709160" y="2359152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14016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💸 Criativo 1 com custo alto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R$21,29 por resultado, cerca de 5× o custo da conversa</a:t>
            </a:r>
            <a:endParaRPr lang="en-US" sz="1100" dirty="0"/>
          </a:p>
        </p:txBody>
      </p:sp>
      <p:sp>
        <p:nvSpPr>
          <p:cNvPr id="19" name="card aval"/>
          <p:cNvSpPr/>
          <p:nvPr/>
        </p:nvSpPr>
        <p:spPr>
          <a:xfrm>
            <a:off x="4709160" y="3145536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200400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🎟️ Conversa ainda não é venda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Falta o retorno do comercial: quantas conversas viraram reserva</a:t>
            </a:r>
            <a:endParaRPr lang="en-US" sz="1100" dirty="0"/>
          </a:p>
        </p:txBody>
      </p:sp>
      <p:sp>
        <p:nvSpPr>
          <p:cNvPr id="21" name="card aval"/>
          <p:cNvSpPr/>
          <p:nvPr/>
        </p:nvSpPr>
        <p:spPr>
          <a:xfrm>
            <a:off x="4709160" y="3931920"/>
            <a:ext cx="3977640" cy="694944"/>
          </a:xfrm>
          <a:prstGeom prst="roundRect">
            <a:avLst>
              <a:gd name="adj" fmla="val 789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986784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11827"/>
                </a:solidFill>
              </a:rPr>
              <a:t>👥 Alcance com sobreposição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53.810 é a soma dos anúncios; o público único é menor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rotulo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PRÓXIMOS PASSOS · ATÉ A VIRADA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frentes até o Réveillon</a:t>
            </a:r>
            <a:endParaRPr lang="en-US" sz="2800" dirty="0"/>
          </a:p>
        </p:txBody>
      </p:sp>
      <p:sp>
        <p:nvSpPr>
          <p:cNvPr id="5" name="card passo 01"/>
          <p:cNvSpPr/>
          <p:nvPr/>
        </p:nvSpPr>
        <p:spPr>
          <a:xfrm>
            <a:off x="457200" y="1298448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ag Leitura"/>
          <p:cNvSpPr txBox="1"/>
          <p:nvPr/>
        </p:nvSpPr>
        <p:spPr>
          <a:xfrm>
            <a:off x="1188720" y="1499616"/>
            <a:ext cx="960120" cy="246888"/>
          </a:xfrm>
          <a:prstGeom prst="roundRect">
            <a:avLst>
              <a:gd name="adj" fmla="val 22222"/>
            </a:avLst>
          </a:prstGeom>
          <a:solidFill>
            <a:srgbClr val="FDE8EA"/>
          </a:solidFill>
          <a:ln w="9525">
            <a:solidFill>
              <a:srgbClr val="E639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</a:rPr>
              <a:t>Leitura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92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Resultado por criativo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Abrir o gerenciador no nível de anúncio e concentrar a verba no vídeo com menor custo por conversa.</a:t>
            </a:r>
            <a:endParaRPr lang="en-US" sz="1000" dirty="0"/>
          </a:p>
        </p:txBody>
      </p:sp>
      <p:sp>
        <p:nvSpPr>
          <p:cNvPr id="10" name="card passo 02"/>
          <p:cNvSpPr/>
          <p:nvPr/>
        </p:nvSpPr>
        <p:spPr>
          <a:xfrm>
            <a:off x="4709160" y="1298448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9204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ag Otimização"/>
          <p:cNvSpPr txBox="1"/>
          <p:nvPr/>
        </p:nvSpPr>
        <p:spPr>
          <a:xfrm>
            <a:off x="5440680" y="1499616"/>
            <a:ext cx="960120" cy="246888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Otimização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892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Rever o Criativo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1945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Pausar ou trocar a peça e passar a verba para a campanha de WhatsApp, que converte mais barato.</a:t>
            </a:r>
            <a:endParaRPr lang="en-US" sz="1000" dirty="0"/>
          </a:p>
        </p:txBody>
      </p:sp>
      <p:sp>
        <p:nvSpPr>
          <p:cNvPr id="15" name="card passo 03"/>
          <p:cNvSpPr/>
          <p:nvPr/>
        </p:nvSpPr>
        <p:spPr>
          <a:xfrm>
            <a:off x="457200" y="3054096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ag Remarketing"/>
          <p:cNvSpPr txBox="1"/>
          <p:nvPr/>
        </p:nvSpPr>
        <p:spPr>
          <a:xfrm>
            <a:off x="1188720" y="3255264"/>
            <a:ext cx="960120" cy="246888"/>
          </a:xfrm>
          <a:prstGeom prst="roundRect">
            <a:avLst>
              <a:gd name="adj" fmla="val 22222"/>
            </a:avLst>
          </a:prstGeom>
          <a:solidFill>
            <a:srgbClr val="E2F3E8"/>
          </a:solidFill>
          <a:ln w="9525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Remarketing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48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Falar com quem já engajou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50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Público com quem interagiu, visitou o perfil ou assistiu aos vídeos, levado direto para o WhatsApp.</a:t>
            </a:r>
            <a:endParaRPr lang="en-US" sz="1000" dirty="0"/>
          </a:p>
        </p:txBody>
      </p:sp>
      <p:sp>
        <p:nvSpPr>
          <p:cNvPr id="20" name="card passo 04"/>
          <p:cNvSpPr/>
          <p:nvPr/>
        </p:nvSpPr>
        <p:spPr>
          <a:xfrm>
            <a:off x="4709160" y="3054096"/>
            <a:ext cx="397764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92040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ag Escala"/>
          <p:cNvSpPr txBox="1"/>
          <p:nvPr/>
        </p:nvSpPr>
        <p:spPr>
          <a:xfrm>
            <a:off x="5440680" y="3255264"/>
            <a:ext cx="960120" cy="246888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9525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Escala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48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Aumento perto da 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950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Subir o orçamento diário aos poucos em dezembro, com criativos de urgência (lotes, últimas mesas).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ixa topo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BLUETREE · CONCLUSÃO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Réveillon já gera conversas a bom custo.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concentrar a verba no que converte.</a:t>
            </a:r>
            <a:endParaRPr lang="en-US" sz="2400" dirty="0"/>
          </a:p>
        </p:txBody>
      </p:sp>
      <p:sp>
        <p:nvSpPr>
          <p:cNvPr id="5" name="linha conclusao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📊  5 anúncios · R$1.388,16 investidos · 87.728 impressões até 22/10</a:t>
            </a:r>
            <a:endParaRPr lang="en-US" sz="1100" dirty="0"/>
          </a:p>
        </p:txBody>
      </p:sp>
      <p:sp>
        <p:nvSpPr>
          <p:cNvPr id="7" name="linha conclusao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💬  196 conversas no WhatsApp a R$3,97 cada: a campanha principal está saudável</a:t>
            </a:r>
            <a:endParaRPr lang="en-US" sz="1100" dirty="0"/>
          </a:p>
        </p:txBody>
      </p:sp>
      <p:sp>
        <p:nvSpPr>
          <p:cNvPr id="9" name="linha conclusao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❤️  1.406 interações e 474 visitas ao perfil aquecem o público para o remarketing</a:t>
            </a:r>
            <a:endParaRPr lang="en-US" sz="1100" dirty="0"/>
          </a:p>
        </p:txBody>
      </p:sp>
      <p:sp>
        <p:nvSpPr>
          <p:cNvPr id="11" name="linha conclusao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657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🔍  Próximo passo: ver o resultado de cada vídeo e rever o Criativo 1</a:t>
            </a:r>
            <a:endParaRPr lang="en-US" sz="1100" dirty="0"/>
          </a:p>
        </p:txBody>
      </p:sp>
      <p:sp>
        <p:nvSpPr>
          <p:cNvPr id="13" name="linha conclusao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📅  Escalar em dezembro, perto da data, com criativos de urgência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Pirueta · Relatório de anúncios de Réveillon · Blue Tree · Out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rueta Bluetree">
  <a:themeElements>
    <a:clrScheme name="Pirueta Bluetree">
      <a:dk1>
        <a:srgbClr val="111827"/>
      </a:dk1>
      <a:lt1>
        <a:srgbClr val="FFFFFF"/>
      </a:lt1>
      <a:dk2>
        <a:srgbClr val="374151"/>
      </a:dk2>
      <a:lt2>
        <a:srgbClr val="F7F8FA"/>
      </a:lt2>
      <a:accent1>
        <a:srgbClr val="E63946"/>
      </a:accent1>
      <a:accent2>
        <a:srgbClr val="16A34A"/>
      </a:accent2>
      <a:accent3>
        <a:srgbClr val="2563EB"/>
      </a:accent3>
      <a:accent4>
        <a:srgbClr val="7C3AED"/>
      </a:accent4>
      <a:accent5>
        <a:srgbClr val="D97706"/>
      </a:accent5>
      <a:accent6>
        <a:srgbClr val="6B7280"/>
      </a:accent6>
      <a:hlink>
        <a:srgbClr val="2563EB"/>
      </a:hlink>
      <a:folHlink>
        <a:srgbClr val="7C3AED"/>
      </a:folHlink>
    </a:clrScheme>
    <a:fontScheme name="Pirueta Bluetr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Pirueta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Bluetree — Anúncios de Réveillon</dc:title>
  <dc:subject>PptxGenJS Presentation</dc:subject>
  <dc:creator>Pirueta</dc:creator>
  <cp:lastModifiedBy>Pirueta</cp:lastModifiedBy>
  <cp:revision>1</cp:revision>
  <dcterms:created xsi:type="dcterms:W3CDTF">2026-10-22T14:50:06Z</dcterms:created>
  <dcterms:modified xsi:type="dcterms:W3CDTF">2026-10-22T14:50:06Z</dcterms:modified>
</cp:coreProperties>
</file>