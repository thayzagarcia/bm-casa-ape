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78661" y="5027414"/>
            <a:ext cx="635138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50" b="1" i="0">
                <a:solidFill>
                  <a:srgbClr val="EA2548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713" y="5447407"/>
            <a:ext cx="8885337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3150" b="1" i="0">
                <a:solidFill>
                  <a:srgbClr val="EA2548"/>
                </a:solidFill>
                <a:latin typeface="Montserrat"/>
              </a:rPr>
              <a:t>EQUATORIAL SERVIÇOS - SETEMBRO|2026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81471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visão geral - Equatorial Serviços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8499" y="1285875"/>
            <a:ext cx="102200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5694" y="1685925"/>
            <a:ext cx="114761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contas alcançadas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1182" y="1809750"/>
            <a:ext cx="143663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351.469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6827" y="21526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2%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193" y="258127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6094" y="2705100"/>
            <a:ext cx="105236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+</a:t>
            </a:r>
            <a:r>
              <a:rPr sz="2250" b="0" i="0" spc="-22">
                <a:solidFill>
                  <a:srgbClr val="000000"/>
                </a:solidFill>
                <a:latin typeface="Montserrat"/>
              </a:rPr>
              <a:t>1.137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654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39.448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3669" y="258127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3368" y="2705100"/>
            <a:ext cx="62686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5%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0994" y="304800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4 pontos percentuais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5046" y="355282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1154" y="3676650"/>
            <a:ext cx="10422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1.169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6544" y="40195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73%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4217" y="3552825"/>
            <a:ext cx="132501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engajamento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3739" y="3676650"/>
            <a:ext cx="885974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0,3%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0994" y="4019550"/>
            <a:ext cx="1471612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0,7 ponto percentual</a:t>
            </a:r>
            <a:r>
              <a:rPr sz="7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6290" y="482917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337" y="1285875"/>
            <a:ext cx="930176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facebook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9512" y="1685925"/>
            <a:ext cx="88582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visualizadores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4032" y="1809750"/>
            <a:ext cx="143663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708.939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9677" y="2152650"/>
            <a:ext cx="2825496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17%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0043" y="2581275"/>
            <a:ext cx="109031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novos seguidores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246" y="2705100"/>
            <a:ext cx="595908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+50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939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2.228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seguidores ao todo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6519" y="2581275"/>
            <a:ext cx="104626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taxa de retenção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3384" y="2705100"/>
            <a:ext cx="732532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1,3%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3844" y="304800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primeiro mês com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dados do Facebook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7896" y="3552825"/>
            <a:ext cx="115460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4004" y="3676650"/>
            <a:ext cx="10422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2.030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9394" y="40195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35%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5873" y="3552825"/>
            <a:ext cx="90755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0" i="0">
                <a:solidFill>
                  <a:srgbClr val="EA2548"/>
                </a:solidFill>
                <a:latin typeface="Montserrat"/>
              </a:rPr>
              <a:t>cliques no link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9930" y="3676650"/>
            <a:ext cx="1239441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49.275</a:t>
            </a:r>
            <a:r>
              <a:rPr sz="1800" b="1" i="0" spc="-22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3844" y="4019550"/>
            <a:ext cx="1471612" cy="2268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700" b="1" i="0">
                <a:solidFill>
                  <a:srgbClr val="000000"/>
                </a:solidFill>
                <a:latin typeface="Montserrat"/>
              </a:rPr>
              <a:t>22%</a:t>
            </a:r>
          </a:p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9140" y="4829175"/>
            <a:ext cx="208642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Montserrat"/>
              </a:rPr>
              <a:t>desempenho mensal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2545" y="5391150"/>
            <a:ext cx="290676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5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dados obtidos no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Meta Business Suite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5149900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 - setembro|26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727823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diante dos dados analisados, compreendemos: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2982" y="1438275"/>
            <a:ext cx="310053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categorização de conteúdos compartilhados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1943100"/>
            <a:ext cx="5317426" cy="1035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1" i="0">
                <a:solidFill>
                  <a:srgbClr val="000000"/>
                </a:solidFill>
                <a:latin typeface="Montserrat"/>
              </a:rPr>
              <a:t>INSTAGRAM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(10 posts)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6 conteúdos de venda direta (planos, pagamento na conta de energia, "Bingo", "código de barras", sorteio);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2 conteúdos informativos (presença em 7 estados e imprevistos do dia a dia);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 collab com o @grupoequatorial (Dia do Cliente);</a:t>
            </a:r>
          </a:p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1 episódio da websérie </a:t>
            </a:r>
            <a:r>
              <a:rPr sz="950" b="0" i="1">
                <a:solidFill>
                  <a:srgbClr val="000000"/>
                </a:solidFill>
                <a:latin typeface="Montserrat"/>
              </a:rPr>
              <a:t>"Sorte que Transforma"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(social).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8489" y="1438275"/>
            <a:ext cx="2740521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temas que geraram mais engajamento: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228850"/>
            <a:ext cx="412179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Conexão - Dia do Cliente (collab com o Grupo Equatorial);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500312"/>
            <a:ext cx="348109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Imprevistos do cotidiano e soluções do portfólio;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2771775"/>
            <a:ext cx="283487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100" b="0" i="0">
                <a:solidFill>
                  <a:srgbClr val="000000"/>
                </a:solidFill>
                <a:latin typeface="Montserrat"/>
              </a:rPr>
              <a:t>Humanização - "Sorte que Transforma".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6458" y="3990975"/>
            <a:ext cx="177358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distribuição por editoria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8563" y="3990975"/>
            <a:ext cx="180037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distribuição por formato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9160" y="4333875"/>
            <a:ext cx="28470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reels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1518" y="4333875"/>
            <a:ext cx="44931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estático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8480" y="4333875"/>
            <a:ext cx="50021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carrossel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" y="6438900"/>
            <a:ext cx="426362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Montserrat"/>
              </a:rPr>
              <a:t>Classificação de setembro sugerida a partir das legendas dos posts; ajustar se necessário.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251906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2928789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resultados gerais - instagram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2719" y="1285875"/>
            <a:ext cx="130656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resultados anuais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3382" y="3514725"/>
            <a:ext cx="48413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alcance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6735" y="3514725"/>
            <a:ext cx="6374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1352" y="3514725"/>
            <a:ext cx="104834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506" y="3895725"/>
            <a:ext cx="195098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perfil geral dos seguidores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5826" y="6219825"/>
            <a:ext cx="8954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geolocalização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3759" y="6219825"/>
            <a:ext cx="45288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gênero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9984" y="6219825"/>
            <a:ext cx="3643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5559" y="6438900"/>
            <a:ext cx="658088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Montserrat"/>
              </a:rPr>
              <a:t>Observação: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resultados referentes ao Instagram. Faixa etária somando mulheres e homens; demais cidades somam 72,8% da 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989237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722465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do investimento em mídia paga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4881" y="1419225"/>
            <a:ext cx="26622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valores investimentos mensalmente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5781" y="4943475"/>
            <a:ext cx="136043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valor total investido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9434" y="5305425"/>
            <a:ext cx="2192982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250" b="0" i="0" spc="-22">
                <a:solidFill>
                  <a:srgbClr val="000000"/>
                </a:solidFill>
                <a:latin typeface="Montserrat"/>
              </a:rPr>
              <a:t>R$ 359.724,27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3697" y="5629275"/>
            <a:ext cx="256460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setembro: R$ 37.616,11 (-17% em relação a agosto)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623" y="6286500"/>
            <a:ext cx="927660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Montserrat"/>
              </a:rPr>
              <a:t>Em setembro, o investimento em mídia somou </a:t>
            </a:r>
            <a:r>
              <a:rPr sz="800" b="1" i="0">
                <a:solidFill>
                  <a:srgbClr val="595959"/>
                </a:solidFill>
                <a:latin typeface="Montserrat"/>
              </a:rPr>
              <a:t>R$ 37.616,11</a:t>
            </a:r>
            <a:r>
              <a:rPr sz="800" b="0" i="0">
                <a:solidFill>
                  <a:srgbClr val="595959"/>
                </a:solidFill>
                <a:latin typeface="Montserrat"/>
              </a:rPr>
              <a:t>, redução de 17% em relação a agosto, mantendo o perfil com 96% das visualizações vindas de anúncios no Instagram.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621387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DESEMPENHO POR PLATAFORMA - INSTAGRAM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276350"/>
            <a:ext cx="64844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ALCANCE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6417" y="1495425"/>
            <a:ext cx="171241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351.469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2%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2900" y="1276350"/>
            <a:ext cx="123720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AO PERFIL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4235" y="1495425"/>
            <a:ext cx="147578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23.650</a:t>
            </a:r>
            <a:r>
              <a:rPr sz="2150" b="1" i="0" spc="-27">
                <a:solidFill>
                  <a:srgbClr val="5BA346"/>
                </a:solidFill>
                <a:latin typeface="Montserrat"/>
              </a:rPr>
              <a:t>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12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crescimento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13%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763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1341" y="1495425"/>
            <a:ext cx="74056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5%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770" y="193357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4 pontos percentuais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2851" y="2533650"/>
            <a:ext cx="3237548" cy="3488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61"/>
              </a:lnSpc>
            </a:pPr>
            <a:r>
              <a:rPr sz="700" b="0" i="0">
                <a:solidFill>
                  <a:srgbClr val="000000"/>
                </a:solidFill>
                <a:latin typeface="Montserrat"/>
              </a:rPr>
              <a:t>Novos seguidores ÷ Visitas ao perfil × 100</a:t>
            </a:r>
          </a:p>
          <a:p>
            <a:pPr algn="ctr">
              <a:lnSpc>
                <a:spcPts val="961"/>
              </a:lnSpc>
            </a:pPr>
            <a:r>
              <a:rPr sz="700" b="1" i="0">
                <a:solidFill>
                  <a:srgbClr val="000000"/>
                </a:solidFill>
                <a:latin typeface="Montserrat"/>
              </a:rPr>
              <a:t>Indica a capacidade e eficiência do perfil em converter visitantes em seguidores efetivos.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8956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2905" y="311467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1.169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770" y="35528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73%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2900" y="28956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4517" y="3114675"/>
            <a:ext cx="125521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+</a:t>
            </a:r>
            <a:r>
              <a:rPr sz="2700" b="0" i="0" spc="-27">
                <a:solidFill>
                  <a:srgbClr val="000000"/>
                </a:solidFill>
                <a:latin typeface="Montserrat"/>
              </a:rPr>
              <a:t>1.137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1270" y="35528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39.448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ao todo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segundo o Meta: 2.299 novos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086100"/>
            <a:ext cx="15610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NÚMERO DE CRIATIVOS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2703" y="3305175"/>
            <a:ext cx="1797844" cy="3714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400" b="0" i="0" spc="-24">
                <a:solidFill>
                  <a:srgbClr val="000000"/>
                </a:solidFill>
                <a:latin typeface="Montserrat"/>
              </a:rPr>
              <a:t>10 criativos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770" y="3705225"/>
            <a:ext cx="3021711" cy="27473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13"/>
              </a:lnSpc>
            </a:pPr>
            <a:r>
              <a:rPr sz="800" b="1" i="0">
                <a:solidFill>
                  <a:srgbClr val="000000"/>
                </a:solidFill>
                <a:latin typeface="Montserrat"/>
              </a:rPr>
              <a:t>+2 criativos</a:t>
            </a:r>
          </a:p>
          <a:p>
            <a:pPr algn="ctr">
              <a:lnSpc>
                <a:spcPts val="1113"/>
              </a:lnSpc>
            </a:pPr>
            <a:r>
              <a:rPr sz="800" b="0" i="0">
                <a:solidFill>
                  <a:srgbClr val="000000"/>
                </a:solidFill>
                <a:latin typeface="Montserrat"/>
              </a:rPr>
              <a:t>em relação ao mês anterior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6819" y="4448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2175" y="4857750"/>
            <a:ext cx="8103986" cy="895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Em setembro, o perfil manteve o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alcance estável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(351.469, -2%) e registrou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crescimento de 13% nas visitas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23.650 acessos e 7.328 cliques no link. O mês teve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muitos comentários, mas em grande parte negativos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reclamações sobre apagões na região de Canaã. As interações recuaram 73%, já que agosto contou com a collab de Dia dos Pais, que sozinha gerou 3.762 interações. A comunidade seguiu crescendo, com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+1.137 seguidores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chegando a 39.448, mas a taxa de retenção caiu para 5%, com menor conversão das visitas em seguidores.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2114104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demonstrativo 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225" y="1362075"/>
            <a:ext cx="54292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4997" y="3152775"/>
            <a:ext cx="109150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alcance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9725" y="1362075"/>
            <a:ext cx="95904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5BA346"/>
                </a:solidFill>
                <a:latin typeface="Montserrat"/>
              </a:rPr>
              <a:t>M.A: +1.137 segs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2448" y="3152775"/>
            <a:ext cx="1777603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seguidores e crescimento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225" y="3571875"/>
            <a:ext cx="61168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1" i="0">
                <a:solidFill>
                  <a:srgbClr val="EA2548"/>
                </a:solidFill>
                <a:latin typeface="Montserrat"/>
              </a:rPr>
              <a:t>M.A: -73%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6473" y="5381625"/>
            <a:ext cx="128855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1093" y="3505200"/>
            <a:ext cx="23306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Montserrat"/>
              </a:rPr>
              <a:t>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7546" y="5381625"/>
            <a:ext cx="116725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5772150"/>
            <a:ext cx="168265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Montserrat"/>
              </a:rPr>
              <a:t>legenda: M.A: MÊS ANTERIOR;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65419" y="10191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9625" y="1409700"/>
            <a:ext cx="3512248" cy="28860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Em setembro, o perfil manteve o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alcance no patamar de agosto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, com 351.469 contas (-2%), sustentado majoritariamente pela mídia: das 1,66 milhão de visualizações,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96% vieram de anúncios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. As visualizações orgânicas, por outro lado, cresceram 13%.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As interações somaram 1.169 (-73%), retomando o patamar do primeiro semestre após o pico de agosto, impulsionado pela collab de Dia dos Pais. Em setembro, a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collab de Dia do Cliente com o @grupoequatorial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voltou a liderar as interações (200), seguida pelo carrossel sobre imprevistos do dia a dia (144).</a:t>
            </a:r>
          </a:p>
          <a:p>
            <a:pPr algn="just">
              <a:lnSpc>
                <a:spcPts val="1350"/>
              </a:lnSpc>
            </a:pPr>
          </a:p>
          <a:p>
            <a:pPr algn="just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A comunidade chegou a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39.448 seguidores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(+1.137). Com visitas em alta (+13%) e menos novos seguidores, a taxa de retenção caiu de 9% para 5%, indicando a oportunidade de reforçar chamadas que convertam a visita em seguimento.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349374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detalhamento da taxa de retenção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6323" y="1838325"/>
            <a:ext cx="35495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visitas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8929" y="1838325"/>
            <a:ext cx="94922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novos seguidores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5804" y="1838325"/>
            <a:ext cx="102587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Montserrat"/>
              </a:rPr>
              <a:t>taxa de retenção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555" y="4830366"/>
            <a:ext cx="3139440" cy="2851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1"/>
              </a:lnSpc>
            </a:pPr>
            <a:r>
              <a:rPr sz="1000" b="0" i="0">
                <a:solidFill>
                  <a:srgbClr val="FFFFFF"/>
                </a:solidFill>
                <a:latin typeface="Montserrat"/>
              </a:rPr>
              <a:t>taxa de retenção</a:t>
            </a:r>
          </a:p>
          <a:p>
            <a:pPr algn="ctr">
              <a:lnSpc>
                <a:spcPts val="1121"/>
              </a:lnSpc>
            </a:pPr>
            <a:r>
              <a:rPr sz="700" b="0" i="0">
                <a:solidFill>
                  <a:srgbClr val="FFFFFF"/>
                </a:solidFill>
                <a:latin typeface="Montserrat"/>
              </a:rPr>
              <a:t>(relação entre visitas ao perfil x novos seguidores mensais)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0069" y="180022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6125" y="2286000"/>
            <a:ext cx="4591431" cy="1081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Taxa de retenção: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as visitas ao perfil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cresceram 13%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para 23.650, mas o saldo de novos seguidores recuou de 1.871 para 1.137, levando a taxa de retenção a 5%. O perfil atraiu mais visitantes, impulsionado pelos 7.328 cliques no link, mas converteu menos dessas visitas em seguidores, o que reforça a importância de conteúdos e chamadas que incentivem o seguimento.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79983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criativos mais relevantes - feed -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 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com base nas interações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9361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0991" y="1171575"/>
            <a:ext cx="265509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15/09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261" y="3086100"/>
            <a:ext cx="1507480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COLLAB @GRUPOEQUATORIAL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697" y="3324225"/>
            <a:ext cx="147875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3787080"/>
            <a:ext cx="22175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50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504" y="3684240"/>
            <a:ext cx="28723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5.759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85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8531" y="3684240"/>
            <a:ext cx="47625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carrossel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4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961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4421" y="1171575"/>
            <a:ext cx="294829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09/09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4405" y="3324225"/>
            <a:ext cx="14808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18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1850" y="3787080"/>
            <a:ext cx="20374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625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6254" y="3684240"/>
            <a:ext cx="298698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5.784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12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1281" y="3684240"/>
            <a:ext cx="476250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carrossel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52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2360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7887" y="1171575"/>
            <a:ext cx="2841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23/09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6572" y="3086100"/>
            <a:ext cx="1281857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 i="0">
                <a:solidFill>
                  <a:srgbClr val="EA2548"/>
                </a:solidFill>
                <a:latin typeface="Montserrat"/>
              </a:rPr>
              <a:t>SORTE QUE TRANSFORMA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6965" y="3324225"/>
            <a:ext cx="166122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0,05%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60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87080"/>
            <a:ext cx="134243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61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900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9004" y="3684240"/>
            <a:ext cx="351532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119.819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403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4031" y="3684240"/>
            <a:ext cx="27220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reels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799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59157" y="1228725"/>
            <a:ext cx="122188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7695" y="1171575"/>
            <a:ext cx="247055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8A8A8A"/>
                </a:solidFill>
                <a:latin typeface="Montserrat"/>
              </a:rPr>
              <a:t>11/09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9905" y="3324225"/>
            <a:ext cx="148084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ontserrat"/>
              </a:rPr>
              <a:t>taxa de engajamento: </a:t>
            </a:r>
            <a:r>
              <a:rPr sz="900" b="1" i="0">
                <a:solidFill>
                  <a:srgbClr val="FFFFFF"/>
                </a:solidFill>
                <a:latin typeface="Montserrat"/>
              </a:rPr>
              <a:t>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77350" y="3581400"/>
            <a:ext cx="627428" cy="2076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10"/>
              </a:lnSpc>
            </a:pPr>
            <a:r>
              <a:rPr sz="700" b="0" i="0">
                <a:solidFill>
                  <a:srgbClr val="EA2548"/>
                </a:solidFill>
                <a:latin typeface="Montserrat"/>
              </a:rPr>
              <a:t>total de interações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7350" y="3787080"/>
            <a:ext cx="162074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49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1754" y="3581400"/>
            <a:ext cx="36790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alcance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1754" y="3684240"/>
            <a:ext cx="29765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2.942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76781" y="3581400"/>
            <a:ext cx="207913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EA2548"/>
                </a:solidFill>
                <a:latin typeface="Montserrat"/>
              </a:rPr>
              <a:t>tipo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76781" y="3684240"/>
            <a:ext cx="426839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1" i="0">
                <a:solidFill>
                  <a:srgbClr val="EA2548"/>
                </a:solidFill>
                <a:latin typeface="Montserrat"/>
              </a:rPr>
              <a:t>estático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0740" y="4048125"/>
            <a:ext cx="499021" cy="1047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EA2548"/>
                </a:solidFill>
                <a:latin typeface="Montserrat"/>
              </a:rPr>
              <a:t>ver post 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6819" y="437197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1025" y="4781550"/>
            <a:ext cx="11361002" cy="7096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Os destaques de setembro repetem o aprendizado de agosto: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conteúdos colaborativos e humanizados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geram mais resposta. A collab de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Dia do Cliente com o @grupoequatorial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liderou, com 125 comentários. O carrossel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"Fazemos planos para o futuro…"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sobre imprevistos do dia a dia, foi o conteúdo próprio com mais interações e o que mais trouxe seguidores (7). O episódio de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"Sorte que Transforma"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 com Sirlene Neves teve o maior alcance do mês (119.819), impulsionado por mídia, mas baixa taxa de engajamento.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5750" y="6096000"/>
            <a:ext cx="8250436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Montserrat"/>
              </a:rPr>
              <a:t>Interações = curtidas + comentários + compartilhamentos + salvamentos; taxa de engajamento = interações ÷ alcance. Dados da exportação de posts do Meta Business Suite.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89964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115991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stories mais relevantes -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 </a:t>
            </a:r>
            <a:r>
              <a:rPr sz="1600" b="0" i="0">
                <a:solidFill>
                  <a:srgbClr val="000000"/>
                </a:solidFill>
                <a:latin typeface="Montserrat"/>
              </a:rPr>
              <a:t>por visualização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286" y="1228725"/>
            <a:ext cx="85279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50" y="4505325"/>
            <a:ext cx="124450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2,2 mil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105" y="4791075"/>
            <a:ext cx="175364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9 DE SETEMBRO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5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8870" y="4505325"/>
            <a:ext cx="122426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1,9 mil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105" y="4791075"/>
            <a:ext cx="175364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9 DE SETEMBRO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2785" y="1228725"/>
            <a:ext cx="110282" cy="152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3935" y="4505325"/>
            <a:ext cx="12281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ontserrat"/>
              </a:rPr>
              <a:t>1,8 mil</a:t>
            </a:r>
            <a:r>
              <a:rPr sz="950" b="0" i="0">
                <a:solidFill>
                  <a:srgbClr val="FFFFFF"/>
                </a:solidFill>
                <a:latin typeface="Montserrat"/>
              </a:rPr>
              <a:t> visualizações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1105" y="4791075"/>
            <a:ext cx="175364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Montserrat"/>
              </a:rPr>
              <a:t>PUBLICADO 9 DE SETEMBRO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7889" y="1190625"/>
            <a:ext cx="6829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Montserrat"/>
              </a:rP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2525" y="1638300"/>
            <a:ext cx="3021711" cy="17502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Os 8 stories somaram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17,9 mil visualizações (+7%)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. Os mais vistos foram publicados em 09/09, em sequência: o infográfico "Todo mundo tem planos", o "Segue o fio, que a gente te explica" e a apresentação da Equatorial Serviços ao lado da Equatorial Energia. O resultado mostra que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sequências explicativas, que contam quem é a marca e o que ela oferece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prendem a atenção da audiência e podem ser usadas para aproximar o público do portfólio.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5536853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DESEMPENHO POR PLATAFORMA - FACEBOOK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73712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facebook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1028700"/>
            <a:ext cx="143872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 spc="18">
                <a:solidFill>
                  <a:srgbClr val="FFFFFF"/>
                </a:solidFill>
                <a:latin typeface="Montserrat"/>
              </a:rPr>
              <a:t>NOVO NO RELATÓRIO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466850"/>
            <a:ext cx="116845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VISUALIZADORES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6417" y="1685925"/>
            <a:ext cx="1712416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708.939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296" y="2124075"/>
            <a:ext cx="2316659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17%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52900" y="1466850"/>
            <a:ext cx="118318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VISITAS À PÁGINA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405" y="168592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3.709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0550" y="2124075"/>
            <a:ext cx="2343150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20%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66850"/>
            <a:ext cx="132680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TAXA DE RETENÇÃO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5856" y="1685925"/>
            <a:ext cx="87138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1,3%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2909" y="2124075"/>
            <a:ext cx="1837432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50 novos seguidores ÷ 3.709 visitas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895600"/>
            <a:ext cx="85933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INTERAÇÕES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2905" y="3114675"/>
            <a:ext cx="1239292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2.030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408" y="3552825"/>
            <a:ext cx="233243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35%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2900" y="2895600"/>
            <a:ext cx="13812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NOVOS SEGUIDORES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8361" y="3114675"/>
            <a:ext cx="707529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+50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908" y="3552825"/>
            <a:ext cx="204028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com total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2.228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seguidores ao todo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895600"/>
            <a:ext cx="11724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950" b="1" i="0" spc="18">
                <a:solidFill>
                  <a:srgbClr val="FFFFFF"/>
                </a:solidFill>
                <a:latin typeface="Montserrat"/>
              </a:rPr>
              <a:t>CLIQUES NO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3735" y="3114675"/>
            <a:ext cx="147578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2700" b="0" i="0" spc="-27">
                <a:solidFill>
                  <a:srgbClr val="000000"/>
                </a:solidFill>
                <a:latin typeface="Montserrat"/>
              </a:rPr>
              <a:t>49.275</a:t>
            </a:r>
            <a:r>
              <a:rPr sz="2150" b="1" i="0" spc="-27">
                <a:solidFill>
                  <a:srgbClr val="EA2548"/>
                </a:solidFill>
                <a:latin typeface="Montserrat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4068" y="3552825"/>
            <a:ext cx="2334964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Montserrat"/>
              </a:rPr>
              <a:t>redução de </a:t>
            </a:r>
            <a:r>
              <a:rPr sz="800" b="1" i="0">
                <a:solidFill>
                  <a:srgbClr val="000000"/>
                </a:solidFill>
                <a:latin typeface="Montserrat"/>
              </a:rPr>
              <a:t>22%</a:t>
            </a:r>
            <a:r>
              <a:rPr sz="800" b="0" i="0">
                <a:solidFill>
                  <a:srgbClr val="000000"/>
                </a:solidFill>
                <a:latin typeface="Montserrat"/>
              </a:rPr>
              <a:t> em relação ao mês anterior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6819" y="4276725"/>
            <a:ext cx="93836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observações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75" y="4686300"/>
            <a:ext cx="11243120" cy="523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just">
              <a:lnSpc>
                <a:spcPts val="1462"/>
              </a:lnSpc>
            </a:pPr>
            <a:r>
              <a:rPr sz="1000" b="0" i="0">
                <a:solidFill>
                  <a:srgbClr val="000000"/>
                </a:solidFill>
                <a:latin typeface="Montserrat"/>
              </a:rPr>
              <a:t>No Facebook, a página funciona principalmente como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canal de mídia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: das 1,73 milhão de visualizações,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99,8% vieram de anúncios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que geraram 49.275 cliques no link. Os anúncios em formato de link (1,06 milhão de visualizações) e os Reels (650,9 mil) concentraram a entrega, e os Reels lideraram as interações (1.151). Os 10 posts orgânicos da página tiveram entre 91 e 294 contas alcançadas e de 2 a 7 interações cada. A base chegou a </a:t>
            </a:r>
            <a:r>
              <a:rPr sz="1000" b="1" i="0">
                <a:solidFill>
                  <a:srgbClr val="000000"/>
                </a:solidFill>
                <a:latin typeface="Montserrat"/>
              </a:rPr>
              <a:t>2.228 seguidores</a:t>
            </a:r>
            <a:r>
              <a:rPr sz="1000" b="0" i="0">
                <a:solidFill>
                  <a:srgbClr val="000000"/>
                </a:solidFill>
                <a:latin typeface="Montserrat"/>
              </a:rPr>
              <a:t>, com +50 no mês.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6210300"/>
            <a:ext cx="8840837" cy="123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50" b="0" i="0">
                <a:solidFill>
                  <a:srgbClr val="595959"/>
                </a:solidFill>
                <a:latin typeface="Montserrat"/>
              </a:rPr>
              <a:t>Variações calculadas pelo Meta Business Suite em relação ao período anterior (o relatório de agosto não incluiu dados do Facebook). Seguidores: novos seguidores informados pelo Meta.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2729657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TÁ ROLANDO NA REDE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3755975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tá rolando nas 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5477768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exemplos de menções sobre a marca nas redes sociais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1333500"/>
            <a:ext cx="1531144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Montserrat"/>
              </a:rPr>
              <a:t>rede social: </a:t>
            </a:r>
            <a:r>
              <a:rPr sz="1050" b="0" i="0">
                <a:solidFill>
                  <a:srgbClr val="000000"/>
                </a:solidFill>
                <a:latin typeface="Montserrat"/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50" y="1771650"/>
            <a:ext cx="289545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@equatorial.servicos</a:t>
            </a:r>
            <a:r>
              <a:rPr sz="950" b="0" i="0">
                <a:solidFill>
                  <a:srgbClr val="333333"/>
                </a:solidFill>
                <a:latin typeface="Montserrat"/>
              </a:rPr>
              <a:t> · carrossel Help Pet · 15/09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1325" y="3380184"/>
            <a:ext cx="2854928" cy="8286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O carrossel "Match perfeito", sobre a assistência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Help Pet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com telemedicina veterinária, gerou reações afetivas ("amei", "que fofo"), mostrando que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situações do cotidiano com pets aproximam o público dos serviços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1771650"/>
            <a:ext cx="288265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EA2548"/>
                </a:solidFill>
                <a:latin typeface="Montserrat"/>
              </a:rPr>
              <a:t>@grupoequatorial</a:t>
            </a:r>
            <a:r>
              <a:rPr sz="950" b="0" i="0">
                <a:solidFill>
                  <a:srgbClr val="333333"/>
                </a:solidFill>
                <a:latin typeface="Montserrat"/>
              </a:rPr>
              <a:t> · collab Dia do Cliente · 15/09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2075" y="2641104"/>
            <a:ext cx="2854928" cy="657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>
                <a:solidFill>
                  <a:srgbClr val="000000"/>
                </a:solidFill>
                <a:latin typeface="Montserrat"/>
              </a:rPr>
              <a:t>Na collab de Dia do Cliente, comentários como </a:t>
            </a:r>
            <a:r>
              <a:rPr sz="900" b="1" i="0">
                <a:solidFill>
                  <a:srgbClr val="000000"/>
                </a:solidFill>
                <a:latin typeface="Montserrat"/>
              </a:rPr>
              <a:t>"Muito bom o serviço da Equatorial"</a:t>
            </a:r>
            <a:r>
              <a:rPr sz="900" b="0" i="0">
                <a:solidFill>
                  <a:srgbClr val="000000"/>
                </a:solidFill>
                <a:latin typeface="Montserrat"/>
              </a:rPr>
              <a:t> reforçam a percepção positiva de quem já é atendido pela marca.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5900" y="3603129"/>
            <a:ext cx="2599849" cy="11191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93"/>
              </a:lnSpc>
            </a:pPr>
            <a:r>
              <a:rPr sz="850" b="1" i="0">
                <a:solidFill>
                  <a:srgbClr val="000000"/>
                </a:solidFill>
                <a:latin typeface="Montserrat"/>
              </a:rPr>
              <a:t>⚠ Ponto de atenção: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 setembro teve um volume alto de comentários, mas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boa parte negativos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, principalmente de pessoas reclamando de </a:t>
            </a:r>
            <a:r>
              <a:rPr sz="850" b="1" i="0">
                <a:solidFill>
                  <a:srgbClr val="000000"/>
                </a:solidFill>
                <a:latin typeface="Montserrat"/>
              </a:rPr>
              <a:t>apagões na região de Canaã</a:t>
            </a:r>
            <a:r>
              <a:rPr sz="850" b="0" i="0">
                <a:solidFill>
                  <a:srgbClr val="000000"/>
                </a:solidFill>
                <a:latin typeface="Montserrat"/>
              </a:rPr>
              <a:t>. As queixas sobre o fornecimento de energia apareceram até em posts de produto, como o episódio de "Sorte que Transforma" (23/09).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050" y="6096000"/>
            <a:ext cx="4199632" cy="266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700" b="1" i="0" spc="17">
                <a:solidFill>
                  <a:srgbClr val="EA2548"/>
                </a:solidFill>
                <a:latin typeface="Montserrat"/>
              </a:rPr>
              <a:t>APRENDIZADOS E PLANO DE AÇÃO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4788396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aprendizados e sugestões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18594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diante dos dados analisados e sugerimos: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6189" y="1419225"/>
            <a:ext cx="1019621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aprendizados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1828800"/>
            <a:ext cx="136296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Alcance e Interações: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2695575"/>
            <a:ext cx="178653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Montserrat"/>
              </a:rPr>
              <a:t>Crescimento de Seguidores: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2007394"/>
            <a:ext cx="10791825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Instagram: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-2% no alcance e -73% nas interações, após o pico de agosto gerado pela collab de Dia dos Pais; visitas ao perfil +13% e cliques no link somando 7.328. A collab de Dia do Cliente voltou a liderar as interações. O mês teve muitos comentários, porém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em grande parte negativos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, com reclamações de apagões na região de Canaã;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2440781"/>
            <a:ext cx="743188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Facebook: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708.939 visualizadores e 49.275 cliques no link, com distribuição quase totalmente paga (99,8% das visualizações).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2874169"/>
            <a:ext cx="602947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Instagram: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+1.137 seguidores, encerrando setembro com 39.448 seguidores e taxa de retenção de 5%;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3128962"/>
            <a:ext cx="439251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Facebook: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+50 novos seguidores, totalizando 2.228 seguidores na página.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69074" y="4467225"/>
            <a:ext cx="105385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plano de 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4876800"/>
            <a:ext cx="6439495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Manter collabs com os perfis do Grupo Equatorial em datas relevantes, que seguem liderando as interações;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5131594"/>
            <a:ext cx="65927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Explorar mais conteúdos sobre imprevistos do cotidiano, mostrando como cada serviço resolve situações reais;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5386388"/>
            <a:ext cx="7151043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Incluir chamadas para seguir o perfil nos conteúdos impulsionados, para converter o aumento de visitas em seguidores;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975" y="5641181"/>
            <a:ext cx="925949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Alinhar com o atendimento um fluxo de resposta aos comentários sobre falta de energia (como os apagões em Canaã), direcionando para os canais oficiais;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" y="5895975"/>
            <a:ext cx="6610499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Dar continuidade a "Sorte que Transforma" com chamadas que estimulem comentários e compartilhamentos.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522512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resumo: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933450"/>
            <a:ext cx="495746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estratégias identificadas, propostas e próximos passos: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8364" y="1533525"/>
            <a:ext cx="179427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continuar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25067" y="1809750"/>
            <a:ext cx="740718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VALIDADO 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21907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Collabs com o Grupo Equatorial: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o Dia do Cliente foi o post com mais interações do mês.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605088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Imprevistos do cotidiano: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o carrossel sobre o tema foi o conteúdo próprio com mais interações e seguidores.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3198019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Stories explicativos em sequência: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concentraram as maiores visualizações do canal.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6840" y="1533525"/>
            <a:ext cx="131832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pontos de atenção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1229" y="1809750"/>
            <a:ext cx="1569541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O QUE MERECE CUIDADO 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675" y="21907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Conversão: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visitas em alta, mas taxa de retenção caiu de 9% para 5%.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8675" y="2605088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Engajamento dos impulsionados: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o Reels com maior alcance (119.819) teve apenas 61 interações.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019425"/>
            <a:ext cx="3178683" cy="678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Comentários negativos: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muitas reclamações sobre apagões na região de Canaã, inclusive em posts de produto, exigindo alinhamento de respostas com o atendimento.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3790950"/>
            <a:ext cx="3178683" cy="500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Dependência de mídia: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96% das visualizações no Instagram e 99,8% no Facebook vieram de anúncios.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946" y="1533525"/>
            <a:ext cx="152310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ontserrat"/>
              </a:rPr>
              <a:t>o que devemos testar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8929" y="1809750"/>
            <a:ext cx="654993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EA2548"/>
                </a:solidFill>
                <a:latin typeface="Montserrat"/>
              </a:rPr>
              <a:t>HIPÓTESES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9175" y="2190750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Séries de situações do dia a dia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resolvidas pelos serviços (foco em comentários e salvamentos).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9175" y="2605088"/>
            <a:ext cx="293623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CTA de seguir nos anúncios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(foco em retenção).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9175" y="2840831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Stories interativos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com enquetes sobre imprevistos (foco em participação).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9175" y="3255169"/>
            <a:ext cx="3178683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Collabs com colaboradores e clientes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(foco em alcance orgânico).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90500"/>
            <a:ext cx="1839516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RELATÓRIO DE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8725" y="190500"/>
            <a:ext cx="1444675" cy="1333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50" b="0" i="0" spc="34">
                <a:solidFill>
                  <a:srgbClr val="8A8A8A"/>
                </a:solidFill>
                <a:latin typeface="Montserrat"/>
              </a:rPr>
              <a:t>EQUATORIAL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5350" y="447675"/>
            <a:ext cx="1675507" cy="4476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850" b="1" i="0" spc="-28">
                <a:solidFill>
                  <a:srgbClr val="EA2548"/>
                </a:solidFill>
                <a:latin typeface="Montserrat"/>
              </a:rPr>
              <a:t>glossário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1057275"/>
            <a:ext cx="968662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em determinado período, independentemente da quantidade de vezes que cada uma o acessou;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1312069"/>
            <a:ext cx="7688610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Métrica que substituiu o alcance no Meta Business Suite; número de contas únicas que visualizaram o conteúdo;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1566862"/>
            <a:ext cx="642535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Impressões: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Total de vezes que o conteúdo foi exibido, incluindo múltiplas visualizações pela mesma conta;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1821656"/>
            <a:ext cx="829553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Visualizações: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vezes que o conteúdo foi assistido/exibido, contabilizando todas as repetições, sem distinção de usuários únicos;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076450"/>
            <a:ext cx="7811691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Visitas ao perfil: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Quantidade de acessos ao perfil da marca, provenientes de publicações, anúncios, buscas ou compartilhamentos;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331244"/>
            <a:ext cx="5346502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Saldo de pessoas que passaram a seguir o perfil no período analisado;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2586038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retenção (visitas x seguidores):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Percentual de visitantes do perfil que se tornam seguidores. Mede a eficiência do perfil em transformar interesse em vínculo contínuo (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Novos Seguidores ÷ Visitas × 100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019425"/>
            <a:ext cx="746655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Interações: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Ações realizadas pelos usuários em um post (curtidas, comentários, compartilhamentos, salvamentos, respostas);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274219"/>
            <a:ext cx="3877866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Soma das interações recebidas em um conteúdo;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529012"/>
            <a:ext cx="7639794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Taxa de engajamento: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Indicador de envolvimento proporcional do público em relação ao alcance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(Interações ÷ Alcance × 100)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783806"/>
            <a:ext cx="11203876" cy="3214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6"/>
              </a:lnSpc>
            </a:pPr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orgânico: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sem investimento em mídia paga, incluindo seguidores e não seguidores que tiveram contato de forma espontânea no explorar, hashtags ou compartilhamentos;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4217194"/>
            <a:ext cx="720119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• </a:t>
            </a:r>
            <a:r>
              <a:rPr sz="950" b="1" i="0">
                <a:solidFill>
                  <a:srgbClr val="000000"/>
                </a:solidFill>
                <a:latin typeface="Montserrat"/>
              </a:rPr>
              <a:t>Alcance pago:</a:t>
            </a:r>
            <a:r>
              <a:rPr sz="950" b="0" i="0">
                <a:solidFill>
                  <a:srgbClr val="000000"/>
                </a:solidFill>
                <a:latin typeface="Montserrat"/>
              </a:rPr>
              <a:t> Número de contas únicas que visualizaram o conteúdo a partir de anúncios ou impulsionamentos pagos.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5750" y="6124575"/>
            <a:ext cx="13035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650" b="1" i="0" spc="33">
                <a:solidFill>
                  <a:srgbClr val="FFFFFF"/>
                </a:solidFill>
                <a:latin typeface="Montserrat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