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78661" y="5027414"/>
            <a:ext cx="635138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44713" y="5447407"/>
            <a:ext cx="8885337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EQUATORIAL SERVIÇOS - SETEMBRO|2026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81471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 - Equatorial Serviços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99" y="128587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5694" y="1685925"/>
            <a:ext cx="11476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1182" y="1809750"/>
            <a:ext cx="1436638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351.469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682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19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6094" y="2705100"/>
            <a:ext cx="10523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</a:t>
            </a:r>
            <a:r>
              <a:rPr sz="2250" b="0" i="0" spc="-22">
                <a:solidFill>
                  <a:srgbClr val="000000"/>
                </a:solidFill>
                <a:latin typeface="Montserrat"/>
              </a:rPr>
              <a:t>1.137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65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39.448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366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368" y="2705100"/>
            <a:ext cx="6268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5%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0994" y="304800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4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504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1154" y="367665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1.169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5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73%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4217" y="355282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3739" y="3676650"/>
            <a:ext cx="88597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0,3%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0994" y="40195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0,7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7629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337" y="1285875"/>
            <a:ext cx="930176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9512" y="1685925"/>
            <a:ext cx="8858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visualizadores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4032" y="1809750"/>
            <a:ext cx="1436638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708.939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967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17%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004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7246" y="2705100"/>
            <a:ext cx="595908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939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2.228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651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3384" y="2705100"/>
            <a:ext cx="73253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1,3%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38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primeiro mês com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dados do Facebook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789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4004" y="367665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2.030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939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35%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5873" y="3552825"/>
            <a:ext cx="9075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cliques no 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9930" y="3676650"/>
            <a:ext cx="123944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49.275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38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22%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914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2545" y="5391150"/>
            <a:ext cx="290676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dados obtidos no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Meta Business Suite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14990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- setembro|26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782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analisados, compreendemos: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2982" y="14382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1943100"/>
            <a:ext cx="5317426" cy="1035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INSTAGRAM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(10 posts)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6 conteúdos de venda direta (planos, pagamento na conta de energia, "Bingo", "código de barras", sorteio);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2 conteúdos informativos (presença em 7 estados e imprevistos do dia a dia);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collab com o @grupoequatorial (Dia do Cliente);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episódio da websérie </a:t>
            </a:r>
            <a:r>
              <a:rPr sz="950" b="0" i="1">
                <a:solidFill>
                  <a:srgbClr val="000000"/>
                </a:solidFill>
                <a:latin typeface="Montserrat"/>
              </a:rPr>
              <a:t>"Sorte que Transforma"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(social).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8489" y="14382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2228850"/>
            <a:ext cx="41217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Conexão - Dia do Cliente (collab com o Grupo Equatorial);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925" y="2500312"/>
            <a:ext cx="348109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Imprevistos do cotidiano e soluções do portfólio;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925" y="2771775"/>
            <a:ext cx="283487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Humanização - "Sorte que Transforma".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458" y="3990975"/>
            <a:ext cx="17735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8563" y="3990975"/>
            <a:ext cx="180037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9160" y="43338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1518" y="43338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8480" y="43338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438900"/>
            <a:ext cx="426362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Classificação de setembro sugerida a partir das legendas dos posts; ajustar se necessário.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51906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92878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resultados gerais - 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2719" y="1285875"/>
            <a:ext cx="130656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resultados anuais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3382" y="3514725"/>
            <a:ext cx="48413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6735" y="3514725"/>
            <a:ext cx="6374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1352" y="3514725"/>
            <a:ext cx="10483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506" y="3895725"/>
            <a:ext cx="195098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perfil geral dos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5826" y="6219825"/>
            <a:ext cx="8954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geolocalização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3759" y="6219825"/>
            <a:ext cx="4528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gênero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9984" y="6219825"/>
            <a:ext cx="3643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5559" y="6438900"/>
            <a:ext cx="658088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resultados referentes ao Instagram. Faixa etária somando mulheres e homens; demais cidades somam 72,8% da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98923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246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investimento em mídia paga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881" y="1419225"/>
            <a:ext cx="2662238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valores investimentos mensalmente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5781" y="4943475"/>
            <a:ext cx="136043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valor total investido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9434" y="5305425"/>
            <a:ext cx="219298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R$ 359.724,27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3697" y="5629275"/>
            <a:ext cx="256460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setembro: R$ 37.616,11 (-17% em relação a agosto)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623" y="6286500"/>
            <a:ext cx="927660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ontserrat"/>
              </a:rPr>
              <a:t>Em setembro, o investimento em mídia somou </a:t>
            </a:r>
            <a:r>
              <a:rPr sz="800" b="1" i="0">
                <a:solidFill>
                  <a:srgbClr val="595959"/>
                </a:solidFill>
                <a:latin typeface="Montserrat"/>
              </a:rPr>
              <a:t>R$ 37.616,11</a:t>
            </a:r>
            <a:r>
              <a:rPr sz="800" b="0" i="0">
                <a:solidFill>
                  <a:srgbClr val="595959"/>
                </a:solidFill>
                <a:latin typeface="Montserrat"/>
              </a:rPr>
              <a:t>, redução de 17% em relação a agosto, mantendo o perfil com 96% das visualizações vindas de anúncios no Instagram.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62138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INSTAGRAM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276350"/>
            <a:ext cx="6484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6417" y="1495425"/>
            <a:ext cx="17124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351.469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2900" y="12763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4235" y="149542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23.650</a:t>
            </a:r>
            <a:r>
              <a:rPr sz="2150" b="1" i="0" spc="-27">
                <a:solidFill>
                  <a:srgbClr val="5BA346"/>
                </a:solidFill>
                <a:latin typeface="Montserrat"/>
              </a:rPr>
              <a:t>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12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crescimento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763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1341" y="1495425"/>
            <a:ext cx="74056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5%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770" y="19335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 pontos percentuais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2851" y="25336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2905" y="311467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1.169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7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73%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44517" y="3114675"/>
            <a:ext cx="12552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</a:t>
            </a:r>
            <a:r>
              <a:rPr sz="2700" b="0" i="0" spc="-27">
                <a:solidFill>
                  <a:srgbClr val="000000"/>
                </a:solidFill>
                <a:latin typeface="Montserrat"/>
              </a:rPr>
              <a:t>1.137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1270" y="35528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39.448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2.299 novos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861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2703" y="3305175"/>
            <a:ext cx="1797844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10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770" y="37052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+2 criativos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448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175" y="4857750"/>
            <a:ext cx="8103986" cy="895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o perfil manteve 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 estável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(351.469, -2%) e registrou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crescimento de 13% nas visitas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23.650 acessos e 7.328 cliques no link. O mês teve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muitos comentários, mas em grande parte negativos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reclamações sobre apagões na região de Canaã. As interações recuaram 73%, já que agosto contou com a collab de Dia dos Pais, que sozinha gerou 3.762 interações. A comunidade seguiu crescendo,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+1.137 seguidores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chegando a 39.448, mas a taxa de retenção caiu para 5%, com menor conversão das visitas em seguidores.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11410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225" y="1362075"/>
            <a:ext cx="5429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9725" y="1362075"/>
            <a:ext cx="95904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+1.137 segs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225" y="3571875"/>
            <a:ext cx="6116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1093" y="3505200"/>
            <a:ext cx="23306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5772150"/>
            <a:ext cx="168265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legenda: M.A: MÊS ANTERIOR;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1409700"/>
            <a:ext cx="3512248" cy="2886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o perfil manteve o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alcance no patamar de agosto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com 351.469 contas (-2%), sustentado majoritariamente pela mídia: das 1,66 milhão de visualizações,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96% vieram de anúncios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. As visualizações orgânicas, por outro lado, cresceram 13%.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As interações somaram 1.169 (-73%), retomando o patamar do primeiro semestre após o pico de agosto, impulsionado pela collab de Dia dos Pais. Em setembro,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collab de Dia do Cliente com o @grupoequatorial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voltou a liderar as interações (200), seguida pelo carrossel sobre imprevistos do dia a dia (144).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 comunidade chegou 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39.448 seguidores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(+1.137). Com visitas em alta (+13%) e menos novos seguidores, a taxa de retenção caiu de 9% para 5%, indicando a oportunidade de reforçar chamadas que convertam a visita em seguimento.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49374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da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6323" y="183832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8929" y="183832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5804" y="183832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555" y="4830366"/>
            <a:ext cx="3139440" cy="285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0069" y="180022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96125" y="2286000"/>
            <a:ext cx="4591431" cy="108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visitas ao perfil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cresceram 13%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para 23.650, mas o saldo de novos seguidores recuou de 1.871 para 1.137, levando a taxa de retenção a 5%. O perfil atraiu mais visitantes, impulsionado pelos 7.328 cliques no link, mas converteu menos dessas visitas em seguidores, o que reforça a importância de conteúdos e chamadas que incentivem o seguimento.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99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936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0991" y="1171575"/>
            <a:ext cx="26550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15/09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261" y="3086100"/>
            <a:ext cx="15074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COLLAB @GRUPOEQUATORIAL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697" y="3324225"/>
            <a:ext cx="147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3787080"/>
            <a:ext cx="22175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504" y="3684240"/>
            <a:ext cx="28723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5.759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85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853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24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961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421" y="1171575"/>
            <a:ext cx="29482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09/09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4405" y="3324225"/>
            <a:ext cx="14808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1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787080"/>
            <a:ext cx="20374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62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6254" y="3684240"/>
            <a:ext cx="29869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5.784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1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128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5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23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887" y="1171575"/>
            <a:ext cx="2841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23/09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6572" y="3086100"/>
            <a:ext cx="1281857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SORTE QUE TRANSFORMA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6965" y="3324225"/>
            <a:ext cx="16612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0,05%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3787080"/>
            <a:ext cx="13424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90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9004" y="3684240"/>
            <a:ext cx="35153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119.819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40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40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79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157" y="1228725"/>
            <a:ext cx="122188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7695" y="1171575"/>
            <a:ext cx="24705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11/09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9905" y="3324225"/>
            <a:ext cx="14808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773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77350" y="3787080"/>
            <a:ext cx="16207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17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81754" y="3684240"/>
            <a:ext cx="29765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2.942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67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76781" y="3684240"/>
            <a:ext cx="42683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estático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07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025" y="4781550"/>
            <a:ext cx="11361002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Os destaques de setembro repetem o aprendizado de agosto: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conteúdos colaborativos e humanizados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geram mais resposta. A collab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Dia do Cliente com o @grupoequatorial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liderou, com 125 comentários. O carrossel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"Fazemos planos para o futuro…"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sobre imprevistos do dia a dia, foi o conteúdo próprio com mais interações e o que mais trouxe seguidores (7). O episódio de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"Sorte que Transforma"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com Sirlene Neves teve o maior alcance do mês (119.819), impulsionado por mídia, mas baixa taxa de engajamento.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5750" y="6096000"/>
            <a:ext cx="825043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Interações = curtidas + comentários + compartilhamentos + salvamentos; taxa de engajamento = interações ÷ alcance. Dados da exportação de posts do Meta Business Suite.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11599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stories mais relevantes -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 </a:t>
            </a:r>
            <a:r>
              <a:rPr sz="1600" b="0" i="0">
                <a:solidFill>
                  <a:srgbClr val="000000"/>
                </a:solidFill>
                <a:latin typeface="Montserrat"/>
              </a:rPr>
              <a:t>por visualização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286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750" y="4505325"/>
            <a:ext cx="124450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2,2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105" y="4791075"/>
            <a:ext cx="17536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9 DE SETEMBRO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8870" y="4505325"/>
            <a:ext cx="12242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1,9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105" y="4791075"/>
            <a:ext cx="17536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9 DE SETEMBRO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2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3935" y="4505325"/>
            <a:ext cx="12281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ontserrat"/>
              </a:rPr>
              <a:t>1,8 mil</a:t>
            </a:r>
            <a:r>
              <a:rPr sz="950" b="0" i="0">
                <a:solidFill>
                  <a:srgbClr val="FFFFFF"/>
                </a:solidFill>
                <a:latin typeface="Montserrat"/>
              </a:rPr>
              <a:t> visualizações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1105" y="4791075"/>
            <a:ext cx="175364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000000"/>
                </a:solidFill>
                <a:latin typeface="Montserrat"/>
              </a:rPr>
              <a:t>PUBLICADO 9 DE SETEMBRO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7889" y="1190625"/>
            <a:ext cx="6829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525" y="1638300"/>
            <a:ext cx="3021711" cy="17502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Os 8 stories somaram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17,9 mil visualizações (+7%)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. Os mais vistos foram publicados em 09/09, em sequência: o infográfico "Todo mundo tem planos", o "Segue o fio, que a gente te explica" e a apresentação da Equatorial Serviços ao lado da Equatorial Energia. O resultado mostra que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sequências explicativas, que contam quem é a marca e o que ela oferece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prendem a atenção da audiência e podem ser usadas para aproximar o público do portfólio.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536853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FACEBOOK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1028700"/>
            <a:ext cx="143872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 spc="18">
                <a:solidFill>
                  <a:srgbClr val="FFFFFF"/>
                </a:solidFill>
                <a:latin typeface="Montserrat"/>
              </a:rPr>
              <a:t>NOVO NO RELATÓRIO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11684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VISUALIZADORES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6417" y="1685925"/>
            <a:ext cx="1712416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708.939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296" y="2124075"/>
            <a:ext cx="231665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17%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2900" y="1466850"/>
            <a:ext cx="11831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À PÁGINA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405" y="16859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3.709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0550" y="2124075"/>
            <a:ext cx="2343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20%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5856" y="1685925"/>
            <a:ext cx="87138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1,3%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2909" y="2124075"/>
            <a:ext cx="183743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50 novos seguidores ÷ 3.709 visitas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8956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2905" y="311467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2.030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408" y="3552825"/>
            <a:ext cx="233243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35%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28956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8361" y="3114675"/>
            <a:ext cx="70752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908" y="3552825"/>
            <a:ext cx="204028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2.228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95600"/>
            <a:ext cx="117246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CLIQUES NO 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3735" y="311467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49.275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4068" y="3552825"/>
            <a:ext cx="233496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22%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6819" y="427672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175" y="4686300"/>
            <a:ext cx="11243120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No Facebook, a página funciona principalmente como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canal de mídia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: das 1,73 milhão de visualizações,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99,8% vieram de anúncios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que geraram 49.275 cliques no link. Os anúncios em formato de link (1,06 milhão de visualizações) e os Reels (650,9 mil) concentraram a entrega, e os Reels lideraram as interações (1.151). Os 10 posts orgânicos da página tiveram entre 91 e 294 contas alcançadas e de 2 a 7 interações cada. A base chegou a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2.228 seguidores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+50 no mês.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6210300"/>
            <a:ext cx="884083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Variações calculadas pelo Meta Business Suite em relação ao período anterior (o relatório de agosto não incluiu dados do Facebook). Seguidores: novos seguidores informados pelo Meta.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272965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TÁ ROLANDO NA REDE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37559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tá rolando nas redes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4777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exemplos de menções sobre a marca nas redes sociais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" y="1333500"/>
            <a:ext cx="153114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Montserrat"/>
              </a:rPr>
              <a:t>rede social: </a:t>
            </a:r>
            <a:r>
              <a:rPr sz="1050" b="0" i="0">
                <a:solidFill>
                  <a:srgbClr val="000000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0" y="1771650"/>
            <a:ext cx="289545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@equatorial.servicos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carrossel Help Pet · 15/09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1325" y="3380184"/>
            <a:ext cx="2854928" cy="828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O carrossel "Match perfeito", sobre a assistência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Help Pet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com telemedicina veterinária, gerou reações afetivas ("amei", "que fofo"), mostrando que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situações do cotidiano com pets aproximam o público dos serviços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1771650"/>
            <a:ext cx="28826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@grupoequatorial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collab Dia do Cliente · 15/09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2075" y="2641104"/>
            <a:ext cx="2854928" cy="657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Na collab de Dia do Cliente, comentários como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"Muito bom o serviço da Equatorial"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reforçam a percepção positiva de quem já é atendido pela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05900" y="3603129"/>
            <a:ext cx="2599849" cy="11191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3"/>
              </a:lnSpc>
            </a:pPr>
            <a:r>
              <a:rPr sz="850" b="1" i="0">
                <a:solidFill>
                  <a:srgbClr val="000000"/>
                </a:solidFill>
                <a:latin typeface="Montserrat"/>
              </a:rPr>
              <a:t>⚠ Ponto de atenção: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setembro teve um volume alto de comentários, mas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boa parte negativos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, principalmente de pessoas reclamando de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apagões na região de Canaã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 As queixas sobre o fornecimento de energia apareceram até em posts de produto, como o episódio de "Sorte que Transforma" (23/09).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419963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7883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e sugestões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18594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 e sugerimos: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6189" y="1419225"/>
            <a:ext cx="101962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aprendizados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1828800"/>
            <a:ext cx="10968418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Alcance e Interações: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Crescimento de Seguidores: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2007394"/>
            <a:ext cx="10791825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-2% no alcance e -73% nas interações, após o pico de agosto gerado pela collab de Dia dos Pais; visitas ao perfil +13% e cliques no link somando 7.328. A collab de Dia do Cliente voltou a liderar as interações. O mês teve muitos comentários, porém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em grande parte negativos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, com reclamações de apagões na região de Canaã;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440781"/>
            <a:ext cx="743188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708.939 visualizadores e 49.275 cliques no link, com distribuição quase totalmente paga (99,8% das visualizações).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975" y="2874169"/>
            <a:ext cx="60294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+1.137 seguidores, encerrando setembro com 39.448 seguidores e taxa de retenção de 5%;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975" y="3128962"/>
            <a:ext cx="439251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+50 novos seguidores, totalizando 2.228 seguidores na página.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9074" y="4467225"/>
            <a:ext cx="105385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plano de 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975" y="4876800"/>
            <a:ext cx="64394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Manter collabs com os perfis do Grupo Equatorial em datas relevantes, que seguem liderando as interações;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975" y="5131594"/>
            <a:ext cx="659278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Explorar mais conteúdos sobre imprevistos do cotidiano, mostrando como cada serviço resolve situações reais;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975" y="5386388"/>
            <a:ext cx="71510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Incluir chamadas para seguir o perfil nos conteúdos impulsionados, para converter o aumento de visitas em seguidores;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5641181"/>
            <a:ext cx="92594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Alinhar com o atendimento um fluxo de resposta aos comentários sobre falta de energia (como os apagões em Canaã), direcionando para os canais oficiais;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975" y="5895975"/>
            <a:ext cx="66104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Dar continuidade a "Sorte que Transforma" com chamadas que estimulem comentários e compartilhamentos.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2251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resumo: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95746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estratégias identificadas, propostas e próximos passos: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8364" y="1533525"/>
            <a:ext cx="17942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5067" y="1809750"/>
            <a:ext cx="7407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VALIDADO 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Collabs com o Grupo Equatorial: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 Dia do Cliente foi o post com mais interações do mês.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605088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Imprevistos do cotidiano: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 carrossel sobre o tema foi o conteúdo próprio com mais interações e seguidores.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3198019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Stories explicativos em sequência: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concentraram as maiores visualizações do canal.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6840" y="1533525"/>
            <a:ext cx="13183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1229" y="1809750"/>
            <a:ext cx="1569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O QUE MERECE CUIDADO 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Conversão: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visitas em alta, mas taxa de retenção caiu de 9% para 5%.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2605088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 dos impulsionados: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o Reels com maior alcance (119.819) teve apenas 61 interações.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8675" y="3019425"/>
            <a:ext cx="3178683" cy="678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Comentários negativos: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muitas reclamações sobre apagões na região de Canaã, inclusive em posts de produto, exigindo alinhamento de respostas com o atendimento.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8675" y="3790950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Dependência de mídia: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96% das visualizações no Instagram e 99,8% no Facebook vieram de anúncios.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946" y="1533525"/>
            <a:ext cx="152310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testar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8929" y="1809750"/>
            <a:ext cx="6549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HIPÓTESES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91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Séries de situações do dia a dia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resolvidas pelos serviços (foco em comentários e salvamentos).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9175" y="2605088"/>
            <a:ext cx="29362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CTA de seguir nos anúncios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retenção).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9175" y="2840831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Stories interativos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enquetes sobre imprevistos (foco em participação).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9175" y="3255169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Collabs com colaboradores e clientes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alcance orgânico).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8725" y="190500"/>
            <a:ext cx="14446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EQUATORIAL SERVIÇOS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67550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glossário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1057275"/>
            <a:ext cx="96866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em determinado período, independentemente da quantidade de vezes que cada uma o acessou;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1312069"/>
            <a:ext cx="76886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Métrica que substituiu o alcance no Meta Business Suite; número de contas únicas que visualizaram o conteúdo;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1566862"/>
            <a:ext cx="6425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Impressões: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vezes que o conteúdo foi exibido, incluindo múltiplas visualizações pela mesma conta;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821656"/>
            <a:ext cx="82955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vezes que o conteúdo foi assistido/exibido, contabilizando todas as repetições, sem distinção de usuários únicos;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076450"/>
            <a:ext cx="78116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Quantidade de acessos ao perfil da marca, provenientes de publicações, anúncios, buscas ou compartilhamentos;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31244"/>
            <a:ext cx="53465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de pessoas que passaram a seguir o perfil no período analisado;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586038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retenção (visitas x seguidores):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Percentual de visitantes do perfil que se tornam seguidores. Mede a eficiência do perfil em transformar interesse em vínculo contínuo (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 ÷ Visitas × 100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019425"/>
            <a:ext cx="74665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Ações realizadas pelos usuários em um post (curtidas, comentários, compartilhamentos, salvamentos, respostas);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274219"/>
            <a:ext cx="3877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Soma das interações recebidas em um conteúdo;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529012"/>
            <a:ext cx="7639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Indicador de envolvimento proporcional do público em relação ao alcance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(Interações ÷ Alcance × 100)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3783806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orgânico: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sem investimento em mídia paga, incluindo seguidores e não seguidores que tiveram contato de forma espontânea no explorar, hashtags ou compartilhamentos;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4217194"/>
            <a:ext cx="720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pago: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a partir de anúncios ou impulsionamentos pagos.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5750" y="6124575"/>
            <a:ext cx="1303586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1" i="0" spc="33">
                <a:solidFill>
                  <a:srgbClr val="FFFFFF"/>
                </a:solidFill>
                <a:latin typeface="Montserrat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