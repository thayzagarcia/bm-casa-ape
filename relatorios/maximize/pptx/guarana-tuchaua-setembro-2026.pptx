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78661" y="5027414"/>
            <a:ext cx="6351389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7977" y="5447407"/>
            <a:ext cx="8252073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3150" b="1" i="0">
                <a:solidFill>
                  <a:srgbClr val="EA2548"/>
                </a:solidFill>
                <a:latin typeface="Montserrat"/>
              </a:rPr>
              <a:t>GUARANÁ TUCHAUA - SETEMBRO|2026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94233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overview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48079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desempenho geral por plataforma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08499" y="1285875"/>
            <a:ext cx="1022003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5723" y="1685925"/>
            <a:ext cx="210755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contas alcançadas (visualizadores)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9855" y="1809750"/>
            <a:ext cx="1239441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47.560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0682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74%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19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247" y="2705100"/>
            <a:ext cx="596057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+</a:t>
            </a:r>
            <a:r>
              <a:rPr sz="2250" b="0" i="0" spc="-22">
                <a:solidFill>
                  <a:srgbClr val="000000"/>
                </a:solidFill>
                <a:latin typeface="Montserrat"/>
              </a:rPr>
              <a:t>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2654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19.852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366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3368" y="2705100"/>
            <a:ext cx="62686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4099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 ponto percentual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85046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1154" y="3676650"/>
            <a:ext cx="10422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1.093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26544" y="401955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87%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4217" y="3552825"/>
            <a:ext cx="132501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engajamento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3739" y="3676650"/>
            <a:ext cx="885974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2,3%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40994" y="4019550"/>
            <a:ext cx="1471612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2,7 pontos percentuais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7629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07337" y="1285875"/>
            <a:ext cx="930176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facebook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9512" y="1685925"/>
            <a:ext cx="8858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visualizadores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52854" y="1809750"/>
            <a:ext cx="1239143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20.406</a:t>
            </a:r>
            <a:r>
              <a:rPr sz="1800" b="1" i="0" spc="-22">
                <a:solidFill>
                  <a:srgbClr val="8A8A8A"/>
                </a:solidFill>
                <a:latin typeface="Montserrat"/>
              </a:rPr>
              <a:t>=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9677" y="21526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estável (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+0,1%</a:t>
            </a:r>
            <a:r>
              <a:rPr sz="700" b="0" i="0">
                <a:solidFill>
                  <a:srgbClr val="000000"/>
                </a:solidFill>
                <a:latin typeface="Montserrat"/>
              </a:rPr>
              <a:t>)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70043" y="2581275"/>
            <a:ext cx="10903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novos seguidores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5770" y="2705100"/>
            <a:ext cx="398859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+7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7939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1.365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seguidores ao todo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6519" y="2581275"/>
            <a:ext cx="104626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taxa de retenção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6367" y="2705100"/>
            <a:ext cx="62656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3%</a:t>
            </a:r>
            <a:r>
              <a:rPr sz="1800" b="1" i="0" spc="-22">
                <a:solidFill>
                  <a:srgbClr val="8A8A8A"/>
                </a:solidFill>
                <a:latin typeface="Montserrat"/>
              </a:rPr>
              <a:t>=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93844" y="3048000"/>
            <a:ext cx="1471612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estável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5121" y="3552825"/>
            <a:ext cx="115460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79382" y="3676650"/>
            <a:ext cx="585936" cy="3524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250" b="0" i="0" spc="-22">
                <a:solidFill>
                  <a:srgbClr val="000000"/>
                </a:solidFill>
                <a:latin typeface="Montserrat"/>
              </a:rPr>
              <a:t>65</a:t>
            </a:r>
            <a:r>
              <a:rPr sz="1800" b="1" i="0" spc="-22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59677" y="4019550"/>
            <a:ext cx="2825496" cy="22681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700" b="1" i="0">
                <a:solidFill>
                  <a:srgbClr val="000000"/>
                </a:solidFill>
                <a:latin typeface="Montserrat"/>
              </a:rPr>
              <a:t>83%</a:t>
            </a:r>
          </a:p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29140" y="4829175"/>
            <a:ext cx="2086421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Montserrat"/>
              </a:rPr>
              <a:t>desempenho mensal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0936" y="5391150"/>
            <a:ext cx="293012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dados obtidos no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Meta Business Suite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14990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- setembro|26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72782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diante dos dados analisados, compreendemos: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2982" y="1438275"/>
            <a:ext cx="3100536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categorização de conteúdos compartilhados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1975" y="1943100"/>
            <a:ext cx="5317426" cy="121443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INSTAGRAM e FACEBOOK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(8 posts)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2 conteúdos cultural/regionais (Dia da Amazônia e cotidiano nortista);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2 conteúdos sazonais (verão amazônico);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collab com creator (@amazonianacuia, culinária paraense);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conteúdo de gastronomia/regional (Dia da Tacacazeira);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conteúdo de consumo (limão + Tuchaua);</a:t>
            </a:r>
          </a:p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1 conteúdo inspiracional/humanizado.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78489" y="1438275"/>
            <a:ext cx="27405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temas que geraram mais engajamento: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925" y="2228850"/>
            <a:ext cx="389557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Sabores da Amazônia (collab com @amazonianacuia);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925" y="2500312"/>
            <a:ext cx="2618036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Consumo à mesa (limão + Tuchaua);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925" y="2771775"/>
            <a:ext cx="456202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100" b="0" i="0">
                <a:solidFill>
                  <a:srgbClr val="000000"/>
                </a:solidFill>
                <a:latin typeface="Montserrat"/>
              </a:rPr>
              <a:t>Cotidiano nortista (Amazôniacore e "a gente cresce achando…").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6458" y="3990975"/>
            <a:ext cx="1773585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editoria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8563" y="3990975"/>
            <a:ext cx="1800374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distribuição por formato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9160" y="4333875"/>
            <a:ext cx="28470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1518" y="4333875"/>
            <a:ext cx="44931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8480" y="4333875"/>
            <a:ext cx="50021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294233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overview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258916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investimentos e anúncios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6735" y="1419225"/>
            <a:ext cx="211082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investimento total (em reais)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66965" y="1419225"/>
            <a:ext cx="1096119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foco das 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4681" y="1743075"/>
            <a:ext cx="74786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engajamento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192" y="1743075"/>
            <a:ext cx="41567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tráfego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33620" y="1419225"/>
            <a:ext cx="12495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visão estratégica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16305" y="1876425"/>
            <a:ext cx="208418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0" i="0">
                <a:solidFill>
                  <a:srgbClr val="EA2548"/>
                </a:solidFill>
                <a:latin typeface="Montserrat"/>
              </a:rPr>
              <a:t>investimento total | setembro/26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9212" y="1981200"/>
            <a:ext cx="2238226" cy="4667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3000" b="0" i="0" spc="-30">
                <a:solidFill>
                  <a:srgbClr val="000000"/>
                </a:solidFill>
                <a:latin typeface="Montserrat"/>
              </a:rPr>
              <a:t>R$ 699,73</a:t>
            </a:r>
            <a:r>
              <a:rPr sz="2400" b="1" i="0" spc="-30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3790" y="2409825"/>
            <a:ext cx="366922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49%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7225" y="2911673"/>
            <a:ext cx="3669221" cy="2009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Setembro concentrou toda a verba em uma única campanha de Visitas ao Perfil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direcionada a públicos semelhantes aos seguidores em Belém e Manaus, as duas principais praças da marca (40,8% da base). A campanha gerou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1.028 visitas ao perfil a R$ 0,68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50.130 contas alcançadas e 61.318 impressões, com cliques concentrados entre 11 e 20/09. Sem campanhas de engajamento no mês, o alcance e as interações passaram a depender mais da distribuição orgânica.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Para outubro, a recomendação é retomar uma linha de engajamento junto à de descoberta.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8079" y="4086225"/>
            <a:ext cx="208389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 e comparativos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9575" y="4495800"/>
            <a:ext cx="7416927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o investimento em mídia paga recuou 49%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em relação a agosto, somando R$ 699,73. Pela primeira vez no ano,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100% da verba foi destinada a tráfego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(visitas ao perfil), sem campanhas de engajamento. A redução acompanha a queda de 82% nas visualizações vindas de anúncios no Instagram, enquanto as visualizações orgânicas cresceram 18%, mostrando que os conteúdos de território seguiram circulando mesmo com menos mídia.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71" y="6400800"/>
            <a:ext cx="7946708" cy="252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12"/>
              </a:lnSpc>
            </a:pPr>
            <a:r>
              <a:rPr sz="750" b="1" i="0">
                <a:solidFill>
                  <a:srgbClr val="000000"/>
                </a:solidFill>
                <a:latin typeface="Montserrat"/>
              </a:rPr>
              <a:t>Observação:</a:t>
            </a:r>
            <a:r>
              <a:rPr sz="750" b="0" i="0">
                <a:solidFill>
                  <a:srgbClr val="000000"/>
                </a:solidFill>
                <a:latin typeface="Montserrat"/>
              </a:rPr>
              <a:t> valores do Gerenciador de Anúncios (1 conjunto de anúncios ativo em setembro). Tráfego = campanhas de visitas ao perfil/seguidores; Engajamento = campanhas de interação com os públicos.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62138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INSTAGRAM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690045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mensal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466850"/>
            <a:ext cx="190142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ALCANCE (VISUALIZADORES)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4735" y="1685925"/>
            <a:ext cx="147578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47.560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74%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52900" y="14668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2405" y="168592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1.862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12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65%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668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1341" y="1685925"/>
            <a:ext cx="74056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3%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 ponto percentual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2851" y="27241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0861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2905" y="3305175"/>
            <a:ext cx="12392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1.093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7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87%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0861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8361" y="3305175"/>
            <a:ext cx="707529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+</a:t>
            </a:r>
            <a:r>
              <a:rPr sz="2700" b="0" i="0" spc="-27">
                <a:solidFill>
                  <a:srgbClr val="000000"/>
                </a:solidFill>
                <a:latin typeface="Montserrat"/>
              </a:rPr>
              <a:t>61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12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19.852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346 novos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2766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7776" y="3495675"/>
            <a:ext cx="1587550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8 criativos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770" y="38957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1" i="0">
                <a:solidFill>
                  <a:srgbClr val="000000"/>
                </a:solidFill>
                <a:latin typeface="Montserrat"/>
              </a:rPr>
              <a:t>+2 criativos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em relação ao mês anterior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além de 8 stories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6819" y="46005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62175" y="5010150"/>
            <a:ext cx="8103833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com a menor verba de mídia do ano (R$ 699,73), o Instagram do Tuchaua registrou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queda de 87% nas interações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 de 65% nas visitas ao perfil. A comunidade seguiu crescendo,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+61 seguidores líquidos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e 19.852 no total, mas a taxa de retenção recuou para 3%. Em contrapartida, as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visualizações orgânicas cresceram 18%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(20.226) e os stories quase triplicaram as visualizações (+184%).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51174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4475" y="1362075"/>
            <a:ext cx="6578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-74%*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4997" y="3152775"/>
            <a:ext cx="10915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10225" y="1362075"/>
            <a:ext cx="82421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+61 segs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4475" y="3571875"/>
            <a:ext cx="6229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-87%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1241" y="3505200"/>
            <a:ext cx="23276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" y="5772150"/>
            <a:ext cx="607293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legenda: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M.A: MÊS ANTERIOR;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*setembro: métrica Visualizadores, que substituiu o Alcance no Meta Business Suite.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5419" y="1019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9625" y="1409700"/>
            <a:ext cx="3512402" cy="27146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Em setembro, o Instagram do Tuchaua teve o mês de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menor escala do ano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acompanhando a redução de 49% na verba de mídia e a concentração do investimento em uma única campanha de visitas ao perfil. As interações somaram 1.093 (-87%) e as visitas ao perfil 1.862 (-65%).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Mesmo assim,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a comunidade seguiu crescendo, como em todos os meses de 2026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chegando a 19.852 seguidores, e as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visualizações orgânicas cresceram 18%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sinal de que os conteúdos de território mantiveram circulação própria.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Entre os posts, a collab com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@amazonianacuia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(01/09) foi o destaque, com 8.278 contas alcançadas e 234 interações, reforçando o potencial de creators locais para ampliar a distribuição em meses de mídia reduzida.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0793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detalhamento do alcance anual e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36924" y="1476375"/>
            <a:ext cx="500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orgânico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85530" y="1476375"/>
            <a:ext cx="46404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anúncio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78223" y="3686175"/>
            <a:ext cx="2158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alcance orgânico x patrocinado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0573" y="4086225"/>
            <a:ext cx="35495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3179" y="4086225"/>
            <a:ext cx="94922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054" y="4086225"/>
            <a:ext cx="1025872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7805" y="6259116"/>
            <a:ext cx="3139440" cy="2851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1"/>
              </a:lnSpc>
            </a:pPr>
            <a:r>
              <a:rPr sz="100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  <a:p>
            <a:pPr algn="ctr">
              <a:lnSpc>
                <a:spcPts val="1121"/>
              </a:lnSpc>
            </a:pPr>
            <a:r>
              <a:rPr sz="700" b="0" i="0">
                <a:solidFill>
                  <a:srgbClr val="FFFFFF"/>
                </a:solidFill>
                <a:latin typeface="Montserrat"/>
              </a:rPr>
              <a:t>(relação entre visitas ao perfil x novos seguidores mensais)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4819" y="15144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5125" y="2000250"/>
            <a:ext cx="5180076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com redução de 49% no investimento, as visualizações vindas de anúncios caíram 82% (61.433), enquanto as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visualizações orgânicas cresceram 18%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(20.226). A campanha de visitas ao perfil alcançou 50.130 contas, concentradas em Belém e Manaus.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5125" y="2819400"/>
            <a:ext cx="5180076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Taxa de retenção: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as visitas ao perfil recuaram 65%, para 1.862, e o saldo de +61 seguidores levou a taxa de retenção a 3%. O perfil manteve o crescimento da comunidade, mas com menor conversão das visitas em seguidores.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3675" y="5438775"/>
            <a:ext cx="5356670" cy="509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12"/>
              </a:lnSpc>
            </a:pPr>
            <a:r>
              <a:rPr sz="750" b="0" i="0">
                <a:solidFill>
                  <a:srgbClr val="595959"/>
                </a:solidFill>
                <a:latin typeface="Montserrat"/>
              </a:rPr>
              <a:t>Setembro: barra de anúncio = alcance da campanha de visitas ao perfil no Gerenciador de Anúncios (50.130 contas; pode incluir entregas no Facebook). O Meta não disponibiliza mais o alcance orgânico do perfil; nas visualizações, foram 20.226 orgânicas e 61.433 de anúncios. Março/26: rótulo do orgânico ilegível no relatório de agosto.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741640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 com base nas interações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811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0960" y="1171575"/>
            <a:ext cx="27429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01/09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71092" y="3086100"/>
            <a:ext cx="1439466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1" i="0">
                <a:solidFill>
                  <a:srgbClr val="EA2548"/>
                </a:solidFill>
                <a:latin typeface="Montserrat"/>
              </a:rPr>
              <a:t>COLLAB @AMAZONIANACUIA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1447" y="3324225"/>
            <a:ext cx="147875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85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7850" y="3787080"/>
            <a:ext cx="21371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225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52254" y="3684240"/>
            <a:ext cx="29914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8.278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7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728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124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0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004" y="1171575"/>
            <a:ext cx="2704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16/09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149" y="3324225"/>
            <a:ext cx="15235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3025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53025" y="3787080"/>
            <a:ext cx="184845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7429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7429" y="3684240"/>
            <a:ext cx="26089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1.001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2456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2456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6415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59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855" y="1171575"/>
            <a:ext cx="29274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05/09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58671" y="3324225"/>
            <a:ext cx="148500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taxa de engajamento: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581400"/>
            <a:ext cx="627428" cy="2076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810"/>
              </a:lnSpc>
            </a:pPr>
            <a:r>
              <a:rPr sz="700" b="0" i="0">
                <a:solidFill>
                  <a:srgbClr val="EA2548"/>
                </a:solidFill>
                <a:latin typeface="Montserrat"/>
              </a:rPr>
              <a:t>total de interações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3787080"/>
            <a:ext cx="155823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79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604" y="3581400"/>
            <a:ext cx="36790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604" y="3684240"/>
            <a:ext cx="21996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850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6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6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1590" y="4048125"/>
            <a:ext cx="4990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700" b="0" i="0">
                <a:solidFill>
                  <a:srgbClr val="EA2548"/>
                </a:solidFill>
                <a:latin typeface="Montserrat"/>
              </a:rPr>
              <a:t>ver post 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1025" y="4781550"/>
            <a:ext cx="11360848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Os destaques de setembro reforçam a força dos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sabores e do cotidiano da Amazônia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. A collab com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@amazonianacuia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(tacacá, pato no tucupi e maniçoba com Tuchaua) teve o maior alcance (8.278) e o maior volume de interações do mês. Entre os posts próprios, o carrossel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"Quando a vida te der limões…"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liderou, com 133 interações e 13% de engajamento, seguido pelo Reels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Amazôniacore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do Dia da Amazônia.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Conteúdos que colocam o produto na mesa e no dia a dia nortista seguem como os mais eficientes da marca.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750" y="6096000"/>
            <a:ext cx="8250436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0" i="0">
                <a:solidFill>
                  <a:srgbClr val="595959"/>
                </a:solidFill>
                <a:latin typeface="Montserrat"/>
              </a:rPr>
              <a:t>Interações = curtidas + comentários + compartilhamentos + salvamentos; taxa de engajamento = interações ÷ alcance. Dados da exportação de posts do Meta Business Suite.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89964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instagram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12817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desempenho de todos os criativos do mês e stories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7225" y="1685925"/>
            <a:ext cx="31715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4814" y="1685925"/>
            <a:ext cx="6350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conteúdo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76949" y="1685925"/>
            <a:ext cx="53846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formato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0900" y="1685925"/>
            <a:ext cx="5103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EA2548"/>
                </a:solidFill>
                <a:latin typeface="Montserrat"/>
              </a:rPr>
              <a:t>alcance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49727" y="1685925"/>
            <a:ext cx="6743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EA2548"/>
                </a:solidFill>
                <a:latin typeface="Montserrat"/>
              </a:rPr>
              <a:t>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7772" y="1685925"/>
            <a:ext cx="7870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EA2548"/>
                </a:solidFill>
                <a:latin typeface="Montserrat"/>
              </a:rPr>
              <a:t>taxa de eng.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225" y="1914525"/>
            <a:ext cx="34885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01/09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4814" y="1914525"/>
            <a:ext cx="291271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Collab @amazonianacuia · sabores da Amazônia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76949" y="1914525"/>
            <a:ext cx="318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0586" y="1914525"/>
            <a:ext cx="4006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8.278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5787" y="19145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8423" y="1914525"/>
            <a:ext cx="33635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2,8%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225" y="2143125"/>
            <a:ext cx="3436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16/09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4814" y="2143125"/>
            <a:ext cx="186868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"Quando a vida te der limões…"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949" y="2143125"/>
            <a:ext cx="5633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0586" y="2143125"/>
            <a:ext cx="4006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5787" y="21431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133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05080" y="2143125"/>
            <a:ext cx="4196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13,3%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225" y="2371725"/>
            <a:ext cx="37326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05/09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4814" y="2371725"/>
            <a:ext cx="200158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Amazôniacore · Dia da Amazônia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76949" y="2371725"/>
            <a:ext cx="318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52951" y="23717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850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19131" y="2371725"/>
            <a:ext cx="204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88423" y="2371725"/>
            <a:ext cx="33635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9,3%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7225" y="2600325"/>
            <a:ext cx="34602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18/09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4814" y="2600325"/>
            <a:ext cx="35116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"A gente cresce achando que algumas coisas são comuns"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76949" y="2600325"/>
            <a:ext cx="318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52951" y="26003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315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19131" y="2600325"/>
            <a:ext cx="204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5080" y="2600325"/>
            <a:ext cx="4196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16,5%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7225" y="2828925"/>
            <a:ext cx="38174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08/09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4814" y="2828925"/>
            <a:ext cx="257189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"Algumas lembranças não dá para apagar"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949" y="2828925"/>
            <a:ext cx="318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52951" y="28289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387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19131" y="2828925"/>
            <a:ext cx="204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42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05080" y="2828925"/>
            <a:ext cx="4196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10,9%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" y="3057525"/>
            <a:ext cx="31298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11/09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4814" y="3057525"/>
            <a:ext cx="197762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Verão amazônico · "cheiro de rio"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76949" y="3057525"/>
            <a:ext cx="56331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carrossel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52951" y="30575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306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19131" y="3057525"/>
            <a:ext cx="204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41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05080" y="3057525"/>
            <a:ext cx="4196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13,4%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7225" y="3286125"/>
            <a:ext cx="33709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13/09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34814" y="3286125"/>
            <a:ext cx="21405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Dia da Tacacazeira · Filhos do Norte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6949" y="3286125"/>
            <a:ext cx="31834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reels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52951" y="32861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530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19131" y="3286125"/>
            <a:ext cx="204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35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88423" y="3286125"/>
            <a:ext cx="33635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6,6%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7225" y="3514725"/>
            <a:ext cx="36180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23/09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4814" y="3514725"/>
            <a:ext cx="207347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Alter do Chão no verão amazônico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76949" y="3514725"/>
            <a:ext cx="5054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estático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52951" y="3514725"/>
            <a:ext cx="28828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314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19131" y="3514725"/>
            <a:ext cx="2049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05080" y="3514725"/>
            <a:ext cx="4196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Montserrat"/>
              </a:rPr>
              <a:t>10,2%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00075" y="3838575"/>
            <a:ext cx="7397306" cy="2811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4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O Reels "A gente cresce achando…" teve a maior taxa de engajamento do mês (16,5%) e o maior número de compartilhamentos entre os posts próprios (17), indicando forte identificação com o cotidiano nortista.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55547" y="1323975"/>
            <a:ext cx="481905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stories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50498" y="2809875"/>
            <a:ext cx="55840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121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· 05/09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874448" y="2809875"/>
            <a:ext cx="518964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98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· 21/09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58959" y="2809875"/>
            <a:ext cx="521345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88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· 21/09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48675" y="3094137"/>
            <a:ext cx="3394673" cy="10358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Os 8 stories somaram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1 mil visualizações, crescimento de 184%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. O quiz interativo "Você conhece o fruto?" (21/09), sobre árvores da região, ocupou 4 das 5 posições entre os stories mais vistos, mostrando que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formatos de jogo e descoberta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são um caminho para ampliar a retenção nos stories.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5536853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DESEMPENHO POR PLATAFORMA - FACEBOOK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690045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mensal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466850"/>
            <a:ext cx="116845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VISUALIZADORES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4884" y="1685925"/>
            <a:ext cx="147548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20.406</a:t>
            </a:r>
            <a:r>
              <a:rPr sz="2150" b="1" i="0" spc="-27">
                <a:solidFill>
                  <a:srgbClr val="8A8A8A"/>
                </a:solidFill>
                <a:latin typeface="Montserrat"/>
              </a:rPr>
              <a:t>=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estável (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+0,1%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)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52900" y="1466850"/>
            <a:ext cx="123720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VISITAS AO PERFIL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07930" y="1685925"/>
            <a:ext cx="92824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214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12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27%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1466850"/>
            <a:ext cx="132680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1489" y="1685925"/>
            <a:ext cx="740271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3%</a:t>
            </a:r>
            <a:r>
              <a:rPr sz="2150" b="1" i="0" spc="-27">
                <a:solidFill>
                  <a:srgbClr val="8A8A8A"/>
                </a:solidFill>
                <a:latin typeface="Montserrat"/>
              </a:rPr>
              <a:t>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770" y="212407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estável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2851" y="2724150"/>
            <a:ext cx="3237548" cy="34885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61"/>
              </a:lnSpc>
            </a:pPr>
            <a:r>
              <a:rPr sz="700" b="0" i="0">
                <a:solidFill>
                  <a:srgbClr val="000000"/>
                </a:solidFill>
                <a:latin typeface="Montserrat"/>
              </a:rPr>
              <a:t>Novos seguidores ÷ Visitas ao perfil × 100</a:t>
            </a:r>
          </a:p>
          <a:p>
            <a:pPr algn="ctr">
              <a:lnSpc>
                <a:spcPts val="961"/>
              </a:lnSpc>
            </a:pPr>
            <a:r>
              <a:rPr sz="7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400" y="3086100"/>
            <a:ext cx="85933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6748" y="3305175"/>
            <a:ext cx="691604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65</a:t>
            </a:r>
            <a:r>
              <a:rPr sz="2150" b="1" i="0" spc="-27">
                <a:solidFill>
                  <a:srgbClr val="EA2548"/>
                </a:solidFill>
                <a:latin typeface="Montserrat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17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redução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83%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em relação ao mês anterior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52900" y="3086100"/>
            <a:ext cx="138127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NOVOS SEGUIDORES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6679" y="3305175"/>
            <a:ext cx="470892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700" b="0" i="0" spc="-27">
                <a:solidFill>
                  <a:srgbClr val="000000"/>
                </a:solidFill>
                <a:latin typeface="Montserrat"/>
              </a:rPr>
              <a:t>+7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1270" y="37433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com total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1.365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seguidores ao todo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segundo o Meta: 13 novos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276600"/>
            <a:ext cx="15610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50" b="1" i="0" spc="18">
                <a:solidFill>
                  <a:srgbClr val="FFFFFF"/>
                </a:solidFill>
                <a:latin typeface="Montserrat"/>
              </a:rPr>
              <a:t>NÚMERO DE CRIATIVOS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7776" y="3495675"/>
            <a:ext cx="1587550" cy="3714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2400" b="0" i="0" spc="-24">
                <a:solidFill>
                  <a:srgbClr val="000000"/>
                </a:solidFill>
                <a:latin typeface="Montserrat"/>
              </a:rPr>
              <a:t>7 criativos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770" y="3895725"/>
            <a:ext cx="3021711" cy="27473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mesma quantidade do mês anterior</a:t>
            </a:r>
          </a:p>
          <a:p>
            <a:pPr algn="ctr">
              <a:lnSpc>
                <a:spcPts val="1113"/>
              </a:lnSpc>
            </a:pPr>
            <a:r>
              <a:rPr sz="800" b="0" i="0">
                <a:solidFill>
                  <a:srgbClr val="000000"/>
                </a:solidFill>
                <a:latin typeface="Montserrat"/>
              </a:rPr>
              <a:t>4 Reels e 3 posts de foto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6819" y="46005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62175" y="5010150"/>
            <a:ext cx="8103680" cy="7096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Em setembro, o Facebook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manteve a escala de distribuição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, com 20.406 visualizadores (+0,1%), sustentada pelos anúncios (95% das visualizações). As interações, porém, recuaram 83%, para 65. A página teve saldo de +7 seguidores (1.365 no total) e a taxa de retenção se manteve em 3%. Os cliques no link somaram 88. Os 7 posts publicados somaram apenas 5 interações na própria página, indicando que o volume do mês veio principalmente de conteúdos em anúncio.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51174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demonstrativo anual de resultados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33500"/>
            <a:ext cx="102825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 spc="18">
                <a:solidFill>
                  <a:srgbClr val="FFFFFF"/>
                </a:solidFill>
                <a:latin typeface="Montserrat"/>
              </a:rPr>
              <a:t>NOVA MÉTRICA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95475" y="1362075"/>
            <a:ext cx="65008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+0,1%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7050" y="3152775"/>
            <a:ext cx="158740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visualizadores mensais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10225" y="1362075"/>
            <a:ext cx="77599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M.A: +7 segs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2448" y="3152775"/>
            <a:ext cx="177760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seguidores e crescimento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4475" y="3571875"/>
            <a:ext cx="6182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-83%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46473" y="5381625"/>
            <a:ext cx="128855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total de interações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2491" y="3505200"/>
            <a:ext cx="23276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000000"/>
                </a:solidFill>
                <a:latin typeface="Montserrat"/>
              </a:rPr>
              <a:t>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07546" y="53816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3500" y="5772150"/>
            <a:ext cx="5920829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Montserrat"/>
              </a:rPr>
              <a:t>Obs: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a partir de junho/26, a Meta substituiu a métrica de </a:t>
            </a:r>
            <a:r>
              <a:rPr sz="800" b="1" i="0">
                <a:solidFill>
                  <a:srgbClr val="000000"/>
                </a:solidFill>
                <a:latin typeface="Montserrat"/>
              </a:rPr>
              <a:t>Alcance por Visualizadores</a:t>
            </a:r>
            <a:r>
              <a:rPr sz="800" b="0" i="0">
                <a:solidFill>
                  <a:srgbClr val="000000"/>
                </a:solidFill>
                <a:latin typeface="Montserrat"/>
              </a:rPr>
              <a:t> para páginas do Facebook.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419" y="10191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9625" y="1409700"/>
            <a:ext cx="3512248" cy="25431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No Facebook, setembro manteve o patamar de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20.406 visualizadores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(+0,1%), mesmo com a redução da verba. Das 26.047 visualizações do mês,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95% vieram de anúncios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(24.725); as orgânicas foram 1.322, quase o triplo de agosto (+183%).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As interações recuaram para 65 (-83%), o menor volume desde março. A página seguiu crescendo, com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+7 seguidores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 (1.365 no total), e a taxa de retenção se manteve em 3%.</a:t>
            </a:r>
          </a:p>
          <a:p>
            <a:pPr algn="just">
              <a:lnSpc>
                <a:spcPts val="1350"/>
              </a:lnSpc>
            </a:pPr>
          </a:p>
          <a:p>
            <a:pPr algn="just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O resultado reforça que, no Facebook, a mídia sustenta a distribuição, mas o canal ainda precisa de conteúdos e chamadas capazes de transformar essa audiência em interação.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6297811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gráfico de relação visitas x novos seguidores x taxa de retenção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54239" y="1628775"/>
            <a:ext cx="541288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Montserrat"/>
              </a:rPr>
              <a:t>VISITAS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3177" y="1628775"/>
            <a:ext cx="1484263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Montserrat"/>
              </a:rPr>
              <a:t>NOVOS SEGUIDORES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090" y="1628775"/>
            <a:ext cx="1553021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Montserrat"/>
              </a:rPr>
              <a:t>TAXA DE RETENÇÃO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1821" y="5343525"/>
            <a:ext cx="1167259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  <a:latin typeface="Montserrat"/>
              </a:rPr>
              <a:t>taxa de retenção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1511" y="5876925"/>
            <a:ext cx="7828979" cy="304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70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relação entre visitas ao perfil x novos seguidores mensais.</a:t>
            </a:r>
          </a:p>
          <a:p>
            <a:pPr algn="ctr">
              <a:lnSpc>
                <a:spcPts val="1170"/>
              </a:lnSpc>
            </a:pPr>
            <a:r>
              <a:rPr sz="1000" b="1" i="0">
                <a:solidFill>
                  <a:srgbClr val="000000"/>
                </a:solidFill>
                <a:latin typeface="Montserrat"/>
              </a:rPr>
              <a:t>Indica a capacidade e eficiência do perfil em converter visitantes em seguidores efetivos.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73712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facebook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6004322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criativos mais relevantes - feed - com base nas visualizações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8111" y="1228725"/>
            <a:ext cx="85279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34829" y="1171575"/>
            <a:ext cx="27042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16/09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3429" y="3324225"/>
            <a:ext cx="119479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2,1 mil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850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850" y="3684240"/>
            <a:ext cx="33426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2,1 mil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2254" y="3581400"/>
            <a:ext cx="46880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publicado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2254" y="3684240"/>
            <a:ext cx="29244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16/09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728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7281" y="3684240"/>
            <a:ext cx="47625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carrossel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40785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680" y="1171575"/>
            <a:ext cx="292745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05/09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7860" y="3324225"/>
            <a:ext cx="119613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1,5 mil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3025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3025" y="3684240"/>
            <a:ext cx="335012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1,5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7429" y="3581400"/>
            <a:ext cx="46880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publicado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7429" y="3684240"/>
            <a:ext cx="315218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05/09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2456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456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45960" y="1228725"/>
            <a:ext cx="110282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0239" y="1171575"/>
            <a:ext cx="265361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8A8A8A"/>
                </a:solidFill>
                <a:latin typeface="Montserrat"/>
              </a:rPr>
              <a:t>13/09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74472" y="3324225"/>
            <a:ext cx="105340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visualizações: </a:t>
            </a:r>
            <a:r>
              <a:rPr sz="900" b="1" i="0">
                <a:solidFill>
                  <a:srgbClr val="FFFFFF"/>
                </a:solidFill>
                <a:latin typeface="Montserrat"/>
              </a:rPr>
              <a:t>899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581400"/>
            <a:ext cx="593080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visualizações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684240"/>
            <a:ext cx="21967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899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604" y="3581400"/>
            <a:ext cx="468809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publicado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604" y="3684240"/>
            <a:ext cx="287089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13/09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631" y="3581400"/>
            <a:ext cx="207913" cy="104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00" b="0" i="0">
                <a:solidFill>
                  <a:srgbClr val="EA2548"/>
                </a:solidFill>
                <a:latin typeface="Montserrat"/>
              </a:rPr>
              <a:t>tipo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631" y="3684240"/>
            <a:ext cx="272207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750" b="1" i="0">
                <a:solidFill>
                  <a:srgbClr val="EA2548"/>
                </a:solidFill>
                <a:latin typeface="Montserrat"/>
              </a:rPr>
              <a:t>reels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6819" y="4371975"/>
            <a:ext cx="93836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observações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1025" y="4781550"/>
            <a:ext cx="11360848" cy="5238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just">
              <a:lnSpc>
                <a:spcPts val="1462"/>
              </a:lnSpc>
            </a:pPr>
            <a:r>
              <a:rPr sz="1000" b="0" i="0">
                <a:solidFill>
                  <a:srgbClr val="000000"/>
                </a:solidFill>
                <a:latin typeface="Montserrat"/>
              </a:rPr>
              <a:t>No Facebook, os conteúdos com mais visualizações foram os mesmos que se destacaram no Instagram: o carrossel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"Quando a vida te der limões…"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(2,1 mil), o Reels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Amazôniacore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(1,5 mil) e o Reels do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Dia da Tacacazeira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(899). A repetição dos destaques nas duas redes confirma que </a:t>
            </a:r>
            <a:r>
              <a:rPr sz="1000" b="1" i="0">
                <a:solidFill>
                  <a:srgbClr val="000000"/>
                </a:solidFill>
                <a:latin typeface="Montserrat"/>
              </a:rPr>
              <a:t>gastronomia e cotidiano amazônico</a:t>
            </a:r>
            <a:r>
              <a:rPr sz="1000" b="0" i="0">
                <a:solidFill>
                  <a:srgbClr val="000000"/>
                </a:solidFill>
                <a:latin typeface="Montserrat"/>
              </a:rPr>
              <a:t> são os territórios com maior capacidade de atrair a atenção do público da marca.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5750" y="6096000"/>
            <a:ext cx="11969115" cy="252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12"/>
              </a:lnSpc>
            </a:pPr>
            <a:r>
              <a:rPr sz="750" b="0" i="0">
                <a:solidFill>
                  <a:srgbClr val="595959"/>
                </a:solidFill>
                <a:latin typeface="Montserrat"/>
              </a:rPr>
              <a:t>Ordenado por visualizações (card "Posts mais relevantes por visualizações" do Meta Business Suite, que inclui a veiculação em anúncio). Na exportação de posts da página, cada um dos 7 posts teve de 0 a 1 interação orgânica; por isso o ranking usa visualizações.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272965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TÁ ROLANDO NA REDE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3755975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tá rolando nas redes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477768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exemplos de menções sobre a marca nas redes sociais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" y="1333500"/>
            <a:ext cx="1531144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Montserrat"/>
              </a:rPr>
              <a:t>rede social: </a:t>
            </a:r>
            <a:r>
              <a:rPr sz="1050" b="0" i="0">
                <a:solidFill>
                  <a:srgbClr val="000000"/>
                </a:solidFill>
                <a:latin typeface="Montserrat"/>
              </a:rPr>
              <a:t>Instagram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150" y="1771650"/>
            <a:ext cx="220578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@guaranatuchaua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carrossel · 16/09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1325" y="4476006"/>
            <a:ext cx="2854928" cy="828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"Quando a vida te der limões…" despertou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vontade de consumo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: o público comentou combinações à mesa, como "peixe + Tuchaua", e marcou amigos, como pedia a chamada do post.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8900" y="1771650"/>
            <a:ext cx="29194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1" i="0">
                <a:solidFill>
                  <a:srgbClr val="EA2548"/>
                </a:solidFill>
                <a:latin typeface="Montserrat"/>
              </a:rPr>
              <a:t>@guaranatuchaua</a:t>
            </a:r>
            <a:r>
              <a:rPr sz="950" b="0" i="0">
                <a:solidFill>
                  <a:srgbClr val="333333"/>
                </a:solidFill>
                <a:latin typeface="Montserrat"/>
              </a:rPr>
              <a:t> · Reels Amazôniacore · 05/09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2075" y="3980557"/>
            <a:ext cx="2854928" cy="828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900" b="0" i="0">
                <a:solidFill>
                  <a:srgbClr val="000000"/>
                </a:solidFill>
                <a:latin typeface="Montserrat"/>
              </a:rPr>
              <a:t>No Dia da Amazônia, os comentários celebraram a região ("Viva à Amazônia!") e trouxeram um pedido espontâneo: </a:t>
            </a:r>
            <a:r>
              <a:rPr sz="900" b="1" i="0">
                <a:solidFill>
                  <a:srgbClr val="000000"/>
                </a:solidFill>
                <a:latin typeface="Montserrat"/>
              </a:rPr>
              <a:t>"esperando pelo Tuchaua Zero"</a:t>
            </a:r>
            <a:r>
              <a:rPr sz="900" b="0" i="0">
                <a:solidFill>
                  <a:srgbClr val="000000"/>
                </a:solidFill>
                <a:latin typeface="Montserrat"/>
              </a:rPr>
              <a:t>, sinal de demanda para o lançamento da versão zero.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00050" y="6096000"/>
            <a:ext cx="4199632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00" b="1" i="0" spc="17">
                <a:solidFill>
                  <a:srgbClr val="EA2548"/>
                </a:solidFill>
                <a:latin typeface="Montserrat"/>
              </a:rPr>
              <a:t>APRENDIZADOS E PLANO DE AÇÃO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4788396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aprendizados e sugestões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5415707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compreendemos e traçamos as seguintes estratégias: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86189" y="1419225"/>
            <a:ext cx="1019621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aprendizados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1828800"/>
            <a:ext cx="10968418" cy="831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1" i="0">
                <a:solidFill>
                  <a:srgbClr val="000000"/>
                </a:solidFill>
                <a:latin typeface="Montserrat"/>
              </a:rPr>
              <a:t>Alcance e Interações: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Crescimento de seguidores: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2975" y="2007394"/>
            <a:ext cx="1012671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-87% nas interações e -65% nas visitas ao perfil, acompanhando a redução de 49% na verba de mídia; as visualizações orgânicas, por outro lado, cresceram 18%;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" y="2262188"/>
            <a:ext cx="552107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visualizadores estáveis (+0,1%), sustentados pelos anúncios, e -83% nas interações.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975" y="2695575"/>
            <a:ext cx="585653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Instagram: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+61 seguidores, encerrando setembro com 19.852 seguidores e taxa de retenção de 3%;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2975" y="2950369"/>
            <a:ext cx="57106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Facebook: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+7 seguidores, encerrando setembro com 1.365 seguidores e taxa de retenção de 3%.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69074" y="4562475"/>
            <a:ext cx="1053852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ontserrat"/>
              </a:rPr>
              <a:t>plano de 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975" y="4972050"/>
            <a:ext cx="501074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Retomar uma linha de mídia de engajamento junto à campanha de visitas ao perfil;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2975" y="5226844"/>
            <a:ext cx="620836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Ampliar as collabs com creators locais de gastronomia e cotidiano amazônico, como @amazonianacuia;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2975" y="5481638"/>
            <a:ext cx="592187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Explorar mais conteúdos de consumo à mesa e de identidade nortista, que lideraram as interações;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975" y="5736431"/>
            <a:ext cx="539948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Repetir os stories interativos em formato de quiz para ampliar a participação da audiência.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522512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resumo: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4957465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Montserrat"/>
              </a:rPr>
              <a:t>estratégias identificadas, propostas e próximos passos: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8364" y="1533525"/>
            <a:ext cx="1794272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continuar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25067" y="1809750"/>
            <a:ext cx="740718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VALIDADO 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175" y="2190750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Sabores da Amazônia: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 collab com @amazonianacuia e o carrossel do limão lideraram as interações nas duas redes.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175" y="2783681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Cotidiano nortista: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"A gente cresce achando…" teve a maior taxa de engajamento do mês (16,5%).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" y="3198019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Datas regionais: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Dia da Amazônia e Dia da Tacacazeira estiveram entre os conteúdos mais vistos.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6840" y="1533525"/>
            <a:ext cx="1318320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pontos de atenção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1229" y="1809750"/>
            <a:ext cx="1569541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O QUE MERECE CUIDADO 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86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Escala: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com a menor verba do ano, as interações caíram 87% no Instagram e 83% no Facebook.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8675" y="2605088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Conversão: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taxa de retenção do Instagram em 3%, a segunda menor do ano.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8675" y="3019425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Dependência de mídia no Facebook: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95% das visualizações vieram de anúncios.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946" y="1533525"/>
            <a:ext cx="1523107" cy="1714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Montserrat"/>
              </a:rPr>
              <a:t>o que devemos testar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68929" y="1809750"/>
            <a:ext cx="654993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1" i="0">
                <a:solidFill>
                  <a:srgbClr val="EA2548"/>
                </a:solidFill>
                <a:latin typeface="Montserrat"/>
              </a:rPr>
              <a:t>HIPÓTESES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9175" y="2190750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Série de collabs gastronômicas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com creators do Norte (foco em alcance).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9175" y="2605088"/>
            <a:ext cx="3178683" cy="5000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Conteúdos de consumo com chamada para marcar amigos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comentários e compartilhamentos).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9175" y="3198019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Quizzes regionais nos stories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retenção e participação).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9175" y="3612356"/>
            <a:ext cx="3178683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Mídia de engajamento em paralelo à de visitas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(foco em interações).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5507980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quadro resumo | big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" y="933450"/>
            <a:ext cx="3898553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Montserrat"/>
              </a:rPr>
              <a:t>resumo do desempenho do instagram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8680" y="2847975"/>
            <a:ext cx="94104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alcance mensal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6975" y="1323975"/>
            <a:ext cx="65782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-74%*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80840" y="4600575"/>
            <a:ext cx="67687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seguidores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2725" y="3076575"/>
            <a:ext cx="22473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5BA346"/>
                </a:solidFill>
                <a:latin typeface="Montserrat"/>
              </a:rPr>
              <a:t>+61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0485" y="6353175"/>
            <a:ext cx="6374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interações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6975" y="4829175"/>
            <a:ext cx="622995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00" b="1" i="0">
                <a:solidFill>
                  <a:srgbClr val="EA2548"/>
                </a:solidFill>
                <a:latin typeface="Montserrat"/>
              </a:rPr>
              <a:t>M.A: -87%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7507" y="3067050"/>
            <a:ext cx="2217837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800" b="0" i="0">
                <a:solidFill>
                  <a:srgbClr val="000000"/>
                </a:solidFill>
                <a:latin typeface="Montserrat"/>
              </a:rPr>
              <a:t>top 3 criativos por interações: 234 · 133 · 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8582" y="3543300"/>
            <a:ext cx="121458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tá rolando nas redes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886" y="1524000"/>
            <a:ext cx="1088529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Montserrat"/>
              </a:rPr>
              <a:t>feedback no perfil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8625" y="3627090"/>
            <a:ext cx="3924300" cy="2811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64"/>
              </a:lnSpc>
            </a:pPr>
            <a:r>
              <a:rPr sz="850" b="0" i="0">
                <a:solidFill>
                  <a:srgbClr val="000000"/>
                </a:solidFill>
                <a:latin typeface="Montserrat"/>
              </a:rPr>
              <a:t>Comentários de setembro mostram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desejo de consumo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 associado à comida regional e expectativa pelo </a:t>
            </a:r>
            <a:r>
              <a:rPr sz="850" b="1" i="0">
                <a:solidFill>
                  <a:srgbClr val="000000"/>
                </a:solidFill>
                <a:latin typeface="Montserrat"/>
              </a:rPr>
              <a:t>Tuchaua Zero</a:t>
            </a:r>
            <a:r>
              <a:rPr sz="850" b="0" i="0">
                <a:solidFill>
                  <a:srgbClr val="00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66700" y="190500"/>
            <a:ext cx="18395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RELATÓRIO DE DESEMPENHO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01784" y="190500"/>
            <a:ext cx="1261616" cy="1333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850" b="0" i="0" spc="34">
                <a:solidFill>
                  <a:srgbClr val="8A8A8A"/>
                </a:solidFill>
                <a:latin typeface="Montserrat"/>
              </a:rPr>
              <a:t>GUARANÁ TUCHAUA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447675"/>
            <a:ext cx="1675507" cy="4476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850" b="1" i="0" spc="-28">
                <a:solidFill>
                  <a:srgbClr val="EA2548"/>
                </a:solidFill>
                <a:latin typeface="Montserrat"/>
              </a:rPr>
              <a:t>glossário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1057275"/>
            <a:ext cx="968662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em determinado período, independentemente da quantidade de vezes que cada uma o acessou;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1312069"/>
            <a:ext cx="9024193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Métrica que substituiu o alcance nas páginas do Facebook a partir de junho/26; número de contas únicas que visualizaram o conteúdo;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1566862"/>
            <a:ext cx="6425357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Impressões: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Total de vezes que o conteúdo foi exibido, incluindo múltiplas visualizações pela mesma conta;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2950" y="1821656"/>
            <a:ext cx="829553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Visualizações: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vezes que o conteúdo foi assistido/exibido, contabilizando todas as repetições, sem distinção de usuários únicos;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" y="2076450"/>
            <a:ext cx="7811691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Visitas ao perfil: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Quantidade de acessos ao perfil da marca, provenientes de publicações, anúncios, buscas ou compartilhamentos;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2950" y="2331244"/>
            <a:ext cx="5346502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Saldo de pessoas que passaram a seguir o perfil no período analisado;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950" y="2586038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retenção (visitas x seguidores):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Percentual de visitantes do perfil que se tornam seguidores. Mede a eficiência do perfil em transformar interesse em vínculo contínuo (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Novos Seguidores ÷ Visitas × 100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2950" y="3019425"/>
            <a:ext cx="746655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Interações: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Ações realizadas pelos usuários em um post (curtidas, comentários, compartilhamentos, salvamentos, respostas);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274219"/>
            <a:ext cx="3877866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Soma das interações recebidas em um conteúdo;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950" y="3529012"/>
            <a:ext cx="7639794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Taxa de engajamento: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Indicador de envolvimento proporcional do público em relação ao alcance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(Interações ÷ Alcance × 100)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950" y="3783806"/>
            <a:ext cx="11203876" cy="32146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6"/>
              </a:lnSpc>
            </a:pPr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orgânico: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sem investimento em mídia paga, incluindo seguidores e não seguidores que tiveram contato de forma espontânea no explorar, hashtags ou compartilhamentos;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950" y="4217194"/>
            <a:ext cx="7201198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Montserrat"/>
              </a:rPr>
              <a:t>• </a:t>
            </a:r>
            <a:r>
              <a:rPr sz="950" b="1" i="0">
                <a:solidFill>
                  <a:srgbClr val="000000"/>
                </a:solidFill>
                <a:latin typeface="Montserrat"/>
              </a:rPr>
              <a:t>Alcance pago:</a:t>
            </a:r>
            <a:r>
              <a:rPr sz="950" b="0" i="0">
                <a:solidFill>
                  <a:srgbClr val="000000"/>
                </a:solidFill>
                <a:latin typeface="Montserrat"/>
              </a:rPr>
              <a:t> Número de contas únicas que visualizaram o conteúdo a partir de anúncios ou impulsionamentos pagos.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5750" y="6124575"/>
            <a:ext cx="1303586" cy="2571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1" i="0" spc="33">
                <a:solidFill>
                  <a:srgbClr val="FFFFFF"/>
                </a:solidFill>
                <a:latin typeface="Montserrat"/>
              </a:rPr>
              <a:t>OBRIGADO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