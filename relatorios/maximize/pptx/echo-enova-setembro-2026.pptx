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78661" y="5161657"/>
            <a:ext cx="635138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3159" y="5619750"/>
            <a:ext cx="7506891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900" b="1" i="0">
                <a:solidFill>
                  <a:srgbClr val="EA2548"/>
                </a:solidFill>
                <a:latin typeface="Montserrat"/>
              </a:rPr>
              <a:t>ECHOENERGIA E ENOVA ENERGIA SOLAR - SETEMBRO|2026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63108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visão geral - Echoenergia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99" y="1076325"/>
            <a:ext cx="10220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5694" y="1476375"/>
            <a:ext cx="11476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9855" y="1600200"/>
            <a:ext cx="123944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52.155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6827" y="194310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10%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193" y="237172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9307" y="2495550"/>
            <a:ext cx="58593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91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6544" y="28384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16.116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669" y="237172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368" y="2495550"/>
            <a:ext cx="6268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7%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0994" y="28384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0,5 ponto percentual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5046" y="334327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1154" y="3467100"/>
            <a:ext cx="10422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1.976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544" y="3810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22%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4217" y="334327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3739" y="3467100"/>
            <a:ext cx="88597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3,8%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0994" y="3810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0,6 ponto percentual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6290" y="461962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4041" y="1076325"/>
            <a:ext cx="8166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3564" y="1476375"/>
            <a:ext cx="22575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 - visitantes únicos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1229" y="1600200"/>
            <a:ext cx="10422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2.202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9677" y="194310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10%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0043" y="237172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3633" y="249555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567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9394" y="28384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82.780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6519" y="237172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694" y="2495550"/>
            <a:ext cx="82391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26%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3844" y="28384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7896" y="334327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3633" y="346710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494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9394" y="3810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46%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7067" y="334327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7694" y="3467100"/>
            <a:ext cx="82391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22%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3844" y="3810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15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9140" y="461962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410" y="5143500"/>
            <a:ext cx="10203180" cy="2811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64"/>
              </a:lnSpc>
            </a:pPr>
            <a:r>
              <a:rPr sz="8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Os dados apresentados foram obtidos por meio das plataformas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Meta Business Suite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e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LinkedIn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. Novos seguidores do Instagram: crescimento líquido da base (novos seguidores menos deixaram de seguir); segundo o Meta, foram 305 novos seguidores no mês.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25678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temas - setembro|2026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9732" y="1438275"/>
            <a:ext cx="310053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categorização de conteúdos compartilhados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85975" y="2152650"/>
            <a:ext cx="85442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INSTAGRAM: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5975" y="2414588"/>
            <a:ext cx="3551492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6 conteúdos Educativos;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6 conteúdos Institucionais;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5 conteúdos de Mercado Livre de Energia;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4 conteúdos de Timing/Sazonalidade;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1 conteúdo de Produto;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1 conteúdo de ESG.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5975" y="3681412"/>
            <a:ext cx="70380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LINKEDIN: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5975" y="3943350"/>
            <a:ext cx="3551492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5 conteúdos Institucionais;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2 conteúdos Educativos;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2 conteúdos de ESG;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1 conteúdo de Timing/Sazonalidade;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1 conteúdo de Mercado Livre de Energia;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1 newsletter.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3614" y="1628775"/>
            <a:ext cx="27405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que geraram mais engajamento: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8425" y="2457450"/>
            <a:ext cx="237321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Mercado Livre de Energia - Educativo;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2700338"/>
            <a:ext cx="3669221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Humanização - Sazonais (Dia do Cliente em collab com o Grupo Equatorial);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8425" y="3128962"/>
            <a:ext cx="3669221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Humanização - Colaboradores (SIPAT e media training no LinkedIn).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54307" y="190500"/>
            <a:ext cx="25090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 E 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987004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demandas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895350"/>
            <a:ext cx="2822972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Montserrat"/>
              </a:rPr>
              <a:t>check list de produções mensais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5888" y="1628775"/>
            <a:ext cx="141922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produções previstas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175" y="2324100"/>
            <a:ext cx="78372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[preencher]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07534" y="1628775"/>
            <a:ext cx="117693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produções feitas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8675" y="2228850"/>
            <a:ext cx="252799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Cobertura do CONAREC (feed e stories)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8675" y="2471738"/>
            <a:ext cx="124152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Semana do 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714625"/>
            <a:ext cx="248051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Série Mercado Livre de Energia (Reels)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957512"/>
            <a:ext cx="13025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Cortes do Megacast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0400"/>
            <a:ext cx="305082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Divulgação do e-book sobre a conta de energia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75" y="3443288"/>
            <a:ext cx="154066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[completar com o time]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8963" y="1628775"/>
            <a:ext cx="83507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pendências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9175" y="2324100"/>
            <a:ext cx="143038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[preencher com time]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965478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visão geral - Enova Energia Solar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99" y="1076325"/>
            <a:ext cx="10220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5694" y="1476375"/>
            <a:ext cx="11476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28008" y="160020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668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6827" y="194310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39%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193" y="237172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6027" y="2495550"/>
            <a:ext cx="692497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-33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6544" y="28384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20.369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669" y="237172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0088" y="2495550"/>
            <a:ext cx="733425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-6%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0994" y="28384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5046" y="334327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0783" y="346710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201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544" y="3810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9%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4217" y="334327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4844" y="3467100"/>
            <a:ext cx="82391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30%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0994" y="3810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10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6290" y="461962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4041" y="1076325"/>
            <a:ext cx="8166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3564" y="1476375"/>
            <a:ext cx="22575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 - visitantes únicos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0858" y="160020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101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9677" y="194310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58%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0043" y="237172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157" y="2495550"/>
            <a:ext cx="58593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20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9394" y="28384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17.237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6519" y="237172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694" y="2495550"/>
            <a:ext cx="82391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20%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3844" y="28384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12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7896" y="334327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0830" y="3467100"/>
            <a:ext cx="388739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9394" y="3810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nenhuma publicação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 mês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7067" y="334327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6218" y="3467100"/>
            <a:ext cx="6268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3844" y="3810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 ponto percentual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9140" y="461962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410" y="5143500"/>
            <a:ext cx="10203180" cy="2811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64"/>
              </a:lnSpc>
            </a:pPr>
            <a:r>
              <a:rPr sz="8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Dados do Meta Business Suite e do LinkedIn. Novos seguidores do Instagram: crescimento líquido da base; segundo o Meta, foram 176 novos seguidores no mês. Total de seguidores do LinkedIn estimado (17.217 + 20 novos).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14990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- setembro|26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782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analisados, compreendemos: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9732" y="1628775"/>
            <a:ext cx="310053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categorização de conteúdos compartilhados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5975" y="2362200"/>
            <a:ext cx="1707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INSTAGRAM e FACEBOOK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5975" y="2624138"/>
            <a:ext cx="3551492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3 conteúdos de Produto;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1 conteúdo de ESG;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5975" y="3167062"/>
            <a:ext cx="70380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LINKEDIN: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5975" y="3429000"/>
            <a:ext cx="167818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0 criativos compartilhados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3614" y="1819275"/>
            <a:ext cx="27405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que geraram mais engajamento: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2647950"/>
            <a:ext cx="3669221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Produto - Energia solar por assinatura (Reels em collab com a Echo);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8425" y="3076575"/>
            <a:ext cx="172491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ESG - Cidades sustentáveis.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62138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INSTAGRAM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53423" y="5038725"/>
            <a:ext cx="5743277" cy="1114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200" b="1" i="0" spc="-144">
                <a:solidFill>
                  <a:srgbClr val="EA2548"/>
                </a:solidFill>
                <a:latin typeface="Montserrat"/>
              </a:rPr>
              <a:t>echoenergia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276350"/>
            <a:ext cx="6484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35" y="1495425"/>
            <a:ext cx="147578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52.155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10%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2900" y="12763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2405" y="14954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1.308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12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8%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2763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1341" y="1495425"/>
            <a:ext cx="74056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7%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0,5 ponto percentual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2851" y="25336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2905" y="311467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1.976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7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22%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6248" y="3114675"/>
            <a:ext cx="691604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91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12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16.116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305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0861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2703" y="3305175"/>
            <a:ext cx="1797844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23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770" y="37052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+2 criativos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819" y="4448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175" y="4857750"/>
            <a:ext cx="8103833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Setembro manteve a Echo em um patamar de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 menor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recuo de 10% em relação a agosto. Mesmo assim, o perfil atraiu mais gente: as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visitas cresceram 8%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o saldo de seguidores passou de 79 para 91 e a taxa de retenção subiu. As interações recuaram 22%, acompanhando a menor distribuição, e os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cliques no link cresceram 85%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(1.798), sinal de um público mais disposto a avançar para a 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11410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4475" y="1362075"/>
            <a:ext cx="59620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4997" y="3152775"/>
            <a:ext cx="10915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4725" y="1162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5BA346"/>
                </a:solidFill>
                <a:latin typeface="Montserrat"/>
              </a:rPr>
              <a:t>16.116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2502" y="1352550"/>
            <a:ext cx="1000696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19"/>
              </a:lnSpc>
            </a:pPr>
            <a:r>
              <a:rPr sz="6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  <a:p>
            <a:pPr algn="ctr">
              <a:lnSpc>
                <a:spcPts val="719"/>
              </a:lnSpc>
            </a:pPr>
            <a:r>
              <a:rPr sz="600" b="0" i="0">
                <a:solidFill>
                  <a:srgbClr val="000000"/>
                </a:solidFill>
                <a:latin typeface="Montserrat"/>
              </a:rPr>
              <a:t>segundo o Meta: 305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4475" y="3571875"/>
            <a:ext cx="6103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-22%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8414" y="3505200"/>
            <a:ext cx="23827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72150"/>
            <a:ext cx="24102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A.A: ANO ANTERIOR; | M.A: MÊS ANTERIOR;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419" y="942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1333500"/>
            <a:ext cx="3512402" cy="3400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setembro, a Echo registrou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redução de 10% no alcance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com 52.155 contas alcançadas, mantendo o patamar mais baixo do ano observado desde agosto. O alcance patrocinado recuou 13% (43.750 contas) e o orgânico 9% (7.928), mantendo-se como o segundo maior patamar orgânico do ano.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As interações caíram 22%, em proporção semelhante à distribuição: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taxa de engajamento se manteve próxima de 4%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indicando que os conteúdos seguem relevantes para quem é impactado. O maior volume de interações veio da collab com o Grupo Equatorial no Dia do Cliente e dos conteúdos sobre Mercado Livre de Energia.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contrapartida, o perfil converteu melhor: as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visitas cresceram 8%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o saldo de seguidores passou de 79 para 91 e a taxa de retenção subiu para 7%. Os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cliques no link cresceram 85%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chegando a 1.798. Setembro mostra uma audiência menor, porém mais interessada. O desafio segue sendo recuperar a escala de distribuição.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0793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alcance anual e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6424" y="1476375"/>
            <a:ext cx="500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orgânico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5030" y="1476375"/>
            <a:ext cx="4640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anúncio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7723" y="3686175"/>
            <a:ext cx="2158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orgânico x patrocinado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0073" y="4086225"/>
            <a:ext cx="354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2679" y="408622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9554" y="408622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7305" y="6259116"/>
            <a:ext cx="3139440" cy="285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1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  <a:p>
            <a:pPr algn="ctr">
              <a:lnSpc>
                <a:spcPts val="1121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(relação entre visitas ao perfil x novos seguidores mensais)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9069" y="15144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2000250"/>
            <a:ext cx="5376291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o alcance total recuou 10%, para 52.155 contas. O alcance patrocinado caiu 13%, de 50.285 para 43.750 contas, e o orgânico recuou 9%, de 8.737 para 7.928, mantendo-se como o segundo maior resultado orgânico do ano, atrás apenas de agosto. A collab com o Grupo Equatorial, sozinha, alcançou 5.693 contas.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4125" y="2819400"/>
            <a:ext cx="5376291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Taxa de retenção: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 taxa subiu para 7%, acompanhando o crescimento de 8% nas visitas ao perfil e o saldo de 91 novos seguidores. O perfil converteu melhor a audiência que chegou até ele, mas o patamar segue distante do primeiro semestre, quando chegou a 30% em junho.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2675" y="5709047"/>
            <a:ext cx="5552884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1"/>
              </a:lnSpc>
            </a:pPr>
            <a:r>
              <a:rPr sz="700" b="0" i="0">
                <a:solidFill>
                  <a:srgbClr val="595959"/>
                </a:solidFill>
                <a:latin typeface="Montserrat"/>
              </a:rPr>
              <a:t>Valores conforme o detalhamento do Meta Business Suite. A soma das partes (51.678) difere levemente do total (52.155) por critérios de contagem da própria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89989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por editorias e formatos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4796" y="1476375"/>
            <a:ext cx="11040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produto/informativo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453" y="1476375"/>
            <a:ext cx="197212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institucional (parceria ou autoridade)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6225" y="1476375"/>
            <a:ext cx="55527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educativo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29152" y="1476375"/>
            <a:ext cx="110623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timing/sazonalidade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3042" y="1476375"/>
            <a:ext cx="134451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mercado livre de energia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64300" y="1743075"/>
            <a:ext cx="2537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552" y="3686175"/>
            <a:ext cx="165794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distribuição por editoria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410" y="4143375"/>
            <a:ext cx="2847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8768" y="41433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5730" y="4143375"/>
            <a:ext cx="5002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4051" y="6162675"/>
            <a:ext cx="168294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6438900"/>
            <a:ext cx="64869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Montserrat"/>
              </a:rPr>
              <a:t>Setembro: 13 Reels, 9 carrosséis e 1 estático (23 criativos). Os Reels concentraram 67% das interações dos posts (929 de 1.385).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799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936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0991" y="1171575"/>
            <a:ext cx="26550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15/09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548" y="3086100"/>
            <a:ext cx="118690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CARROSSEL EM COLLAB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232" y="3324225"/>
            <a:ext cx="14875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100" y="3787080"/>
            <a:ext cx="22175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504" y="3684240"/>
            <a:ext cx="28976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5.693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85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8531" y="3684240"/>
            <a:ext cx="55001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750" b="1" i="0">
                <a:solidFill>
                  <a:srgbClr val="EA2548"/>
                </a:solidFill>
                <a:latin typeface="Montserrat"/>
              </a:rPr>
              <a:t>carrossel em collab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24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961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4988" y="1171575"/>
            <a:ext cx="284262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25/09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1932" y="3324225"/>
            <a:ext cx="15256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1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787080"/>
            <a:ext cx="18975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62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6254" y="3684240"/>
            <a:ext cx="26550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1.357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1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128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52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23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1190" y="1171575"/>
            <a:ext cx="29081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30/09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5724" y="3324225"/>
            <a:ext cx="15235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3787080"/>
            <a:ext cx="19481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90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9004" y="3684240"/>
            <a:ext cx="24779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1.162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40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40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79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59157" y="1228725"/>
            <a:ext cx="12218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2246" y="1171575"/>
            <a:ext cx="27250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10/09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2083" y="3086100"/>
            <a:ext cx="91648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REELS EM COLLAB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8566" y="3324225"/>
            <a:ext cx="148351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773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77350" y="3787080"/>
            <a:ext cx="1623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17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81754" y="3684240"/>
            <a:ext cx="27384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1.305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67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76781" y="3684240"/>
            <a:ext cx="55001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750" b="1" i="0">
                <a:solidFill>
                  <a:srgbClr val="EA2548"/>
                </a:solidFill>
                <a:latin typeface="Montserrat"/>
              </a:rPr>
              <a:t>reels em collab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7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025" y="4781550"/>
            <a:ext cx="11360848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Os destaques de setembro reforçam 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força das collabs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: o carrossel de Dia do Cliente em parceria com o Grupo Equatorial foi o conteúdo de maior alcance e interações do mês, com 125 comentários, e o Reels em collab com a Enova sobre energia solar por assinatura teve 20 compartilhamentos e 12 salvamentos. Entre os conteúdos próprios, 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Mercado Livre de Energia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lidera: os dois Reels sobre o tema somaram 313 interações, com taxas de engajamento de 12% e 13%, e foram protagonizados por colaboradoras.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641746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desempenho dos criativos - podcast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por ordem de publicação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8450" y="723900"/>
            <a:ext cx="112603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ontserrat"/>
              </a:rPr>
              <a:t>análises pontuais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8486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7572" y="3086100"/>
            <a:ext cx="907256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CORTE MEGACAST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8696" y="3324225"/>
            <a:ext cx="148500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8225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8225" y="3787080"/>
            <a:ext cx="15359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2629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2629" y="3684240"/>
            <a:ext cx="21565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685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7656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7656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1615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4475" y="4343400"/>
            <a:ext cx="14399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 spc="18">
                <a:solidFill>
                  <a:srgbClr val="FFFFFF"/>
                </a:solidFill>
                <a:latin typeface="Montserrat"/>
              </a:rPr>
              <a:t>PUBLICADO EM: 16/09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1642" y="4657725"/>
            <a:ext cx="138871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pontos de atenção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00275" y="5067300"/>
            <a:ext cx="8025347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 corte do Megacast sobre atendimento personalizado, publicado na Semana do Cliente, alcançou taxa de engajamento de 9%, acima dos cortes de julho e agosto (4% e 5%). O resultado reforça que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 escolha do tema e o gancho com datas relevantes determinam a performance dos cortes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11599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stories mais relevantes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por visualização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286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497" y="4505325"/>
            <a:ext cx="119300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1,1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893" y="4791075"/>
            <a:ext cx="18140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23 DE SETEMBRO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0279" y="4505325"/>
            <a:ext cx="10612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472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3893" y="4791075"/>
            <a:ext cx="18140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23 DE SETEMBRO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2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9929" y="4505325"/>
            <a:ext cx="10359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318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9616" y="4791075"/>
            <a:ext cx="175661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8 DE SETEMBRO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7889" y="1190625"/>
            <a:ext cx="6829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525" y="1638300"/>
            <a:ext cx="3021711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A participação no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CONAREC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concentrou a atenção do mês: o story da gerente de Experiência do Cliente no palco teve 1,1 mil visualizações, o maior resultado do canal, seguido pelo registro do evento (472). Os stories somaram 5,2 mil visualizações (+4%) e 1,3 mil contas alcançadas (-18%) em 14 publicações. Conteúdos técnicos, como a explicação sobre a variação da conta de energia, tiveram menor atração. O resultado reforça que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eventos e bastidores captam mais atenção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e que o canal pode ser explorado como espaço de diálogo, com enquetes e caixas de perguntas.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914477" y="5172075"/>
            <a:ext cx="7782223" cy="971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300" b="1" i="0" spc="-126">
                <a:solidFill>
                  <a:srgbClr val="EA2548"/>
                </a:solidFill>
                <a:latin typeface="Montserrat"/>
              </a:rPr>
              <a:t>enova energia solar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276350"/>
            <a:ext cx="6484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8430" y="149542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668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39%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2900" y="12763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7930" y="149542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543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12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12%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2763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7345" y="1495425"/>
            <a:ext cx="86856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-6%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 pontos percentuais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2851" y="25336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8430" y="311467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201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7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9%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2401" y="3114675"/>
            <a:ext cx="819448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-33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12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20.369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176 novos seguidores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0861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7776" y="3305175"/>
            <a:ext cx="1587550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4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770" y="37052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-3 criativos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819" y="4448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175" y="4857750"/>
            <a:ext cx="8103680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Setembro foi um mês de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menor produção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para a Enova, com 4 publicações no feed, e o alcance acompanhou essa redução (-39%). As interações, porém, praticamente se mantiveram (-9%), elevando a taxa de engajamento para 30%: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quem foi impactado engajou mais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A marca atraiu 176 novos seguidores, mas fechou o mês com saldo de -33, sinal de que a base ainda não está sendo retida.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11410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4475" y="1362075"/>
            <a:ext cx="6145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4997" y="3152775"/>
            <a:ext cx="10915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8914" y="1162050"/>
            <a:ext cx="58772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5BA346"/>
                </a:solidFill>
                <a:latin typeface="Montserrat"/>
              </a:rPr>
              <a:t>20.369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2502" y="1352550"/>
            <a:ext cx="1000696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19"/>
              </a:lnSpc>
            </a:pPr>
            <a:r>
              <a:rPr sz="6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  <a:p>
            <a:pPr algn="ctr">
              <a:lnSpc>
                <a:spcPts val="719"/>
              </a:lnSpc>
            </a:pPr>
            <a:r>
              <a:rPr sz="600" b="0" i="0">
                <a:solidFill>
                  <a:srgbClr val="000000"/>
                </a:solidFill>
                <a:latin typeface="Montserrat"/>
              </a:rPr>
              <a:t>segundo o Meta: 176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4475" y="3571875"/>
            <a:ext cx="5490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2964" y="3505200"/>
            <a:ext cx="28932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-6%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72150"/>
            <a:ext cx="24102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A.A: ANO ANTERIOR; | M.A: MÊS ANTERIOR;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419" y="942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1333500"/>
            <a:ext cx="3512248" cy="3228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setembro, a Enova registrou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redução de 39% no alcance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com 668 contas alcançadas, o menor resultado do ano. O movimento acompanha a queda na produção: foram 4 publicações no feed e 2 stories, contra 7 criativos em agosto.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As interações recuaram apenas 9% (201), queda bem menor que a do alcance.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taxa de engajamento subiu para 30%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indicando que os conteúdos publicados, especialmente o Reels em collab com a Echo sobre energia solar por assinatura, geraram envolvimento com quem foi impactado.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 marca atraiu 176 novos seguidores segundo o Meta, mas fechou o mês com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saldo de -33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e taxa de retenção de -6%. O resultado reforça um aprendizado já observado ao longo do ano: sem frequência de publicação e sem conteúdos humanizados, a Enova não consegue transformar o interesse pontual em crescimento da comunidade.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0793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alcance anual e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6424" y="1476375"/>
            <a:ext cx="500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orgânico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5030" y="1476375"/>
            <a:ext cx="4640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anúncio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7723" y="3686175"/>
            <a:ext cx="2158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orgânico x patrocinado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0073" y="4086225"/>
            <a:ext cx="354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2679" y="408622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9554" y="408622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7305" y="6259116"/>
            <a:ext cx="3139440" cy="285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1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  <a:p>
            <a:pPr algn="ctr">
              <a:lnSpc>
                <a:spcPts val="1121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(relação entre visitas ao perfil x novos seguidores mensais)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9069" y="15144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2000250"/>
            <a:ext cx="5376291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o alcance recuou 39%, para 668 contas, o menor patamar do ano. A distribuição foi praticamente toda orgânica: 664 contas alcançadas sem mídia (-39% em relação às 1.095 de agosto) e apenas 4 por anúncios. Sem investimento, o alcance da Enova depende diretamente da frequência de publicação e das collabs.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4125" y="2819400"/>
            <a:ext cx="5376291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Taxa de retenção: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 taxa ficou em -6%, com 543 visitas ao perfil (-12%) e saldo de -33 seguidores. Apesar dos 176 novos seguidores registrados pelo Meta, a perda de seguidores no período manteve o indicador negativo.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2675" y="5831086"/>
            <a:ext cx="318655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595959"/>
                </a:solidFill>
                <a:latin typeface="Montserrat"/>
              </a:rPr>
              <a:t>Valores conforme o detalhamento do alcance no Meta Business Suite.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89989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por editorias e formatos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4657" y="1476375"/>
            <a:ext cx="46330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produto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5609" y="1476375"/>
            <a:ext cx="110623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timing/sazonalidade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9499" y="1476375"/>
            <a:ext cx="55527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educativo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2427" y="1476375"/>
            <a:ext cx="68401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institucional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64091" y="1476375"/>
            <a:ext cx="2537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552" y="3686175"/>
            <a:ext cx="165794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distribuição por editoria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6410" y="4143375"/>
            <a:ext cx="2847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8768" y="41433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5730" y="4143375"/>
            <a:ext cx="5002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4051" y="6162675"/>
            <a:ext cx="168294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799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936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3996" y="1171575"/>
            <a:ext cx="27250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10/09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833" y="3086100"/>
            <a:ext cx="91648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REELS EM COLLAB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316" y="3324225"/>
            <a:ext cx="148351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100" y="3787080"/>
            <a:ext cx="1623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504" y="3684240"/>
            <a:ext cx="27384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1.305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85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8531" y="3684240"/>
            <a:ext cx="55001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750" b="1" i="0">
                <a:solidFill>
                  <a:srgbClr val="EA2548"/>
                </a:solidFill>
                <a:latin typeface="Montserrat"/>
              </a:rPr>
              <a:t>reels em collab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961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2195" y="1171575"/>
            <a:ext cx="24705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11/09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9015" y="3324225"/>
            <a:ext cx="10514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495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1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1850" y="3787080"/>
            <a:ext cx="1342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6254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6254" y="3684240"/>
            <a:ext cx="21773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495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1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128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23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8660" y="1171575"/>
            <a:ext cx="29334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24/09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0518" y="3324225"/>
            <a:ext cx="10141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751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46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787080"/>
            <a:ext cx="12992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9004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9004" y="3684240"/>
            <a:ext cx="18633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751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40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403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157" y="1228725"/>
            <a:ext cx="12218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329" y="1171575"/>
            <a:ext cx="2704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16/09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03445" y="3324225"/>
            <a:ext cx="10337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352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7350" y="3787080"/>
            <a:ext cx="9792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81754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81754" y="3684240"/>
            <a:ext cx="20329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767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7678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025" y="4781550"/>
            <a:ext cx="11360848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 destaque de setembro foi 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Reels em collab com a Echo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explicando como funciona a energia solar por assinatura: 2 mil visualizações, 20 compartilhamentos e 12 salvamentos, muito acima dos demais conteúdos do mês. Os carrosséis de produto, sobre assinatura e condomínios, tiveram alcance limitado. O resultado reforça que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collabs e formatos em vídeo ampliam a distribuição da Enova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enquanto os carrosséis isolados não alcançaram novos públicos.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11599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stories mais relevantes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por visualização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286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334" y="4505325"/>
            <a:ext cx="10373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178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43" y="4791075"/>
            <a:ext cx="180156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10 DE SETEMBRO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9003" y="4505325"/>
            <a:ext cx="100384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121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9428" y="4791075"/>
            <a:ext cx="182299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24 DE SETEMBRO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279" y="3024188"/>
            <a:ext cx="106129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EA2548"/>
                </a:solidFill>
                <a:latin typeface="Montserrat"/>
              </a:rPr>
              <a:t>apenas 2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6763" y="3233738"/>
            <a:ext cx="12224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no mês de setembro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7889" y="1190625"/>
            <a:ext cx="6829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INSIGHTS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2525" y="1638300"/>
            <a:ext cx="3021711" cy="17502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Os stories de setembro foram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reposts dos conteúdos de produto do feed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com destaque para a explicação de como funciona a energia solar por assinatura (178 visualizações). Com apenas 2 stories no mês, o canal somou 1,4 mil visualizações (-35%) e 273 contas alcançadas (-45%). Os Stories seguem como oportunidade para a Enova se aproximar da audiência, com bastidores das usinas, perguntas sobre a assinatura e interação direta.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161211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</a:t>
            </a:r>
            <a:r>
              <a:rPr sz="1700" b="1" i="0" spc="17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276350"/>
            <a:ext cx="16764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 </a:t>
            </a:r>
            <a:r>
              <a:rPr sz="700" b="1" i="0" spc="18">
                <a:solidFill>
                  <a:srgbClr val="FFFFFF"/>
                </a:solidFill>
                <a:latin typeface="Montserrat"/>
              </a:rPr>
              <a:t>(VISITANTES ÚNICOS)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2905" y="14954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2.202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10%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2900" y="12763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2405" y="14954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2.202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12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10%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2763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3022" y="1495425"/>
            <a:ext cx="977205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26%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 pontos percentuais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2851" y="25336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8430" y="311467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494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7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46%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7930" y="311467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567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3362" y="3552825"/>
            <a:ext cx="211737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82.780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0861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2703" y="3305175"/>
            <a:ext cx="1797844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12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770" y="37052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-1 criativo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819" y="4448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175" y="4857750"/>
            <a:ext cx="8103680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Setembro teve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menos visitantes (-10%) e menos interações (-46%)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no LinkedIn da Echo, após o recorde de agosto. Em compensação, a página converteu melhor: os novos seguidores cresceram 7% (567) e a taxa de retenção subiu para 26%. Os conteúdos de maior engajamento foram os que mostram pessoas e bastidores, como a SIPAT e o media training com executivos.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11410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4475" y="1362075"/>
            <a:ext cx="59620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549" y="3152775"/>
            <a:ext cx="179040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visitantes únicos | 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4598" y="1162050"/>
            <a:ext cx="59650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5BA346"/>
                </a:solidFill>
                <a:latin typeface="Montserrat"/>
              </a:rPr>
              <a:t>82.780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9320" y="1352550"/>
            <a:ext cx="766911" cy="95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6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4475" y="3571875"/>
            <a:ext cx="6259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-46%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9570" y="3505200"/>
            <a:ext cx="31611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26%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72150"/>
            <a:ext cx="24102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A.A: ANO ANTERIOR; | M.A: MÊS ANTERIOR;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419" y="942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1333500"/>
            <a:ext cx="3512248" cy="3571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setembro, o LinkedIn da Echo registrou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redução de 10% nos visitantes únicos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(2.202) e de 46% nas interações (494), após o maior volume do ano em agosto. O mês concentrou conteúdos institucionais e de eventos (SudoExpo, CONAREC, Rio Grande do Sul), que geraram menos reações que as editorias próprias para a plataforma.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Por outro lado,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aquisição de seguidores voltou a crescer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: foram 567 novos seguidores (+7%), interrompendo a desaceleração observada desde fevereiro, e a taxa de retenção subiu para 26%. O post de Mercado Livre de Energia teve poucas reações, mas foi o de maior taxa de cliques (742 cliques em 797 impressões), sinal de interesse real no tema.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O comportamento de setembro reforça o aprendizado do mês anterior: conteúdos que mostram pessoas e bastidores (SIPAT, media training, mutirão de sustentabilidade) e temas de negócio aderentes à plataforma sustentam o engajamento, enquanto agendas institucionais isoladas geram menor interação.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89989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por editorias e formatos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1759" y="3686175"/>
            <a:ext cx="216738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distribuição por editoria · set|26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30489" y="4143375"/>
            <a:ext cx="32310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vídeo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45" y="41433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8207" y="4143375"/>
            <a:ext cx="38085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álbum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6709" y="4143375"/>
            <a:ext cx="122530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informativo/newsletter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4051" y="6162675"/>
            <a:ext cx="168294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6438900"/>
            <a:ext cx="633501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Montserrat"/>
              </a:rPr>
              <a:t>Setembro: 2 vídeos, 9 posts de imagem e 1 newsletter. A exportação do LinkedIn não diferencia imagem única de álbum.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9283" y="1476375"/>
            <a:ext cx="43353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469" y="147637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7345" y="147637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1821" y="524827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123" y="5800725"/>
            <a:ext cx="4885754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8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relação entre visitas ao perfil x novos seguidores mensais.</a:t>
            </a:r>
          </a:p>
          <a:p>
            <a:pPr algn="ctr">
              <a:lnSpc>
                <a:spcPts val="1080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799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936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83160" y="1171575"/>
            <a:ext cx="29334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24/09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697" y="3324225"/>
            <a:ext cx="147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3787080"/>
            <a:ext cx="1524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3504" y="3581400"/>
            <a:ext cx="52640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impressões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04" y="3684240"/>
            <a:ext cx="29914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2.878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85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8531" y="3684240"/>
            <a:ext cx="44961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imagem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4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961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2195" y="1171575"/>
            <a:ext cx="24705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11/09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4405" y="3324225"/>
            <a:ext cx="14808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1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1850" y="3787080"/>
            <a:ext cx="15329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6254" y="3581400"/>
            <a:ext cx="52640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impressões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6254" y="3684240"/>
            <a:ext cx="27577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3.610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1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1281" y="3684240"/>
            <a:ext cx="44961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imagem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52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23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6548" y="1171575"/>
            <a:ext cx="285452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22/09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197" y="3324225"/>
            <a:ext cx="147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87080"/>
            <a:ext cx="15597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9004" y="3581400"/>
            <a:ext cx="52640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impressões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9004" y="3684240"/>
            <a:ext cx="27682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1.902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40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4031" y="3684240"/>
            <a:ext cx="30688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vídeo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179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59157" y="1228725"/>
            <a:ext cx="12218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2692" y="1171575"/>
            <a:ext cx="272058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18/09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9905" y="3324225"/>
            <a:ext cx="14808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77350" y="3787080"/>
            <a:ext cx="15359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1754" y="3581400"/>
            <a:ext cx="52640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impressões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81754" y="3684240"/>
            <a:ext cx="27503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2.817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767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76781" y="3684240"/>
            <a:ext cx="44961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imagem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707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025" y="4781550"/>
            <a:ext cx="11360848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Os conteúdos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colaboradores em evidência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lideraram o LinkedIn em setembro: a SIPAT teve 93 interações e 1.577 cliques, e o media training com executivos alcançou o maior número de impressões do mês (3.610). Ações de impacto social, como o Fórum de Jaracaty e o Mutirão de Sustentabilidade, também estiveram entre os destaques, reforçando o potencial de pautas ESG com pessoas reais na plataforma.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" y="6096000"/>
            <a:ext cx="25626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Montserrat"/>
              </a:rPr>
              <a:t>Taxa de engajamento = interações ÷ impressões.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97281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newsletter - performance e indicadores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825" y="4943475"/>
            <a:ext cx="173474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Montserrat"/>
              </a:rPr>
              <a:t>Publicado em:</a:t>
            </a:r>
            <a:r>
              <a:rPr sz="1300" b="0" i="0">
                <a:solidFill>
                  <a:srgbClr val="000000"/>
                </a:solidFill>
                <a:latin typeface="Montserrat"/>
              </a:rPr>
              <a:t> 25/09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3775" y="2019300"/>
            <a:ext cx="1962150" cy="24645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1 edição em setembro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(agosto: 2 edições)</a:t>
            </a:r>
          </a:p>
          <a:p>
            <a:pPr algn="l">
              <a:lnSpc>
                <a:spcPts val="1406"/>
              </a:lnSpc>
            </a:pP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“O que está em movimento na Echoenergia?”</a:t>
            </a:r>
          </a:p>
          <a:p>
            <a:pPr algn="l">
              <a:lnSpc>
                <a:spcPts val="1406"/>
              </a:lnSpc>
            </a:pP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1.042 impressões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319 visualizações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19 interações</a:t>
            </a:r>
          </a:p>
          <a:p>
            <a:pPr algn="l">
              <a:lnSpc>
                <a:spcPts val="1406"/>
              </a:lnSpc>
            </a:pP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O pico diário de visualizações do mês (cerca de 250) aconteceu no dia da publicação.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7817" y="5819775"/>
            <a:ext cx="84876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publicações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6461" y="1276350"/>
            <a:ext cx="1025128" cy="4667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3000" b="0" i="0" spc="-30">
                <a:solidFill>
                  <a:srgbClr val="000000"/>
                </a:solidFill>
                <a:latin typeface="Montserrat"/>
              </a:rPr>
              <a:t>813</a:t>
            </a:r>
            <a:r>
              <a:rPr sz="2400" b="1" i="0" spc="-30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548" y="1704975"/>
            <a:ext cx="114895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VISUALIZAÇÕES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5607" y="1876425"/>
            <a:ext cx="23066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91% em relação ao mês anterior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5076" y="1276350"/>
            <a:ext cx="1435298" cy="4667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3000" b="0" i="0" spc="-30">
                <a:solidFill>
                  <a:srgbClr val="000000"/>
                </a:solidFill>
                <a:latin typeface="Montserrat"/>
              </a:rPr>
              <a:t>28.928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3888" y="1704975"/>
            <a:ext cx="91767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ASSINANTES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04648" y="1876425"/>
            <a:ext cx="113615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4F9A3A"/>
                </a:solidFill>
                <a:latin typeface="Montserrat"/>
              </a:rPr>
              <a:t>238 novos assinantes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3671" y="2095500"/>
            <a:ext cx="1370707" cy="4667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3000" b="0" i="0" spc="-30">
                <a:solidFill>
                  <a:srgbClr val="000000"/>
                </a:solidFill>
                <a:latin typeface="Montserrat"/>
              </a:rPr>
              <a:t>1.555</a:t>
            </a:r>
            <a:r>
              <a:rPr sz="2400" b="1" i="0" spc="-30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240" y="2524125"/>
            <a:ext cx="94357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IMPRESSÕES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1617" y="2695575"/>
            <a:ext cx="233466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68% 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91576" y="2095500"/>
            <a:ext cx="762149" cy="4667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3000" b="0" i="0" spc="-30">
                <a:solidFill>
                  <a:srgbClr val="000000"/>
                </a:solidFill>
                <a:latin typeface="Montserrat"/>
              </a:rPr>
              <a:t>22</a:t>
            </a:r>
            <a:r>
              <a:rPr sz="2400" b="1" i="0" spc="-30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0452" y="2524125"/>
            <a:ext cx="112439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ENGAJAMENTO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7401" y="2695575"/>
            <a:ext cx="23305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78% em relação ao mês anterior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6414" y="2962275"/>
            <a:ext cx="9179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2621" y="4495800"/>
            <a:ext cx="79280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8562" y="4495800"/>
            <a:ext cx="140642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número de publicações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9725" y="5810250"/>
            <a:ext cx="6985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impressões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81605" y="5810250"/>
            <a:ext cx="82034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engajamento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9521" y="6105525"/>
            <a:ext cx="215160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demonstrativo de performance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42838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análises sobre o desempenho da newsletter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8120" y="1438275"/>
            <a:ext cx="14147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para priorizar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175" y="2000250"/>
            <a:ext cx="117752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Futuro da energia;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243138"/>
            <a:ext cx="195247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Mercado livre + oportunidades;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2486025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Inovação aplicada (IA, Digital Twins, Projeto Nebula);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2914650"/>
            <a:ext cx="175825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Impactos para as empresas.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9966" y="4010025"/>
            <a:ext cx="187106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para segundo plano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4572000"/>
            <a:ext cx="26379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Edições apenas com agenda institucional;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175" y="4814888"/>
            <a:ext cx="298326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Notícias sem consequência prática para o leitor.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862" y="1819275"/>
            <a:ext cx="202227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transformando em conteúdo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1975" y="2400300"/>
            <a:ext cx="3551492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Manter a lógica que performa melhor ao longo do ano, respondendo em cada edição:</a:t>
            </a:r>
          </a:p>
          <a:p>
            <a:pPr algn="l">
              <a:lnSpc>
                <a:spcPts val="1462"/>
              </a:lnSpc>
            </a:pPr>
          </a:p>
          <a:p>
            <a:pPr algn="l">
              <a:lnSpc>
                <a:spcPts val="1462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O que está mudando?</a:t>
            </a:r>
          </a:p>
          <a:p>
            <a:pPr algn="l">
              <a:lnSpc>
                <a:spcPts val="1462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Por que isso importa?</a:t>
            </a:r>
          </a:p>
          <a:p>
            <a:pPr algn="l">
              <a:lnSpc>
                <a:spcPts val="1462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O que isso representa para as empresas?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43268" y="1438275"/>
            <a:ext cx="170646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aprendizado estratégico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725" y="2019300"/>
            <a:ext cx="3355276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Com apenas uma edição em setembro, visualizações, impressões e engajamento caíram. A base de assinantes continuou crescendo (+238), o que indica que 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frequência de publicação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é o principal fator para sustentar o alcance da newsletter.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9167" y="3819525"/>
            <a:ext cx="113466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direcionamento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725" y="4400550"/>
            <a:ext cx="3355276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Retomar a cadência de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duas edições por mês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 testar o formato de guia visual, conectando os temas do setor a oportunidades práticas para os negócios.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4266" y="190500"/>
            <a:ext cx="9291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30725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newsletter - perfil dos assinantes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3739" y="1323975"/>
            <a:ext cx="15893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predominância · São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1666875"/>
            <a:ext cx="113332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São Paulo e Região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94709" y="1666875"/>
            <a:ext cx="2964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1895475"/>
            <a:ext cx="13762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Rio de Janeiro e Região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4630" y="18954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325" y="2124075"/>
            <a:ext cx="10931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Fortaleza e Região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4630" y="21240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325" y="2352675"/>
            <a:ext cx="10359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São Luís e Região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4630" y="23526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325" y="2581275"/>
            <a:ext cx="8696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Natal e Região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4630" y="25812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9908" y="3438525"/>
            <a:ext cx="206573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geolocalização dos assinantes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2715" y="1323975"/>
            <a:ext cx="25958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predominância · Petróleo e gás / Renováveis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825" y="1666875"/>
            <a:ext cx="198700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Extração de petróleo e gás natural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80130" y="16668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825" y="1895475"/>
            <a:ext cx="29275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Fabricação de equipamentos de energia renovável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80130" y="18954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5" y="2124075"/>
            <a:ext cx="6938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Construção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0130" y="21240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0825" y="2352675"/>
            <a:ext cx="13736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Serviços de engenharia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0130" y="23526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0825" y="2581275"/>
            <a:ext cx="251102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Serviços de eletricidade, gás, água e esgoto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0130" y="25812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1839" y="3438525"/>
            <a:ext cx="155287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setores dos assinantes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9417" y="3800475"/>
            <a:ext cx="16436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predominância · Eletricistas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325" y="4143375"/>
            <a:ext cx="5981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Eletricista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4630" y="41433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325" y="4371975"/>
            <a:ext cx="141714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Técnico de manutenção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4630" y="43719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325" y="4600575"/>
            <a:ext cx="7993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Safety Officer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74630" y="46005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325" y="4829175"/>
            <a:ext cx="116547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Engenheiro elétrico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74630" y="48291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325" y="5057775"/>
            <a:ext cx="109433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Analista financeiro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4630" y="50577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93752" y="5915025"/>
            <a:ext cx="151789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cargos dos assinantes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53562" y="3800475"/>
            <a:ext cx="20050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predominância · Grupo Equatorial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0825" y="4143375"/>
            <a:ext cx="10154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Grupo Equatorial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80130" y="41433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0825" y="4371975"/>
            <a:ext cx="7079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Neoenergia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80130" y="43719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0825" y="4600575"/>
            <a:ext cx="7622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Echoenergia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80130" y="46005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0825" y="4829175"/>
            <a:ext cx="4037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Vestas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80130" y="48291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0825" y="5057775"/>
            <a:ext cx="7791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AXIA Energia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80130" y="5057775"/>
            <a:ext cx="2165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86836" y="5915025"/>
            <a:ext cx="254272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instituições/empresas dos assinantes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914477" y="5172075"/>
            <a:ext cx="7782223" cy="971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300" b="1" i="0" spc="-126">
                <a:solidFill>
                  <a:srgbClr val="EA2548"/>
                </a:solidFill>
                <a:latin typeface="Montserrat"/>
              </a:rPr>
              <a:t>enova energia solar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276350"/>
            <a:ext cx="16764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 </a:t>
            </a:r>
            <a:r>
              <a:rPr sz="700" b="1" i="0" spc="18">
                <a:solidFill>
                  <a:srgbClr val="FFFFFF"/>
                </a:solidFill>
                <a:latin typeface="Montserrat"/>
              </a:rPr>
              <a:t>(VISITANTES ÚNICOS)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8430" y="149542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101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58%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2900" y="12763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7930" y="149542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101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12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58%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4668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3022" y="1685925"/>
            <a:ext cx="977205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20%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12 pontos percentuais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5067" y="3114675"/>
            <a:ext cx="454968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3687" y="3552825"/>
            <a:ext cx="157787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nenhuma publicação no mês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6248" y="3114675"/>
            <a:ext cx="691604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20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388" y="3552825"/>
            <a:ext cx="207347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17.237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2851" y="27622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6819" y="4448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62175" y="4857750"/>
            <a:ext cx="8103833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Mesmo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sem publicações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o LinkedIn da Enova teve crescimento de 58% nos visitantes e quadruplicou os novos seguidores (de 5 para 20). O canal segue atuando como vitrine institucional da marca, com público concentrado em São Luís e forte interesse pela página de vagas, que recebeu metade dos visitantes do mês.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11410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4475" y="1362075"/>
            <a:ext cx="64293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+58%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549" y="3152775"/>
            <a:ext cx="179040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visitantes únicos | 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8531" y="1162050"/>
            <a:ext cx="52863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5BA346"/>
                </a:solidFill>
                <a:latin typeface="Montserrat"/>
              </a:rPr>
              <a:t>17.237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9320" y="1352550"/>
            <a:ext cx="766911" cy="95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6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402" y="3505200"/>
            <a:ext cx="32429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5772150"/>
            <a:ext cx="24102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A.A: ANO ANTERIOR; | M.A: MÊS ANTERIOR;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419" y="942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1333500"/>
            <a:ext cx="3512248" cy="2543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No LinkedIn, a Enova mantém seu papel de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vitrine institucional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. Mesmo sem publicações, setembro reverteu a desaceleração de agosto: os visitantes cresceram 58% (101) e os novos seguidores passaram de 5 para 20.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 taxa de retenção subiu para 20%, voltando ao patamar de julho. Metade dos visitantes passou pela página de vagas, e 55% das visualizações vieram de São Luís, o que reforça a função do canal como ponto de consulta e validação para quem busca conhecer a empresa.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Ainda assim, a ausência de conteúdos próprios limita o potencial de relacionamento: o canal recebe interesse, mas não oferece conteúdo para transformar esse fluxo em comunidade.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88960" y="190500"/>
            <a:ext cx="147444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144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9283" y="1476375"/>
            <a:ext cx="43353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469" y="147637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7345" y="147637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1821" y="524827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123" y="5800725"/>
            <a:ext cx="4885754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8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relação entre visitas ao perfil x novos seguidores mensais.</a:t>
            </a:r>
          </a:p>
          <a:p>
            <a:pPr algn="ctr">
              <a:lnSpc>
                <a:spcPts val="1080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272965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TÁ ROLANDO NA REDE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54307" y="190500"/>
            <a:ext cx="25090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 E 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37559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tá rolando nas redes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47776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exemplos de menções sobre a marca nas redes sociais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" y="1333500"/>
            <a:ext cx="153114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Montserrat"/>
              </a:rPr>
              <a:t>rede social: </a:t>
            </a:r>
            <a:r>
              <a:rPr sz="1050" b="0" i="0">
                <a:solidFill>
                  <a:srgbClr val="000000"/>
                </a:solidFill>
                <a:latin typeface="Montserrat"/>
              </a:rP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0" y="1771650"/>
            <a:ext cx="44980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Echoenergia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Reels mercado livre · 25/09 · 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Esther Muzel, analista 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38900" y="1771650"/>
            <a:ext cx="37500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Echoenergia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Reels "Sua conta de energia aumentou?" · 18/09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82075" y="2871043"/>
            <a:ext cx="2854928" cy="10679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214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Os comentários dos dois Reels destacam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clareza da explicação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e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escolha das porta-vozes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. Colaboradores à frente da câmera aproximam a marca do público e dão credibilidade a temas técnicos, como a abertura do mercado livre de energia, editoria que passou de 0 para 5 publicações em setembro.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4199632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APRENDIZADOS E PLANO DE AÇÃO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54307" y="190500"/>
            <a:ext cx="25090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 E 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49830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e plano de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8931" y="1038225"/>
            <a:ext cx="95413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aprendizados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3750" y="1066800"/>
            <a:ext cx="68029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50" b="0" i="0">
                <a:solidFill>
                  <a:srgbClr val="EA2548"/>
                </a:solidFill>
                <a:latin typeface="Montserrat"/>
              </a:rPr>
              <a:t>Echo Energia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0" y="1066800"/>
            <a:ext cx="100161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50" b="0" i="0">
                <a:solidFill>
                  <a:srgbClr val="EA2548"/>
                </a:solidFill>
                <a:latin typeface="Montserrat"/>
              </a:rPr>
              <a:t>Enova Energia Solar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5" y="1409700"/>
            <a:ext cx="5690235" cy="1107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1" i="0">
                <a:solidFill>
                  <a:srgbClr val="000000"/>
                </a:solidFill>
                <a:latin typeface="Montserrat"/>
              </a:rPr>
              <a:t>Alcance e Interações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Crescimento de Seguidores: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75" y="1574006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-10% no alcance e -22% nas interações, com taxa de engajamento estável (3,8%), visitas ao perfil +8% e cliques no link +85%; collab com o Grupo Equatorial foi o maior destaque do mês;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75" y="1978819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LinkedIn: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-10% nos visitantes únicos e -46% nas interações, com mês concentrado em agendas institucionais e destaque para conteúdos com colaboradores.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75" y="2547938"/>
            <a:ext cx="53383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+91 seguidores, encerrando o período com 16.116 seguidores e taxa de retenção de 7%;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2788444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LinkedIn: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+567 novos seguidores, finalizando o período com 82.780 seguidores e taxa de retenção de 26%.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6025" y="1409700"/>
            <a:ext cx="5690235" cy="1107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1" i="0">
                <a:solidFill>
                  <a:srgbClr val="000000"/>
                </a:solidFill>
                <a:latin typeface="Montserrat"/>
              </a:rPr>
              <a:t>Alcance e Interações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Crescimento de Seguidores: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7475" y="1574006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-39% no alcance e -9% nas interações, com 4 publicações no mês e taxa de engajamento de 30%; destaque para o Reels em collab com a Echo;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7475" y="1978819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LinkedIn: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+58% nos visitantes únicos, mesmo sem publicações, mantendo o papel institucional do canal.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7475" y="2547938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saldo de -33 seguidores, encerrando o período com 20.369 seguidores e taxa de retenção de -6%;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7475" y="2952750"/>
            <a:ext cx="5513642" cy="297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LinkedIn: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+20 novos seguidores, finalizando o período com 17.237 seguidores e taxa de retenção de 20%.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540" y="4181475"/>
            <a:ext cx="33629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plano de ação - objetivos para o mês em vigência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225" y="4591050"/>
            <a:ext cx="1100048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Ampliar as collabs: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repetir parcerias com o Grupo Equatorial em datas relevantes e manter collabs entre Echo e Enova, que trouxeram os maiores alcances do mês para as duas marcas.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225" y="4845844"/>
            <a:ext cx="88900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Aprofundar a série de Mercado Livre de Energia: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responder às dúvidas reais que aparecem nos comentários, com colaboradores como porta-vozes.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225" y="5100638"/>
            <a:ext cx="74266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Retomar a frequência da Enova: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recuperar o volume de publicações no Instagram e iniciar conteúdos próprios no LinkedIn.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" y="5355431"/>
            <a:ext cx="674563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Newsletter com cadência quinzenal: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voltar a duas edições por mês para sustentar visualizações e engajamento.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54307" y="190500"/>
            <a:ext cx="25090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 E 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2251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resumo: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957465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Montserrat"/>
              </a:rPr>
              <a:t>estratégias identificadas, propostas e próximos passos: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8364" y="1533525"/>
            <a:ext cx="17942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continuar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5067" y="1809750"/>
            <a:ext cx="74071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VALIDADO 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190750"/>
            <a:ext cx="3178683" cy="678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Collabs: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 Dia do Cliente com o Grupo Equatorial foi o conteúdo de maior alcance e interações da Echo, e a collab com a Echo foi o destaque da Enova.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2962275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Mercado Livre de Energia: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os conteúdos próprios com mais interações tratam do tema, com engajamento de 12% e 13%.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3555206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Pessoas em evidência: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SIPAT e media training no LinkedIn e a gerente de CX no CONAREC lideraram seus canais.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6840" y="1533525"/>
            <a:ext cx="13183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pontos de atenção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1229" y="1809750"/>
            <a:ext cx="1569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O QUE MERECE CUIDADO 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Escala de distribuição: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alcance em queda nas duas marcas (Echo -10%, Enova -39%).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75" y="2605088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Frequência da Enova: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4 posts no Instagram e nenhum no LinkedIn; a base fechou o mês com saldo negativo de seguidores.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8675" y="3198019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LinkedIn e newsletter da Echo: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interações -46% e apenas uma edição da newsletter no mês.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946" y="1533525"/>
            <a:ext cx="152310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testar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8929" y="1809750"/>
            <a:ext cx="6549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HIPÓTESES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9175" y="2190750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Série de perguntas e respostas sobre o Mercado Livre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com colaboradores (foco em comentários e compartilhamentos).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9175" y="2783681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Collabs recorrentes Echo + Enova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sobre energia solar por assinatura (foco em alcance para a Enova).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9175" y="3198019"/>
            <a:ext cx="30734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Stories interativos pós-evento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retenção).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9175" y="3433762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Newsletter em formato de guia visual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visualizações no LinkedIn).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54307" y="190500"/>
            <a:ext cx="25090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ECHOENERGIA E ENOVA ENERGIA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67550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glossário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1057275"/>
            <a:ext cx="96866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em determinado período, independentemente da quantidade de vezes que cada uma o acessou;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1312069"/>
            <a:ext cx="6425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Impressões: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Total de vezes que o conteúdo foi exibido, incluindo múltiplas visualizações pela mesma conta;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1566862"/>
            <a:ext cx="82955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vezes que o conteúdo foi assistido/exibido, contabilizando todas as repetições, sem distinção de usuários únicos;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1821656"/>
            <a:ext cx="78116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Visitas ao perfil: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Quantidade de acessos ao perfil da marca, provenientes de publicações, anúncios, buscas ou compartilhamentos;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076450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Seguidores totais: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acumulado de contas que seguem o perfil até o final do período analisado. Representa o tamanho da base atual da marca, independentemente de quando esses seguidores foram adquiridos;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509838"/>
            <a:ext cx="530036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Total de pessoas que passaram a seguir o perfil no período analisado;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764631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retenção (visitasXseguidores):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Percentual de visitantes do perfil que se tornam seguidores. Mede a eficiência do perfil em transformar interesse em vínculo contínuo. (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 ÷ Visitas × 100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198019"/>
            <a:ext cx="74665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Ações realizadas pelos usuários em um post (curtidas, comentários, compartilhamentos, salvamentos, respostas);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452812"/>
            <a:ext cx="3877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Soma das interações recebidas em um conteúdo;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707606"/>
            <a:ext cx="7639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Indicador de envolvimento proporcional do público em relação ao alcance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(Interações ÷ Alcance × 100)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" y="3962400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orgânico: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sem investimento em mídia paga, incluindo seguidores e não seguidores que tiveram contato de forma espontânea no explorar, hashtags ou compartilhamentos;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4395788"/>
            <a:ext cx="72011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pago: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a partir de anúncios ou impulsionamentos pagos.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5750" y="6124575"/>
            <a:ext cx="1303586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1" i="0" spc="33">
                <a:solidFill>
                  <a:srgbClr val="FFFFFF"/>
                </a:solidFill>
                <a:latin typeface="Montserrat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