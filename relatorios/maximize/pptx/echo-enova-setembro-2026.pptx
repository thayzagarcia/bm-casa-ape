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78661" y="5161657"/>
            <a:ext cx="6351389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3150" b="1" i="0">
                <a:solidFill>
                  <a:srgbClr val="EA2548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3159" y="5619750"/>
            <a:ext cx="7506891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900" b="1" i="0">
                <a:solidFill>
                  <a:srgbClr val="EA2548"/>
                </a:solidFill>
                <a:latin typeface="Montserrat"/>
              </a:rPr>
              <a:t>ECHOENERGIA E ENOVA ENERGIA SOLAR - SETEMBRO|2026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266" y="190500"/>
            <a:ext cx="92913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ECHOENERGIA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4631085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visão geral - Echoenergia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8499" y="1076325"/>
            <a:ext cx="1022003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Montserrat"/>
              </a:rPr>
              <a:t>instagram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45694" y="1476375"/>
            <a:ext cx="114761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contas alcançadas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99855" y="1600200"/>
            <a:ext cx="1239441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52.155</a:t>
            </a:r>
            <a:r>
              <a:rPr sz="1800" b="1" i="0" spc="-22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6827" y="1943100"/>
            <a:ext cx="2825496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10%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193" y="2371725"/>
            <a:ext cx="109031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novos seguidores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9307" y="2495550"/>
            <a:ext cx="585936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91</a:t>
            </a:r>
            <a:r>
              <a:rPr sz="1800" b="1" i="0" spc="-22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6544" y="2838450"/>
            <a:ext cx="1471612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com total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16.116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seguidores ao todo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3669" y="2371725"/>
            <a:ext cx="104626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taxa de retenção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3368" y="2495550"/>
            <a:ext cx="626864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7%</a:t>
            </a:r>
            <a:r>
              <a:rPr sz="1800" b="1" i="0" spc="-22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0994" y="2838450"/>
            <a:ext cx="1471612" cy="348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crescimento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0,5 ponto percentual</a:t>
            </a:r>
            <a:r>
              <a:rPr sz="700" b="0" i="0">
                <a:solidFill>
                  <a:srgbClr val="000000"/>
                </a:solidFill>
                <a:latin typeface="Montserrat"/>
              </a:rPr>
              <a:t> em relação ao mês anterior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5046" y="3343275"/>
            <a:ext cx="115460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1154" y="3467100"/>
            <a:ext cx="10422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1.976</a:t>
            </a:r>
            <a:r>
              <a:rPr sz="1800" b="1" i="0" spc="-22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26544" y="3810000"/>
            <a:ext cx="1471612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22%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14217" y="3343275"/>
            <a:ext cx="132501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taxa de engajamento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3739" y="3467100"/>
            <a:ext cx="885974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3,8%</a:t>
            </a:r>
            <a:r>
              <a:rPr sz="1800" b="1" i="0" spc="-22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40994" y="3810000"/>
            <a:ext cx="1471612" cy="348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0,6 ponto percentual</a:t>
            </a:r>
            <a:r>
              <a:rPr sz="700" b="0" i="0">
                <a:solidFill>
                  <a:srgbClr val="000000"/>
                </a:solidFill>
                <a:latin typeface="Montserrat"/>
              </a:rPr>
              <a:t> em relação ao mês anterior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76290" y="4619625"/>
            <a:ext cx="2086421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Montserrat"/>
              </a:rPr>
              <a:t>desempenho mensal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4041" y="1076325"/>
            <a:ext cx="81662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Montserrat"/>
              </a:rPr>
              <a:t>linkedin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3564" y="1476375"/>
            <a:ext cx="225757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contas alcançadas - visitantes únicos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1229" y="1600200"/>
            <a:ext cx="10422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2.202</a:t>
            </a:r>
            <a:r>
              <a:rPr sz="1800" b="1" i="0" spc="-22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9677" y="1943100"/>
            <a:ext cx="2825496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10%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0043" y="2371725"/>
            <a:ext cx="109031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novos seguidores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3633" y="2495550"/>
            <a:ext cx="783134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567</a:t>
            </a:r>
            <a:r>
              <a:rPr sz="1800" b="1" i="0" spc="-22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9394" y="2838450"/>
            <a:ext cx="1471612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com total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82.780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seguidores ao todo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06519" y="2371725"/>
            <a:ext cx="104626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taxa de retenção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7694" y="2495550"/>
            <a:ext cx="823912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26%</a:t>
            </a:r>
            <a:r>
              <a:rPr sz="1800" b="1" i="0" spc="-22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3844" y="2838450"/>
            <a:ext cx="1471612" cy="348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crescimento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4 pontos percentuais</a:t>
            </a:r>
            <a:r>
              <a:rPr sz="700" b="0" i="0">
                <a:solidFill>
                  <a:srgbClr val="000000"/>
                </a:solidFill>
                <a:latin typeface="Montserrat"/>
              </a:rPr>
              <a:t> em relação ao mês anterior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7896" y="3343275"/>
            <a:ext cx="115460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23633" y="3467100"/>
            <a:ext cx="783134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494</a:t>
            </a:r>
            <a:r>
              <a:rPr sz="1800" b="1" i="0" spc="-22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79394" y="3810000"/>
            <a:ext cx="1471612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46%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67067" y="3343275"/>
            <a:ext cx="132501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taxa de engajamento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7694" y="3467100"/>
            <a:ext cx="823912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22%</a:t>
            </a:r>
            <a:r>
              <a:rPr sz="1800" b="1" i="0" spc="-22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93844" y="3810000"/>
            <a:ext cx="1471612" cy="348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15 pontos percentuais</a:t>
            </a:r>
            <a:r>
              <a:rPr sz="700" b="0" i="0">
                <a:solidFill>
                  <a:srgbClr val="000000"/>
                </a:solidFill>
                <a:latin typeface="Montserrat"/>
              </a:rPr>
              <a:t> em relação ao mês anterior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29140" y="4619625"/>
            <a:ext cx="2086421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Montserrat"/>
              </a:rPr>
              <a:t>desempenho mensal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4410" y="5143500"/>
            <a:ext cx="10203180" cy="281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64"/>
              </a:lnSpc>
            </a:pPr>
            <a:r>
              <a:rPr sz="850" b="1" i="0">
                <a:solidFill>
                  <a:srgbClr val="000000"/>
                </a:solidFill>
                <a:latin typeface="Montserrat"/>
              </a:rPr>
              <a:t>Observação:</a:t>
            </a:r>
            <a:r>
              <a:rPr sz="850" b="0" i="0">
                <a:solidFill>
                  <a:srgbClr val="000000"/>
                </a:solidFill>
                <a:latin typeface="Montserrat"/>
              </a:rPr>
              <a:t> Os dados apresentados foram obtidos por meio das plataformas </a:t>
            </a:r>
            <a:r>
              <a:rPr sz="850" b="1" i="0">
                <a:solidFill>
                  <a:srgbClr val="000000"/>
                </a:solidFill>
                <a:latin typeface="Montserrat"/>
              </a:rPr>
              <a:t>Meta Business Suite</a:t>
            </a:r>
            <a:r>
              <a:rPr sz="850" b="0" i="0">
                <a:solidFill>
                  <a:srgbClr val="000000"/>
                </a:solidFill>
                <a:latin typeface="Montserrat"/>
              </a:rPr>
              <a:t> e </a:t>
            </a:r>
            <a:r>
              <a:rPr sz="850" b="1" i="0">
                <a:solidFill>
                  <a:srgbClr val="000000"/>
                </a:solidFill>
                <a:latin typeface="Montserrat"/>
              </a:rPr>
              <a:t>LinkedIn</a:t>
            </a:r>
            <a:r>
              <a:rPr sz="850" b="0" i="0">
                <a:solidFill>
                  <a:srgbClr val="000000"/>
                </a:solidFill>
                <a:latin typeface="Montserrat"/>
              </a:rPr>
              <a:t>. Novos seguidores do Instagram: crescimento líquido da base (novos seguidores menos deixaram de seguir); segundo o Meta, foram 305 novos seguidores no mês.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266" y="190500"/>
            <a:ext cx="92913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ECHOENERGIA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425678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temas - setembro|2026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59732" y="1438275"/>
            <a:ext cx="3100536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categorização de conteúdos compartilhados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85975" y="2152650"/>
            <a:ext cx="85442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Montserrat"/>
              </a:rPr>
              <a:t>INSTAGRAM: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5975" y="2414588"/>
            <a:ext cx="3551492" cy="1081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6 conteúdos Educativos;</a:t>
            </a:r>
          </a:p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6 conteúdos Institucionais;</a:t>
            </a:r>
          </a:p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5 conteúdos de Mercado Livre de Energia;</a:t>
            </a:r>
          </a:p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4 conteúdos de Timing/Sazonalidade;</a:t>
            </a:r>
          </a:p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1 conteúdo de Produto;</a:t>
            </a:r>
          </a:p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1 conteúdo de ESG.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5975" y="3681412"/>
            <a:ext cx="70380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Montserrat"/>
              </a:rPr>
              <a:t>LINKEDIN: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5975" y="3943350"/>
            <a:ext cx="3551492" cy="1081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5 conteúdos Institucionais;</a:t>
            </a:r>
          </a:p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2 conteúdos Educativos;</a:t>
            </a:r>
          </a:p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2 conteúdos de ESG;</a:t>
            </a:r>
          </a:p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1 conteúdo de Timing/Sazonalidade;</a:t>
            </a:r>
          </a:p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1 conteúdo de Mercado Livre de Energia;</a:t>
            </a:r>
          </a:p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1 newsletter.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3614" y="1628775"/>
            <a:ext cx="2740521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temas que geraram mais engajamento: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8425" y="2457450"/>
            <a:ext cx="237321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Mercado Livre de Energia - Educativo;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2700338"/>
            <a:ext cx="3669221" cy="3381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Humanização - Sazonais (Dia do Cliente em collab com o Grupo Equatorial);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3128962"/>
            <a:ext cx="3669221" cy="3381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Humanização - Colaboradores (SIPAT e media training no LinkedIn).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54307" y="190500"/>
            <a:ext cx="2509093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ECHOENERGIA E ENOVA ENERGIA SOLAR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987004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demandas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895350"/>
            <a:ext cx="2822972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50" b="0" i="0">
                <a:solidFill>
                  <a:srgbClr val="000000"/>
                </a:solidFill>
                <a:latin typeface="Montserrat"/>
              </a:rPr>
              <a:t>check list de produções mensais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5888" y="1628775"/>
            <a:ext cx="141922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produções previstas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175" y="2324100"/>
            <a:ext cx="78372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[preencher]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7534" y="1628775"/>
            <a:ext cx="1176933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produções feitas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8675" y="2228850"/>
            <a:ext cx="252799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Cobertura do CONAREC (feed e stories)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8675" y="2471738"/>
            <a:ext cx="1241524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Semana do Cliente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8675" y="2714625"/>
            <a:ext cx="248051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Série Mercado Livre de Energia (Reels)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8675" y="2957512"/>
            <a:ext cx="1302544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Cortes do Megacast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8675" y="3200400"/>
            <a:ext cx="305082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Divulgação do e-book sobre a conta de energia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8675" y="3443288"/>
            <a:ext cx="154066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[completar com o time]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78963" y="1628775"/>
            <a:ext cx="83507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pendências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9175" y="2324100"/>
            <a:ext cx="1430387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[preencher com time]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8960" y="190500"/>
            <a:ext cx="147444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ENOVA ENERGIA SOLAR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5965478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visão geral - Enova Energia Solar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8499" y="1076325"/>
            <a:ext cx="1022003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Montserrat"/>
              </a:rPr>
              <a:t>instagram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45694" y="1476375"/>
            <a:ext cx="114761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contas alcançadas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28008" y="1600200"/>
            <a:ext cx="783134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668</a:t>
            </a:r>
            <a:r>
              <a:rPr sz="1800" b="1" i="0" spc="-22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6827" y="1943100"/>
            <a:ext cx="2825496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39%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193" y="2371725"/>
            <a:ext cx="109031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novos seguidores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6027" y="2495550"/>
            <a:ext cx="692497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-33</a:t>
            </a:r>
            <a:r>
              <a:rPr sz="1800" b="1" i="0" spc="-22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6544" y="2838450"/>
            <a:ext cx="1471612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com total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20.369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seguidores ao todo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3669" y="2371725"/>
            <a:ext cx="104626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taxa de retenção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0088" y="2495550"/>
            <a:ext cx="733425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-6%</a:t>
            </a:r>
            <a:r>
              <a:rPr sz="1800" b="1" i="0" spc="-22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0994" y="2838450"/>
            <a:ext cx="1471612" cy="348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2 pontos percentuais</a:t>
            </a:r>
            <a:r>
              <a:rPr sz="700" b="0" i="0">
                <a:solidFill>
                  <a:srgbClr val="000000"/>
                </a:solidFill>
                <a:latin typeface="Montserrat"/>
              </a:rPr>
              <a:t> em relação ao mês anterior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5046" y="3343275"/>
            <a:ext cx="115460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0783" y="3467100"/>
            <a:ext cx="783134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201</a:t>
            </a:r>
            <a:r>
              <a:rPr sz="1800" b="1" i="0" spc="-22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26544" y="3810000"/>
            <a:ext cx="1471612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9%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14217" y="3343275"/>
            <a:ext cx="132501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taxa de engajamento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4844" y="3467100"/>
            <a:ext cx="823912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30%</a:t>
            </a:r>
            <a:r>
              <a:rPr sz="1800" b="1" i="0" spc="-22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40994" y="3810000"/>
            <a:ext cx="1471612" cy="348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crescimento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10 pontos percentuais</a:t>
            </a:r>
            <a:r>
              <a:rPr sz="700" b="0" i="0">
                <a:solidFill>
                  <a:srgbClr val="000000"/>
                </a:solidFill>
                <a:latin typeface="Montserrat"/>
              </a:rPr>
              <a:t> em relação ao mês anterior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76290" y="4619625"/>
            <a:ext cx="2086421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Montserrat"/>
              </a:rPr>
              <a:t>desempenho mensal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4041" y="1076325"/>
            <a:ext cx="81662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Montserrat"/>
              </a:rPr>
              <a:t>linkedin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3564" y="1476375"/>
            <a:ext cx="225757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contas alcançadas - visitantes únicos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0858" y="1600200"/>
            <a:ext cx="783134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101</a:t>
            </a:r>
            <a:r>
              <a:rPr sz="1800" b="1" i="0" spc="-22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9677" y="1943100"/>
            <a:ext cx="2825496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crescimento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58%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0043" y="2371725"/>
            <a:ext cx="109031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novos seguidores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157" y="2495550"/>
            <a:ext cx="585936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20</a:t>
            </a:r>
            <a:r>
              <a:rPr sz="1800" b="1" i="0" spc="-22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9394" y="2838450"/>
            <a:ext cx="1471612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com total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17.237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seguidores ao todo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06519" y="2371725"/>
            <a:ext cx="104626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taxa de retenção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7694" y="2495550"/>
            <a:ext cx="823912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20%</a:t>
            </a:r>
            <a:r>
              <a:rPr sz="1800" b="1" i="0" spc="-22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3844" y="2838450"/>
            <a:ext cx="1471612" cy="348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crescimento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12 pontos percentuais</a:t>
            </a:r>
            <a:r>
              <a:rPr sz="700" b="0" i="0">
                <a:solidFill>
                  <a:srgbClr val="000000"/>
                </a:solidFill>
                <a:latin typeface="Montserrat"/>
              </a:rPr>
              <a:t> em relação ao mês anterior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7896" y="3343275"/>
            <a:ext cx="115460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20830" y="3467100"/>
            <a:ext cx="388739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1</a:t>
            </a:r>
            <a:r>
              <a:rPr sz="1800" b="1" i="0" spc="-22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79394" y="3810000"/>
            <a:ext cx="1471612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nenhuma publicação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no mês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67067" y="3343275"/>
            <a:ext cx="132501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taxa de engajamento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6218" y="3467100"/>
            <a:ext cx="626864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1%</a:t>
            </a:r>
            <a:r>
              <a:rPr sz="1800" b="1" i="0" spc="-22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93844" y="3810000"/>
            <a:ext cx="1471612" cy="348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crescimento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1 ponto percentual</a:t>
            </a:r>
            <a:r>
              <a:rPr sz="700" b="0" i="0">
                <a:solidFill>
                  <a:srgbClr val="000000"/>
                </a:solidFill>
                <a:latin typeface="Montserrat"/>
              </a:rPr>
              <a:t> em relação ao mês anterior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29140" y="4619625"/>
            <a:ext cx="2086421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Montserrat"/>
              </a:rPr>
              <a:t>desempenho mensal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4410" y="5143500"/>
            <a:ext cx="10203180" cy="281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64"/>
              </a:lnSpc>
            </a:pPr>
            <a:r>
              <a:rPr sz="850" b="1" i="0">
                <a:solidFill>
                  <a:srgbClr val="000000"/>
                </a:solidFill>
                <a:latin typeface="Montserrat"/>
              </a:rPr>
              <a:t>Observação:</a:t>
            </a:r>
            <a:r>
              <a:rPr sz="850" b="0" i="0">
                <a:solidFill>
                  <a:srgbClr val="000000"/>
                </a:solidFill>
                <a:latin typeface="Montserrat"/>
              </a:rPr>
              <a:t> Dados do Meta Business Suite e do LinkedIn. Novos seguidores do Instagram: crescimento líquido da base; segundo o Meta, foram 176 novos seguidores no mês. Total de seguidores do LinkedIn estimado (17.217 + 20 novos).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8960" y="190500"/>
            <a:ext cx="147444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ENOVA ENERGIA SOLAR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5149900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aprendizados - setembro|26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4727823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diante dos dados analisados, compreendemos: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59732" y="1628775"/>
            <a:ext cx="3100536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categorização de conteúdos compartilhados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5975" y="2362200"/>
            <a:ext cx="170750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Montserrat"/>
              </a:rPr>
              <a:t>INSTAGRAM e FACEBOOK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5975" y="2624138"/>
            <a:ext cx="3551492" cy="3381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3 conteúdos de Produto;</a:t>
            </a:r>
          </a:p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1 conteúdo de ESG;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5975" y="3167062"/>
            <a:ext cx="70380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Montserrat"/>
              </a:rPr>
              <a:t>LINKEDIN: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85975" y="3429000"/>
            <a:ext cx="1678186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0 criativos compartilhados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3614" y="1819275"/>
            <a:ext cx="2740521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temas que geraram mais engajamento: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2647950"/>
            <a:ext cx="3669221" cy="3381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Produto - Energia solar por assinatura (Reels em collab com a Echo);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3076575"/>
            <a:ext cx="172491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ESG - Cidades sustentáveis.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0050" y="6096000"/>
            <a:ext cx="5621387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700" b="1" i="0" spc="17">
                <a:solidFill>
                  <a:srgbClr val="EA2548"/>
                </a:solidFill>
                <a:latin typeface="Montserrat"/>
              </a:rPr>
              <a:t>DESEMPENHO POR PLATAFORMA - INSTAGRAM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53423" y="5038725"/>
            <a:ext cx="5743277" cy="1114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200" b="1" i="0" spc="-144">
                <a:solidFill>
                  <a:srgbClr val="EA2548"/>
                </a:solidFill>
                <a:latin typeface="Montserrat"/>
              </a:rPr>
              <a:t>echoenergia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266" y="190500"/>
            <a:ext cx="92913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ECHOENERGIA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276350"/>
            <a:ext cx="64844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ALCANCE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4735" y="1495425"/>
            <a:ext cx="1475780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52.155</a:t>
            </a:r>
            <a:r>
              <a:rPr sz="2150" b="1" i="0" spc="-27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1770" y="193357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10%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2900" y="1276350"/>
            <a:ext cx="123720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VISITAS AO PERFIL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2405" y="1495425"/>
            <a:ext cx="1239292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1.308</a:t>
            </a:r>
            <a:r>
              <a:rPr sz="2150" b="1" i="0" spc="-27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1270" y="193357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crescimento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8%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276350"/>
            <a:ext cx="132680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TAXA DE RETENÇÃO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1341" y="1495425"/>
            <a:ext cx="740569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7%</a:t>
            </a:r>
            <a:r>
              <a:rPr sz="2150" b="1" i="0" spc="-27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770" y="193357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crescimento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0,5 ponto percentual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2851" y="2533650"/>
            <a:ext cx="3237548" cy="348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Novos seguidores ÷ Visitas ao perfil × 100</a:t>
            </a:r>
          </a:p>
          <a:p>
            <a:pPr algn="ctr">
              <a:lnSpc>
                <a:spcPts val="961"/>
              </a:lnSpc>
            </a:pPr>
            <a:r>
              <a:rPr sz="700" b="1" i="0">
                <a:solidFill>
                  <a:srgbClr val="000000"/>
                </a:solidFill>
                <a:latin typeface="Montserrat"/>
              </a:rPr>
              <a:t>Indica a capacidade e eficiência do perfil em converter visitantes em seguidores efetivos.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2895600"/>
            <a:ext cx="85933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INTERAÇÕES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2905" y="3114675"/>
            <a:ext cx="1239292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1.976</a:t>
            </a:r>
            <a:r>
              <a:rPr sz="2150" b="1" i="0" spc="-27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770" y="355282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22%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2900" y="2895600"/>
            <a:ext cx="138127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NOVOS SEGUIDORES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6248" y="3114675"/>
            <a:ext cx="691604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91</a:t>
            </a:r>
            <a:r>
              <a:rPr sz="2150" b="1" i="0" spc="-27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1270" y="355282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com total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16.116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seguidores ao todo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segundo o Meta: 305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086100"/>
            <a:ext cx="156105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NÚMERO DE CRIATIVOS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2703" y="3305175"/>
            <a:ext cx="1797844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400" b="0" i="0" spc="-24">
                <a:solidFill>
                  <a:srgbClr val="000000"/>
                </a:solidFill>
                <a:latin typeface="Montserrat"/>
              </a:rPr>
              <a:t>23 criativos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770" y="370522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1" i="0">
                <a:solidFill>
                  <a:srgbClr val="000000"/>
                </a:solidFill>
                <a:latin typeface="Montserrat"/>
              </a:rPr>
              <a:t>+2 criativos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6819" y="44481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62175" y="4857750"/>
            <a:ext cx="8103833" cy="7096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Setembro manteve a Echo em um patamar de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alcance menor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, com recuo de 10% em relação a agosto. Mesmo assim, o perfil atraiu mais gente: as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visitas cresceram 8%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, o saldo de seguidores passou de 79 para 91 e a taxa de retenção subiu. As interações recuaram 22%, acompanhando a menor distribuição, e os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cliques no link cresceram 85%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(1.798), sinal de um público mais disposto a avançar para a 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266" y="190500"/>
            <a:ext cx="92913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ECHOENERGIA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2114104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demonstrativo 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4475" y="1362075"/>
            <a:ext cx="59620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EA2548"/>
                </a:solidFill>
                <a:latin typeface="Montserrat"/>
              </a:rPr>
              <a:t>M.A: -10%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4997" y="3152775"/>
            <a:ext cx="109150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alcance mensal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24725" y="1162050"/>
            <a:ext cx="47625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300" b="1" i="0">
                <a:solidFill>
                  <a:srgbClr val="5BA346"/>
                </a:solidFill>
                <a:latin typeface="Montserrat"/>
              </a:rPr>
              <a:t>16.116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62502" y="1352550"/>
            <a:ext cx="1000696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19"/>
              </a:lnSpc>
            </a:pPr>
            <a:r>
              <a:rPr sz="600" b="0" i="0">
                <a:solidFill>
                  <a:srgbClr val="000000"/>
                </a:solidFill>
                <a:latin typeface="Montserrat"/>
              </a:rPr>
              <a:t>seguidores ao todo</a:t>
            </a:r>
          </a:p>
          <a:p>
            <a:pPr algn="ctr">
              <a:lnSpc>
                <a:spcPts val="719"/>
              </a:lnSpc>
            </a:pPr>
            <a:r>
              <a:rPr sz="600" b="0" i="0">
                <a:solidFill>
                  <a:srgbClr val="000000"/>
                </a:solidFill>
                <a:latin typeface="Montserrat"/>
              </a:rPr>
              <a:t>segundo o Meta: 305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2448" y="3152775"/>
            <a:ext cx="1777603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seguidores e crescimento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4475" y="3571875"/>
            <a:ext cx="61034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EA2548"/>
                </a:solidFill>
                <a:latin typeface="Montserrat"/>
              </a:rPr>
              <a:t>M.A: -22%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46473" y="5381625"/>
            <a:ext cx="1288554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total de interações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8414" y="3505200"/>
            <a:ext cx="238274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000000"/>
                </a:solidFill>
                <a:latin typeface="Montserrat"/>
              </a:rPr>
              <a:t>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7546" y="5381625"/>
            <a:ext cx="1167259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taxa de retenção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5772150"/>
            <a:ext cx="241027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Montserrat"/>
              </a:rPr>
              <a:t>A.A: ANO ANTERIOR; | M.A: MÊS ANTERIOR;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5419" y="9429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9625" y="1333500"/>
            <a:ext cx="3512402" cy="3400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Em setembro, a Echo registrou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redução de 10% no alcance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, com 52.155 contas alcançadas, mantendo o patamar mais baixo do ano observado desde agosto. O alcance patrocinado recuou 13% (43.750 contas) e o orgânico 9% (7.928), mantendo-se como o segundo maior patamar orgânico do ano.</a:t>
            </a:r>
          </a:p>
          <a:p>
            <a:pPr algn="just">
              <a:lnSpc>
                <a:spcPts val="1350"/>
              </a:lnSpc>
            </a:pPr>
          </a:p>
          <a:p>
            <a:pPr algn="just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As interações caíram 22%, em proporção semelhante à distribuição: a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taxa de engajamento se manteve próxima de 4%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, indicando que os conteúdos seguem relevantes para quem é impactado. O maior volume de interações veio da collab com o Grupo Equatorial no Dia do Cliente e dos conteúdos sobre Mercado Livre de Energia.</a:t>
            </a:r>
          </a:p>
          <a:p>
            <a:pPr algn="just">
              <a:lnSpc>
                <a:spcPts val="1350"/>
              </a:lnSpc>
            </a:pPr>
          </a:p>
          <a:p>
            <a:pPr algn="just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Em contrapartida, o perfil converteu melhor: as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visitas cresceram 8%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, o saldo de seguidores passou de 79 para 91 e a taxa de retenção subiu para 7%. Os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cliques no link cresceram 85%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, chegando a 1.798. Setembro mostra uma audiência menor, porém mais interessada. O desafio segue sendo recuperar a escala de distribuição.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266" y="190500"/>
            <a:ext cx="92913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ECHOENERGIA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5107930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detalhamento do alcance anual e taxa de retenção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46424" y="1476375"/>
            <a:ext cx="5009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orgânico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5030" y="1476375"/>
            <a:ext cx="46404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anúncio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7723" y="3686175"/>
            <a:ext cx="2158603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alcance orgânico x patrocinado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0073" y="4086225"/>
            <a:ext cx="3549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visitas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2679" y="4086225"/>
            <a:ext cx="94922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novos seguidores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9554" y="4086225"/>
            <a:ext cx="102587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taxa de retenção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7305" y="6259116"/>
            <a:ext cx="3139440" cy="2851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1"/>
              </a:lnSpc>
            </a:pPr>
            <a:r>
              <a:rPr sz="1000" b="0" i="0">
                <a:solidFill>
                  <a:srgbClr val="FFFFFF"/>
                </a:solidFill>
                <a:latin typeface="Montserrat"/>
              </a:rPr>
              <a:t>taxa de retenção</a:t>
            </a:r>
          </a:p>
          <a:p>
            <a:pPr algn="ctr">
              <a:lnSpc>
                <a:spcPts val="1121"/>
              </a:lnSpc>
            </a:pPr>
            <a:r>
              <a:rPr sz="700" b="0" i="0">
                <a:solidFill>
                  <a:srgbClr val="FFFFFF"/>
                </a:solidFill>
                <a:latin typeface="Montserrat"/>
              </a:rPr>
              <a:t>(relação entre visitas ao perfil x novos seguidores mensais)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9069" y="15144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4125" y="2000250"/>
            <a:ext cx="5376291" cy="7096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Alcance: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o alcance total recuou 10%, para 52.155 contas. O alcance patrocinado caiu 13%, de 50.285 para 43.750 contas, e o orgânico recuou 9%, de 8.737 para 7.928, mantendo-se como o segundo maior resultado orgânico do ano, atrás apenas de agosto. A collab com o Grupo Equatorial, sozinha, alcançou 5.693 contas.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4125" y="2819400"/>
            <a:ext cx="5376291" cy="7096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Taxa de retenção: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a taxa subiu para 7%, acompanhando o crescimento de 8% nas visitas ao perfil e o saldo de 91 novos seguidores. O perfil converteu melhor a audiência que chegou até ele, mas o patamar segue distante do primeiro semestre, quando chegou a 30% em junho.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2675" y="5709047"/>
            <a:ext cx="5552884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61"/>
              </a:lnSpc>
            </a:pPr>
            <a:r>
              <a:rPr sz="700" b="0" i="0">
                <a:solidFill>
                  <a:srgbClr val="595959"/>
                </a:solidFill>
                <a:latin typeface="Montserrat"/>
              </a:rPr>
              <a:t>Valores conforme o detalhamento do Meta Business Suite. A soma das partes (51.678) difere levemente do total (52.155) por critérios de contagem da própria plataforma.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266" y="190500"/>
            <a:ext cx="92913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ECHOENERGIA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3899892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detalhamento por editorias e formatos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4796" y="1476375"/>
            <a:ext cx="110400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produto/informativo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6453" y="1476375"/>
            <a:ext cx="197212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institucional (parceria ou autoridade)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6225" y="1476375"/>
            <a:ext cx="55527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educativo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9152" y="1476375"/>
            <a:ext cx="1106239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timing/sazonalidade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3042" y="1476375"/>
            <a:ext cx="1344513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mercado livre de energia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4300" y="1743075"/>
            <a:ext cx="25375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ESG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6552" y="3686175"/>
            <a:ext cx="165794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distribuição por editoria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6410" y="4143375"/>
            <a:ext cx="28470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reels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8768" y="4143375"/>
            <a:ext cx="44931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estático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5730" y="4143375"/>
            <a:ext cx="50021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carrossel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4051" y="6162675"/>
            <a:ext cx="1682948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distribuição por formato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6438900"/>
            <a:ext cx="648697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Montserrat"/>
              </a:rPr>
              <a:t>Setembro: 13 Reels, 9 carrosséis e 1 estático (23 criativos). Os Reels concentraram 67% das interações dos posts (929 de 1.385).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266" y="190500"/>
            <a:ext cx="92913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ECHOENERGIA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5799832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criativos mais relevantes - feed -</a:t>
            </a:r>
            <a:r>
              <a:rPr sz="1600" b="0" i="0">
                <a:solidFill>
                  <a:srgbClr val="000000"/>
                </a:solidFill>
                <a:latin typeface="Montserrat"/>
              </a:rPr>
              <a:t> </a:t>
            </a:r>
            <a:r>
              <a:rPr sz="1600" b="0" i="0">
                <a:solidFill>
                  <a:srgbClr val="000000"/>
                </a:solidFill>
                <a:latin typeface="Montserrat"/>
              </a:rPr>
              <a:t>com base nas interações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9361" y="1228725"/>
            <a:ext cx="8527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0991" y="1171575"/>
            <a:ext cx="265509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15/09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548" y="3086100"/>
            <a:ext cx="1186904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1" i="0">
                <a:solidFill>
                  <a:srgbClr val="EA2548"/>
                </a:solidFill>
                <a:latin typeface="Montserrat"/>
              </a:rPr>
              <a:t>CARROSSEL EM COLLAB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232" y="3324225"/>
            <a:ext cx="148753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taxa de engajamento: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100" y="3581400"/>
            <a:ext cx="627428" cy="207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</a:pPr>
            <a:r>
              <a:rPr sz="70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" y="3787080"/>
            <a:ext cx="22175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504" y="3581400"/>
            <a:ext cx="36790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alcance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504" y="3684240"/>
            <a:ext cx="289768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5.693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8531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8531" y="3684240"/>
            <a:ext cx="550015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750" b="1" i="0">
                <a:solidFill>
                  <a:srgbClr val="EA2548"/>
                </a:solidFill>
                <a:latin typeface="Montserrat"/>
              </a:rPr>
              <a:t>carrossel em collab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2490" y="4048125"/>
            <a:ext cx="499021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EA2548"/>
                </a:solidFill>
                <a:latin typeface="Montserrat"/>
              </a:rPr>
              <a:t>ver post 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9610" y="1228725"/>
            <a:ext cx="1102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4988" y="1171575"/>
            <a:ext cx="284262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25/09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1932" y="3324225"/>
            <a:ext cx="152563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taxa de engajamento: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12%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1850" y="3581400"/>
            <a:ext cx="627428" cy="207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</a:pPr>
            <a:r>
              <a:rPr sz="70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1850" y="3787080"/>
            <a:ext cx="189756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159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76254" y="3581400"/>
            <a:ext cx="36790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alcance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6254" y="3684240"/>
            <a:ext cx="265509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1.357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1281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1281" y="3684240"/>
            <a:ext cx="27220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reels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5240" y="4048125"/>
            <a:ext cx="499021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EA2548"/>
                </a:solidFill>
                <a:latin typeface="Montserrat"/>
              </a:rPr>
              <a:t>ver post 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12360" y="1228725"/>
            <a:ext cx="1102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1190" y="1171575"/>
            <a:ext cx="290810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30/09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5724" y="3324225"/>
            <a:ext cx="152355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taxa de engajamento: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13%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4600" y="3581400"/>
            <a:ext cx="627428" cy="207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</a:pPr>
            <a:r>
              <a:rPr sz="70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4600" y="3787080"/>
            <a:ext cx="194816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154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9004" y="3581400"/>
            <a:ext cx="36790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alcance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9004" y="3684240"/>
            <a:ext cx="247799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1.162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4031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4031" y="3684240"/>
            <a:ext cx="27220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reels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17990" y="4048125"/>
            <a:ext cx="499021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EA2548"/>
                </a:solidFill>
                <a:latin typeface="Montserrat"/>
              </a:rPr>
              <a:t>ver post 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59157" y="1228725"/>
            <a:ext cx="12218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2246" y="1171575"/>
            <a:ext cx="272504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10/09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62083" y="3086100"/>
            <a:ext cx="916484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1" i="0">
                <a:solidFill>
                  <a:srgbClr val="EA2548"/>
                </a:solidFill>
                <a:latin typeface="Montserrat"/>
              </a:rPr>
              <a:t>REELS EM COLLAB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78566" y="3324225"/>
            <a:ext cx="148351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taxa de engajamento: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77350" y="3581400"/>
            <a:ext cx="627428" cy="207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</a:pPr>
            <a:r>
              <a:rPr sz="70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77350" y="3787080"/>
            <a:ext cx="162371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88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81754" y="3581400"/>
            <a:ext cx="36790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alcance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81754" y="3684240"/>
            <a:ext cx="27384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1.305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76781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76781" y="3684240"/>
            <a:ext cx="550015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750" b="1" i="0">
                <a:solidFill>
                  <a:srgbClr val="EA2548"/>
                </a:solidFill>
                <a:latin typeface="Montserrat"/>
              </a:rPr>
              <a:t>reels em collab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0740" y="4048125"/>
            <a:ext cx="499021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EA2548"/>
                </a:solidFill>
                <a:latin typeface="Montserrat"/>
              </a:rPr>
              <a:t>ver post 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6819" y="43719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1025" y="4781550"/>
            <a:ext cx="11360848" cy="5238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Os destaques de setembro reforçam a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força das collabs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: o carrossel de Dia do Cliente em parceria com o Grupo Equatorial foi o conteúdo de maior alcance e interações do mês, com 125 comentários, e o Reels em collab com a Enova sobre energia solar por assinatura teve 20 compartilhamentos e 12 salvamentos. Entre os conteúdos próprios, o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Mercado Livre de Energia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lidera: os dois Reels sobre o tema somaram 313 interações, com taxas de engajamento de 12% e 13%, e foram protagonizados por colaboradoras.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266" y="190500"/>
            <a:ext cx="92913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ECHOENERGIA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6417469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desempenho dos criativos - podcast -</a:t>
            </a:r>
            <a:r>
              <a:rPr sz="1600" b="0" i="0">
                <a:solidFill>
                  <a:srgbClr val="000000"/>
                </a:solidFill>
                <a:latin typeface="Montserrat"/>
              </a:rPr>
              <a:t> </a:t>
            </a:r>
            <a:r>
              <a:rPr sz="1600" b="0" i="0">
                <a:solidFill>
                  <a:srgbClr val="000000"/>
                </a:solidFill>
                <a:latin typeface="Montserrat"/>
              </a:rPr>
              <a:t>por ordem de publicação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8450" y="723900"/>
            <a:ext cx="1126034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ontserrat"/>
              </a:rPr>
              <a:t>análises pontuais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48486" y="1228725"/>
            <a:ext cx="8527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7572" y="3086100"/>
            <a:ext cx="907256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1" i="0">
                <a:solidFill>
                  <a:srgbClr val="EA2548"/>
                </a:solidFill>
                <a:latin typeface="Montserrat"/>
              </a:rPr>
              <a:t>CORTE MEGACAST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8696" y="3324225"/>
            <a:ext cx="148500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taxa de engajamento: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8225" y="3581400"/>
            <a:ext cx="627428" cy="207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</a:pPr>
            <a:r>
              <a:rPr sz="70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8225" y="3787080"/>
            <a:ext cx="153591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59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52629" y="3581400"/>
            <a:ext cx="36790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alcance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2629" y="3684240"/>
            <a:ext cx="215652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685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7656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7656" y="3684240"/>
            <a:ext cx="27220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reels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41615" y="4048125"/>
            <a:ext cx="499021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EA2548"/>
                </a:solidFill>
                <a:latin typeface="Montserrat"/>
              </a:rPr>
              <a:t>ver post 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4475" y="4343400"/>
            <a:ext cx="143991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1" i="0" spc="18">
                <a:solidFill>
                  <a:srgbClr val="FFFFFF"/>
                </a:solidFill>
                <a:latin typeface="Montserrat"/>
              </a:rPr>
              <a:t>PUBLICADO EM: 16/09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1642" y="4657725"/>
            <a:ext cx="138871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pontos de atenção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00275" y="5067300"/>
            <a:ext cx="8025347" cy="5238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O corte do Megacast sobre atendimento personalizado, publicado na Semana do Cliente, alcançou taxa de engajamento de 9%, acima dos cortes de julho e agosto (4% e 5%). O resultado reforça que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a escolha do tema e o gancho com datas relevantes determinam a performance dos cortes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266" y="190500"/>
            <a:ext cx="92913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ECHOENERGIA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4115991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stories mais relevantes -</a:t>
            </a:r>
            <a:r>
              <a:rPr sz="1600" b="0" i="0">
                <a:solidFill>
                  <a:srgbClr val="000000"/>
                </a:solidFill>
                <a:latin typeface="Montserrat"/>
              </a:rPr>
              <a:t> </a:t>
            </a:r>
            <a:r>
              <a:rPr sz="1600" b="0" i="0">
                <a:solidFill>
                  <a:srgbClr val="000000"/>
                </a:solidFill>
                <a:latin typeface="Montserrat"/>
              </a:rPr>
              <a:t>por visualização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286" y="1228725"/>
            <a:ext cx="8527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7497" y="4505325"/>
            <a:ext cx="119300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ontserrat"/>
              </a:rPr>
              <a:t>1,1 mil</a:t>
            </a:r>
            <a:r>
              <a:rPr sz="950" b="0" i="0">
                <a:solidFill>
                  <a:srgbClr val="FFFFFF"/>
                </a:solidFill>
                <a:latin typeface="Montserrat"/>
              </a:rPr>
              <a:t> visualizações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6893" y="4791075"/>
            <a:ext cx="181406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Montserrat"/>
              </a:rPr>
              <a:t>PUBLICADO 23 DE SETEMBRO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5785" y="1228725"/>
            <a:ext cx="1102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0279" y="4505325"/>
            <a:ext cx="106129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ontserrat"/>
              </a:rPr>
              <a:t>472</a:t>
            </a:r>
            <a:r>
              <a:rPr sz="950" b="0" i="0">
                <a:solidFill>
                  <a:srgbClr val="FFFFFF"/>
                </a:solidFill>
                <a:latin typeface="Montserrat"/>
              </a:rPr>
              <a:t> visualizações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83893" y="4791075"/>
            <a:ext cx="181406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Montserrat"/>
              </a:rPr>
              <a:t>PUBLICADO 23 DE SETEMBRO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2785" y="1228725"/>
            <a:ext cx="1102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9929" y="4505325"/>
            <a:ext cx="103599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ontserrat"/>
              </a:rPr>
              <a:t>318</a:t>
            </a:r>
            <a:r>
              <a:rPr sz="950" b="0" i="0">
                <a:solidFill>
                  <a:srgbClr val="FFFFFF"/>
                </a:solidFill>
                <a:latin typeface="Montserrat"/>
              </a:rPr>
              <a:t> visualizações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79616" y="4791075"/>
            <a:ext cx="175661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Montserrat"/>
              </a:rPr>
              <a:t>PUBLICADO 8 DE SETEMBRO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97889" y="1190625"/>
            <a:ext cx="68297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2525" y="1638300"/>
            <a:ext cx="3021711" cy="228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A participação no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CONAREC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concentrou a atenção do mês: o story da gerente de Experiência do Cliente no palco teve 1,1 mil visualizações, o maior resultado do canal, seguido pelo registro do evento (472). Os stories somaram 5,2 mil visualizações (+4%) e 1,3 mil contas alcançadas (-18%) em 14 publicações. Conteúdos técnicos, como a explicação sobre a variação da conta de energia, tiveram menor atração. O resultado reforça que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eventos e bastidores captam mais atenção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, e que o canal pode ser explorado como espaço de diálogo, com enquetes e caixas de perguntas.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14477" y="5172075"/>
            <a:ext cx="7782223" cy="971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300" b="1" i="0" spc="-126">
                <a:solidFill>
                  <a:srgbClr val="EA2548"/>
                </a:solidFill>
                <a:latin typeface="Montserrat"/>
              </a:rPr>
              <a:t>enova energia solar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8960" y="190500"/>
            <a:ext cx="147444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ENOVA ENERGIA SOLAR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276350"/>
            <a:ext cx="64844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ALCANCE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8430" y="1495425"/>
            <a:ext cx="928241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668</a:t>
            </a:r>
            <a:r>
              <a:rPr sz="2150" b="1" i="0" spc="-27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1770" y="193357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39%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2900" y="1276350"/>
            <a:ext cx="123720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VISITAS AO PERFIL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07930" y="1495425"/>
            <a:ext cx="928241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543</a:t>
            </a:r>
            <a:r>
              <a:rPr sz="2150" b="1" i="0" spc="-27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1270" y="193357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12%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276350"/>
            <a:ext cx="132680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TAXA DE RETENÇÃO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7345" y="1495425"/>
            <a:ext cx="868561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-6%</a:t>
            </a:r>
            <a:r>
              <a:rPr sz="2150" b="1" i="0" spc="-27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770" y="193357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2 pontos percentuais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2851" y="2533650"/>
            <a:ext cx="3237548" cy="348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Novos seguidores ÷ Visitas ao perfil × 100</a:t>
            </a:r>
          </a:p>
          <a:p>
            <a:pPr algn="ctr">
              <a:lnSpc>
                <a:spcPts val="961"/>
              </a:lnSpc>
            </a:pPr>
            <a:r>
              <a:rPr sz="700" b="1" i="0">
                <a:solidFill>
                  <a:srgbClr val="000000"/>
                </a:solidFill>
                <a:latin typeface="Montserrat"/>
              </a:rPr>
              <a:t>Indica a capacidade e eficiência do perfil em converter visitantes em seguidores efetivos.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2895600"/>
            <a:ext cx="85933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INTERAÇÕES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8430" y="3114675"/>
            <a:ext cx="928241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201</a:t>
            </a:r>
            <a:r>
              <a:rPr sz="2150" b="1" i="0" spc="-27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770" y="355282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9%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2900" y="2895600"/>
            <a:ext cx="138127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NOVOS SEGUIDORES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2401" y="3114675"/>
            <a:ext cx="819448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-33</a:t>
            </a:r>
            <a:r>
              <a:rPr sz="2150" b="1" i="0" spc="-27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1270" y="355282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com total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20.369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seguidores ao todo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segundo o Meta: 176 novos seguidores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086100"/>
            <a:ext cx="156105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NÚMERO DE CRIATIVOS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7776" y="3305175"/>
            <a:ext cx="1587550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400" b="0" i="0" spc="-24">
                <a:solidFill>
                  <a:srgbClr val="000000"/>
                </a:solidFill>
                <a:latin typeface="Montserrat"/>
              </a:rPr>
              <a:t>4 criativos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770" y="370522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1" i="0">
                <a:solidFill>
                  <a:srgbClr val="000000"/>
                </a:solidFill>
                <a:latin typeface="Montserrat"/>
              </a:rPr>
              <a:t>-3 criativos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6819" y="44481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62175" y="4857750"/>
            <a:ext cx="8103680" cy="7096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Setembro foi um mês de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menor produção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para a Enova, com 4 publicações no feed, e o alcance acompanhou essa redução (-39%). As interações, porém, praticamente se mantiveram (-9%), elevando a taxa de engajamento para 30%: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quem foi impactado engajou mais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. A marca atraiu 176 novos seguidores, mas fechou o mês com saldo de -33, sinal de que a base ainda não está sendo retida.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8960" y="190500"/>
            <a:ext cx="147444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ENOVA ENERGIA SOLAR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2114104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demonstrativo 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4475" y="1362075"/>
            <a:ext cx="61451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EA2548"/>
                </a:solidFill>
                <a:latin typeface="Montserrat"/>
              </a:rPr>
              <a:t>M.A: -39%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4997" y="3152775"/>
            <a:ext cx="109150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alcance mensal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8914" y="1162050"/>
            <a:ext cx="587722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300" b="1" i="0">
                <a:solidFill>
                  <a:srgbClr val="5BA346"/>
                </a:solidFill>
                <a:latin typeface="Montserrat"/>
              </a:rPr>
              <a:t>20.369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62502" y="1352550"/>
            <a:ext cx="1000696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19"/>
              </a:lnSpc>
            </a:pPr>
            <a:r>
              <a:rPr sz="600" b="0" i="0">
                <a:solidFill>
                  <a:srgbClr val="000000"/>
                </a:solidFill>
                <a:latin typeface="Montserrat"/>
              </a:rPr>
              <a:t>seguidores ao todo</a:t>
            </a:r>
          </a:p>
          <a:p>
            <a:pPr algn="ctr">
              <a:lnSpc>
                <a:spcPts val="719"/>
              </a:lnSpc>
            </a:pPr>
            <a:r>
              <a:rPr sz="600" b="0" i="0">
                <a:solidFill>
                  <a:srgbClr val="000000"/>
                </a:solidFill>
                <a:latin typeface="Montserrat"/>
              </a:rPr>
              <a:t>segundo o Meta: 176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2448" y="3152775"/>
            <a:ext cx="1777603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seguidores e crescimento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4475" y="3571875"/>
            <a:ext cx="54902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EA2548"/>
                </a:solidFill>
                <a:latin typeface="Montserrat"/>
              </a:rPr>
              <a:t>M.A: -9%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46473" y="5381625"/>
            <a:ext cx="1288554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total de interações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2964" y="3505200"/>
            <a:ext cx="28932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000000"/>
                </a:solidFill>
                <a:latin typeface="Montserrat"/>
              </a:rPr>
              <a:t>-6%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7546" y="5381625"/>
            <a:ext cx="1167259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taxa de retenção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5772150"/>
            <a:ext cx="241027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Montserrat"/>
              </a:rPr>
              <a:t>A.A: ANO ANTERIOR; | M.A: MÊS ANTERIOR;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5419" y="9429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9625" y="1333500"/>
            <a:ext cx="3512248" cy="3228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Em setembro, a Enova registrou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redução de 39% no alcance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, com 668 contas alcançadas, o menor resultado do ano. O movimento acompanha a queda na produção: foram 4 publicações no feed e 2 stories, contra 7 criativos em agosto.</a:t>
            </a:r>
          </a:p>
          <a:p>
            <a:pPr algn="just">
              <a:lnSpc>
                <a:spcPts val="1350"/>
              </a:lnSpc>
            </a:pPr>
          </a:p>
          <a:p>
            <a:pPr algn="just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As interações recuaram apenas 9% (201), queda bem menor que a do alcance. A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taxa de engajamento subiu para 30%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, indicando que os conteúdos publicados, especialmente o Reels em collab com a Echo sobre energia solar por assinatura, geraram envolvimento com quem foi impactado.</a:t>
            </a:r>
          </a:p>
          <a:p>
            <a:pPr algn="just">
              <a:lnSpc>
                <a:spcPts val="1350"/>
              </a:lnSpc>
            </a:pPr>
          </a:p>
          <a:p>
            <a:pPr algn="just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A marca atraiu 176 novos seguidores segundo o Meta, mas fechou o mês com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saldo de -33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 e taxa de retenção de -6%. O resultado reforça um aprendizado já observado ao longo do ano: sem frequência de publicação e sem conteúdos humanizados, a Enova não consegue transformar o interesse pontual em crescimento da comunidade.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8960" y="190500"/>
            <a:ext cx="147444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ENOVA ENERGIA SOLAR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5107930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detalhamento do alcance anual e taxa de retenção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46424" y="1476375"/>
            <a:ext cx="5009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orgânico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5030" y="1476375"/>
            <a:ext cx="46404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anúncio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7723" y="3686175"/>
            <a:ext cx="2158603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alcance orgânico x patrocinado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0073" y="4086225"/>
            <a:ext cx="3549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visitas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2679" y="4086225"/>
            <a:ext cx="94922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novos seguidores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9554" y="4086225"/>
            <a:ext cx="102587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taxa de retenção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7305" y="6259116"/>
            <a:ext cx="3139440" cy="2851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1"/>
              </a:lnSpc>
            </a:pPr>
            <a:r>
              <a:rPr sz="1000" b="0" i="0">
                <a:solidFill>
                  <a:srgbClr val="FFFFFF"/>
                </a:solidFill>
                <a:latin typeface="Montserrat"/>
              </a:rPr>
              <a:t>taxa de retenção</a:t>
            </a:r>
          </a:p>
          <a:p>
            <a:pPr algn="ctr">
              <a:lnSpc>
                <a:spcPts val="1121"/>
              </a:lnSpc>
            </a:pPr>
            <a:r>
              <a:rPr sz="700" b="0" i="0">
                <a:solidFill>
                  <a:srgbClr val="FFFFFF"/>
                </a:solidFill>
                <a:latin typeface="Montserrat"/>
              </a:rPr>
              <a:t>(relação entre visitas ao perfil x novos seguidores mensais)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9069" y="15144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4125" y="2000250"/>
            <a:ext cx="5376291" cy="7096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Alcance: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o alcance recuou 39%, para 668 contas, o menor patamar do ano. A distribuição foi praticamente toda orgânica: 664 contas alcançadas sem mídia (-39% em relação às 1.095 de agosto) e apenas 4 por anúncios. Sem investimento, o alcance da Enova depende diretamente da frequência de publicação e das collabs.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4125" y="2819400"/>
            <a:ext cx="5376291" cy="5238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Taxa de retenção: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a taxa ficou em -6%, com 543 visitas ao perfil (-12%) e saldo de -33 seguidores. Apesar dos 176 novos seguidores registrados pelo Meta, a perda de seguidores no período manteve o indicador negativo.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2675" y="5831086"/>
            <a:ext cx="3186559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595959"/>
                </a:solidFill>
                <a:latin typeface="Montserrat"/>
              </a:rPr>
              <a:t>Valores conforme o detalhamento do alcance no Meta Business Suite.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8960" y="190500"/>
            <a:ext cx="147444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ENOVA ENERGIA SOLAR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3899892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detalhamento por editorias e formatos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4657" y="1476375"/>
            <a:ext cx="46330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produto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5609" y="1476375"/>
            <a:ext cx="1106239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timing/sazonalidade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9499" y="1476375"/>
            <a:ext cx="55527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educativo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32427" y="1476375"/>
            <a:ext cx="68401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institucional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4091" y="1476375"/>
            <a:ext cx="25375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ESG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552" y="3686175"/>
            <a:ext cx="165794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distribuição por editoria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6410" y="4143375"/>
            <a:ext cx="28470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reels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8768" y="4143375"/>
            <a:ext cx="44931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estático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5730" y="4143375"/>
            <a:ext cx="50021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carrossel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4051" y="6162675"/>
            <a:ext cx="1682948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distribuição por formato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8960" y="190500"/>
            <a:ext cx="147444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ENOVA ENERGIA SOLAR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5799832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criativos mais relevantes - feed -</a:t>
            </a:r>
            <a:r>
              <a:rPr sz="1600" b="0" i="0">
                <a:solidFill>
                  <a:srgbClr val="000000"/>
                </a:solidFill>
                <a:latin typeface="Montserrat"/>
              </a:rPr>
              <a:t> </a:t>
            </a:r>
            <a:r>
              <a:rPr sz="1600" b="0" i="0">
                <a:solidFill>
                  <a:srgbClr val="000000"/>
                </a:solidFill>
                <a:latin typeface="Montserrat"/>
              </a:rPr>
              <a:t>com base nas interações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9361" y="1228725"/>
            <a:ext cx="8527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03996" y="1171575"/>
            <a:ext cx="272504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10/09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3833" y="3086100"/>
            <a:ext cx="916484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1" i="0">
                <a:solidFill>
                  <a:srgbClr val="EA2548"/>
                </a:solidFill>
                <a:latin typeface="Montserrat"/>
              </a:rPr>
              <a:t>REELS EM COLLAB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316" y="3324225"/>
            <a:ext cx="148351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taxa de engajamento: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100" y="3581400"/>
            <a:ext cx="627428" cy="207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</a:pPr>
            <a:r>
              <a:rPr sz="70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" y="3787080"/>
            <a:ext cx="162371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504" y="3581400"/>
            <a:ext cx="36790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alcance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504" y="3684240"/>
            <a:ext cx="27384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1.305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8531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8531" y="3684240"/>
            <a:ext cx="550015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750" b="1" i="0">
                <a:solidFill>
                  <a:srgbClr val="EA2548"/>
                </a:solidFill>
                <a:latin typeface="Montserrat"/>
              </a:rPr>
              <a:t>reels em collab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9610" y="1228725"/>
            <a:ext cx="1102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2195" y="1171575"/>
            <a:ext cx="247055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11/09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89015" y="3324225"/>
            <a:ext cx="105147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visualizações: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495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1850" y="3581400"/>
            <a:ext cx="627428" cy="207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</a:pPr>
            <a:r>
              <a:rPr sz="70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1850" y="3787080"/>
            <a:ext cx="134243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76254" y="3581400"/>
            <a:ext cx="593080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visualizações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76254" y="3684240"/>
            <a:ext cx="217736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495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1281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1281" y="3684240"/>
            <a:ext cx="476250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carrossel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2360" y="1228725"/>
            <a:ext cx="1102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8660" y="1171575"/>
            <a:ext cx="293340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24/09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0518" y="3324225"/>
            <a:ext cx="101411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visualizações: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751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4600" y="3581400"/>
            <a:ext cx="627428" cy="207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</a:pPr>
            <a:r>
              <a:rPr sz="70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4600" y="3787080"/>
            <a:ext cx="12992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9004" y="3581400"/>
            <a:ext cx="593080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visualizações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9004" y="3684240"/>
            <a:ext cx="186333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751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4031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4031" y="3684240"/>
            <a:ext cx="476250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carrossel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59157" y="1228725"/>
            <a:ext cx="12218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329" y="1171575"/>
            <a:ext cx="270421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16/09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03445" y="3324225"/>
            <a:ext cx="103376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visualizações: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352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77350" y="3581400"/>
            <a:ext cx="627428" cy="207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</a:pPr>
            <a:r>
              <a:rPr sz="70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77350" y="3787080"/>
            <a:ext cx="97929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81754" y="3581400"/>
            <a:ext cx="593080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visualizações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81754" y="3684240"/>
            <a:ext cx="203299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352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76781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76781" y="3684240"/>
            <a:ext cx="476250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carrossel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26819" y="43719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025" y="4781550"/>
            <a:ext cx="11360848" cy="5238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O destaque de setembro foi o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Reels em collab com a Echo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explicando como funciona a energia solar por assinatura: 2 mil visualizações, 20 compartilhamentos e 12 salvamentos, muito acima dos demais conteúdos do mês. Os carrosséis de produto, sobre assinatura e condomínios, tiveram alcance limitado. O resultado reforça que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collabs e formatos em vídeo ampliam a distribuição da Enova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, enquanto os carrosséis isolados não alcançaram novos públicos.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8960" y="190500"/>
            <a:ext cx="147444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ENOVA ENERGIA SOLAR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4115991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stories mais relevantes -</a:t>
            </a:r>
            <a:r>
              <a:rPr sz="1600" b="0" i="0">
                <a:solidFill>
                  <a:srgbClr val="000000"/>
                </a:solidFill>
                <a:latin typeface="Montserrat"/>
              </a:rPr>
              <a:t> </a:t>
            </a:r>
            <a:r>
              <a:rPr sz="1600" b="0" i="0">
                <a:solidFill>
                  <a:srgbClr val="000000"/>
                </a:solidFill>
                <a:latin typeface="Montserrat"/>
              </a:rPr>
              <a:t>por visualização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286" y="1228725"/>
            <a:ext cx="8527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334" y="4505325"/>
            <a:ext cx="103733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ontserrat"/>
              </a:rPr>
              <a:t>178</a:t>
            </a:r>
            <a:r>
              <a:rPr sz="950" b="0" i="0">
                <a:solidFill>
                  <a:srgbClr val="FFFFFF"/>
                </a:solidFill>
                <a:latin typeface="Montserrat"/>
              </a:rPr>
              <a:t> visualizações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143" y="4791075"/>
            <a:ext cx="180156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Montserrat"/>
              </a:rPr>
              <a:t>PUBLICADO 10 DE SETEMBRO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5785" y="1228725"/>
            <a:ext cx="1102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9003" y="4505325"/>
            <a:ext cx="100384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ontserrat"/>
              </a:rPr>
              <a:t>121</a:t>
            </a:r>
            <a:r>
              <a:rPr sz="950" b="0" i="0">
                <a:solidFill>
                  <a:srgbClr val="FFFFFF"/>
                </a:solidFill>
                <a:latin typeface="Montserrat"/>
              </a:rPr>
              <a:t> visualizações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9428" y="4791075"/>
            <a:ext cx="182299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Montserrat"/>
              </a:rPr>
              <a:t>PUBLICADO 24 DE SETEMBRO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279" y="3024188"/>
            <a:ext cx="106129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EA2548"/>
                </a:solidFill>
                <a:latin typeface="Montserrat"/>
              </a:rPr>
              <a:t>apenas 2 stories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6763" y="3233738"/>
            <a:ext cx="122247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Montserrat"/>
              </a:rPr>
              <a:t>no mês de setembro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97889" y="1190625"/>
            <a:ext cx="68297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2525" y="1638300"/>
            <a:ext cx="3021711" cy="17502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Os stories de setembro foram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reposts dos conteúdos de produto do feed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, com destaque para a explicação de como funciona a energia solar por assinatura (178 visualizações). Com apenas 2 stories no mês, o canal somou 1,4 mil visualizações (-35%) e 273 contas alcançadas (-45%). Os Stories seguem como oportunidade para a Enova se aproximar da audiência, com bastidores das usinas, perguntas sobre a assinatura e interação direta.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0050" y="6096000"/>
            <a:ext cx="5161211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700" b="1" i="0" spc="17">
                <a:solidFill>
                  <a:srgbClr val="EA2548"/>
                </a:solidFill>
                <a:latin typeface="Montserrat"/>
              </a:rPr>
              <a:t>DESEMPENHO POR PLATAFORMA - </a:t>
            </a:r>
            <a:r>
              <a:rPr sz="1700" b="1" i="0" spc="17">
                <a:solidFill>
                  <a:srgbClr val="EA2548"/>
                </a:solidFill>
                <a:latin typeface="Montserrat"/>
              </a:rPr>
              <a:t>linkedin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266" y="190500"/>
            <a:ext cx="92913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ECHOENERGIA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514475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linkedin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276350"/>
            <a:ext cx="16764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ALCANCE </a:t>
            </a:r>
            <a:r>
              <a:rPr sz="700" b="1" i="0" spc="18">
                <a:solidFill>
                  <a:srgbClr val="FFFFFF"/>
                </a:solidFill>
                <a:latin typeface="Montserrat"/>
              </a:rPr>
              <a:t>(VISITANTES ÚNICOS)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2905" y="1495425"/>
            <a:ext cx="1239292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2.202</a:t>
            </a:r>
            <a:r>
              <a:rPr sz="2150" b="1" i="0" spc="-27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1770" y="193357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10%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2900" y="1276350"/>
            <a:ext cx="123720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VISITAS AO PERFIL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2405" y="1495425"/>
            <a:ext cx="1239292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2.202</a:t>
            </a:r>
            <a:r>
              <a:rPr sz="2150" b="1" i="0" spc="-27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1270" y="193357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10%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276350"/>
            <a:ext cx="132680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TAXA DE RETENÇÃO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3022" y="1495425"/>
            <a:ext cx="977205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26%</a:t>
            </a:r>
            <a:r>
              <a:rPr sz="2150" b="1" i="0" spc="-27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770" y="193357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crescimento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4 pontos percentuais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2851" y="2533650"/>
            <a:ext cx="3237548" cy="348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Novos seguidores ÷ Visitas ao perfil × 100</a:t>
            </a:r>
          </a:p>
          <a:p>
            <a:pPr algn="ctr">
              <a:lnSpc>
                <a:spcPts val="961"/>
              </a:lnSpc>
            </a:pPr>
            <a:r>
              <a:rPr sz="700" b="1" i="0">
                <a:solidFill>
                  <a:srgbClr val="000000"/>
                </a:solidFill>
                <a:latin typeface="Montserrat"/>
              </a:rPr>
              <a:t>Indica a capacidade e eficiência do perfil em converter visitantes em seguidores efetivos.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2895600"/>
            <a:ext cx="85933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INTERAÇÕES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8430" y="3114675"/>
            <a:ext cx="928241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494</a:t>
            </a:r>
            <a:r>
              <a:rPr sz="2150" b="1" i="0" spc="-27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770" y="355282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46%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2900" y="2895600"/>
            <a:ext cx="138127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NOVOS SEGUIDORES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7930" y="3114675"/>
            <a:ext cx="928241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567</a:t>
            </a:r>
            <a:r>
              <a:rPr sz="2150" b="1" i="0" spc="-27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3362" y="3552825"/>
            <a:ext cx="211737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Montserrat"/>
              </a:rPr>
              <a:t>com total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82.780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seguidores ao todo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086100"/>
            <a:ext cx="156105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NÚMERO DE CRIATIVOS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2703" y="3305175"/>
            <a:ext cx="1797844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400" b="0" i="0" spc="-24">
                <a:solidFill>
                  <a:srgbClr val="000000"/>
                </a:solidFill>
                <a:latin typeface="Montserrat"/>
              </a:rPr>
              <a:t>12 criativos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770" y="370522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1" i="0">
                <a:solidFill>
                  <a:srgbClr val="000000"/>
                </a:solidFill>
                <a:latin typeface="Montserrat"/>
              </a:rPr>
              <a:t>-1 criativo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6819" y="44481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62175" y="4857750"/>
            <a:ext cx="8103680" cy="7096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Setembro teve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menos visitantes (-10%) e menos interações (-46%)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no LinkedIn da Echo, após o recorde de agosto. Em compensação, a página converteu melhor: os novos seguidores cresceram 7% (567) e a taxa de retenção subiu para 26%. Os conteúdos de maior engajamento foram os que mostram pessoas e bastidores, como a SIPAT e o media training com executivos.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266" y="190500"/>
            <a:ext cx="92913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ECHOENERGIA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514475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linkedin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2114104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demonstrativo 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4475" y="1362075"/>
            <a:ext cx="59620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EA2548"/>
                </a:solidFill>
                <a:latin typeface="Montserrat"/>
              </a:rPr>
              <a:t>M.A: -10%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549" y="3152775"/>
            <a:ext cx="179040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visitantes únicos | alcance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4598" y="1162050"/>
            <a:ext cx="596503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300" b="1" i="0">
                <a:solidFill>
                  <a:srgbClr val="5BA346"/>
                </a:solidFill>
                <a:latin typeface="Montserrat"/>
              </a:rPr>
              <a:t>82.780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9320" y="1352550"/>
            <a:ext cx="766911" cy="952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Montserrat"/>
              </a:rPr>
              <a:t>seguidores ao todo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2448" y="3152775"/>
            <a:ext cx="1777603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seguidores e crescimento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4475" y="3571875"/>
            <a:ext cx="62597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EA2548"/>
                </a:solidFill>
                <a:latin typeface="Montserrat"/>
              </a:rPr>
              <a:t>M.A: -46%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46473" y="5381625"/>
            <a:ext cx="1288554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total de interações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9570" y="3505200"/>
            <a:ext cx="316111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000000"/>
                </a:solidFill>
                <a:latin typeface="Montserrat"/>
              </a:rPr>
              <a:t>26%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7546" y="5381625"/>
            <a:ext cx="1167259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taxa de retenção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5772150"/>
            <a:ext cx="241027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Montserrat"/>
              </a:rPr>
              <a:t>A.A: ANO ANTERIOR; | M.A: MÊS ANTERIOR;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5419" y="9429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9625" y="1333500"/>
            <a:ext cx="3512248" cy="35718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Em setembro, o LinkedIn da Echo registrou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redução de 10% nos visitantes únicos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 (2.202) e de 46% nas interações (494), após o maior volume do ano em agosto. O mês concentrou conteúdos institucionais e de eventos (SudoExpo, CONAREC, Rio Grande do Sul), que geraram menos reações que as editorias próprias para a plataforma.</a:t>
            </a:r>
          </a:p>
          <a:p>
            <a:pPr algn="just">
              <a:lnSpc>
                <a:spcPts val="1350"/>
              </a:lnSpc>
            </a:pPr>
          </a:p>
          <a:p>
            <a:pPr algn="just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Por outro lado, a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aquisição de seguidores voltou a crescer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: foram 567 novos seguidores (+7%), interrompendo a desaceleração observada desde fevereiro, e a taxa de retenção subiu para 26%. O post de Mercado Livre de Energia teve poucas reações, mas foi o de maior taxa de cliques (742 cliques em 797 impressões), sinal de interesse real no tema.</a:t>
            </a:r>
          </a:p>
          <a:p>
            <a:pPr algn="just">
              <a:lnSpc>
                <a:spcPts val="1350"/>
              </a:lnSpc>
            </a:pPr>
          </a:p>
          <a:p>
            <a:pPr algn="just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O comportamento de setembro reforça o aprendizado do mês anterior: conteúdos que mostram pessoas e bastidores (SIPAT, media training, mutirão de sustentabilidade) e temas de negócio aderentes à plataforma sustentam o engajamento, enquanto agendas institucionais isoladas geram menor interação.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266" y="190500"/>
            <a:ext cx="92913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ECHOENERGIA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514475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linkedin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3899892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detalhamento por editorias e formatos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1759" y="3686175"/>
            <a:ext cx="2167384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distribuição por editoria · set|26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0489" y="4143375"/>
            <a:ext cx="32310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vídeo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01245" y="4143375"/>
            <a:ext cx="44931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estático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8207" y="4143375"/>
            <a:ext cx="38085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álbum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6709" y="4143375"/>
            <a:ext cx="122530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informativo/newsletter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64051" y="6162675"/>
            <a:ext cx="1682948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distribuição por formato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6438900"/>
            <a:ext cx="633501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Montserrat"/>
              </a:rPr>
              <a:t>Setembro: 2 vídeos, 9 posts de imagem e 1 newsletter. A exportação do LinkedIn não diferencia imagem única de álbum.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266" y="190500"/>
            <a:ext cx="92913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ECHOENERGIA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514475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linkedin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39283" y="1476375"/>
            <a:ext cx="43353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VISITAS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0469" y="1476375"/>
            <a:ext cx="94922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novos seguidores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7345" y="1476375"/>
            <a:ext cx="102587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taxa de retenção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1821" y="5248275"/>
            <a:ext cx="1167259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taxa de retenção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3123" y="5800725"/>
            <a:ext cx="4885754" cy="2762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8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relação entre visitas ao perfil x novos seguidores mensais.</a:t>
            </a:r>
          </a:p>
          <a:p>
            <a:pPr algn="ctr">
              <a:lnSpc>
                <a:spcPts val="1080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Indica a capacidade e eficiência do perfil em converter visitantes em seguidores efetivos.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266" y="190500"/>
            <a:ext cx="92913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ECHOENERGIA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514475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linkedin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5799832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criativos mais relevantes - feed -</a:t>
            </a:r>
            <a:r>
              <a:rPr sz="1600" b="0" i="0">
                <a:solidFill>
                  <a:srgbClr val="000000"/>
                </a:solidFill>
                <a:latin typeface="Montserrat"/>
              </a:rPr>
              <a:t> </a:t>
            </a:r>
            <a:r>
              <a:rPr sz="1600" b="0" i="0">
                <a:solidFill>
                  <a:srgbClr val="000000"/>
                </a:solidFill>
                <a:latin typeface="Montserrat"/>
              </a:rPr>
              <a:t>com base nas interações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9361" y="1228725"/>
            <a:ext cx="8527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83160" y="1171575"/>
            <a:ext cx="293340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24/09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697" y="3324225"/>
            <a:ext cx="147875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taxa de engajamento: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3581400"/>
            <a:ext cx="627428" cy="207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</a:pPr>
            <a:r>
              <a:rPr sz="70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100" y="3787080"/>
            <a:ext cx="152400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504" y="3581400"/>
            <a:ext cx="526405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impressões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504" y="3684240"/>
            <a:ext cx="299145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2.878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8531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8531" y="3684240"/>
            <a:ext cx="449610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imagem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2490" y="4048125"/>
            <a:ext cx="499021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EA2548"/>
                </a:solidFill>
                <a:latin typeface="Montserrat"/>
              </a:rPr>
              <a:t>ver post 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9610" y="1228725"/>
            <a:ext cx="1102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2195" y="1171575"/>
            <a:ext cx="247055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11/09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4405" y="3324225"/>
            <a:ext cx="148084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taxa de engajamento: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1850" y="3581400"/>
            <a:ext cx="627428" cy="207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</a:pPr>
            <a:r>
              <a:rPr sz="70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1850" y="3787080"/>
            <a:ext cx="153293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62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76254" y="3581400"/>
            <a:ext cx="526405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impressões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76254" y="3684240"/>
            <a:ext cx="275779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3.610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1281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1281" y="3684240"/>
            <a:ext cx="449610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imagem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5240" y="4048125"/>
            <a:ext cx="499021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EA2548"/>
                </a:solidFill>
                <a:latin typeface="Montserrat"/>
              </a:rPr>
              <a:t>ver post 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12360" y="1228725"/>
            <a:ext cx="1102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6548" y="1171575"/>
            <a:ext cx="285452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22/09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8197" y="3324225"/>
            <a:ext cx="147875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taxa de engajamento: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4600" y="3581400"/>
            <a:ext cx="627428" cy="207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</a:pPr>
            <a:r>
              <a:rPr sz="70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4600" y="3787080"/>
            <a:ext cx="155972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58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9004" y="3581400"/>
            <a:ext cx="526405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impressões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9004" y="3684240"/>
            <a:ext cx="276820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1.902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4031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4031" y="3684240"/>
            <a:ext cx="30688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vídeo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17990" y="4048125"/>
            <a:ext cx="499021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EA2548"/>
                </a:solidFill>
                <a:latin typeface="Montserrat"/>
              </a:rPr>
              <a:t>ver post 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59157" y="1228725"/>
            <a:ext cx="12218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2692" y="1171575"/>
            <a:ext cx="272058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18/09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79905" y="3324225"/>
            <a:ext cx="148084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taxa de engajamento: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77350" y="3581400"/>
            <a:ext cx="627428" cy="207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</a:pPr>
            <a:r>
              <a:rPr sz="70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77350" y="3787080"/>
            <a:ext cx="153591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56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81754" y="3581400"/>
            <a:ext cx="526405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impressões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81754" y="3684240"/>
            <a:ext cx="27503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2.817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76781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76781" y="3684240"/>
            <a:ext cx="449610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imagem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70740" y="4048125"/>
            <a:ext cx="499021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EA2548"/>
                </a:solidFill>
                <a:latin typeface="Montserrat"/>
              </a:rPr>
              <a:t>ver post 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6819" y="43719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025" y="4781550"/>
            <a:ext cx="11360848" cy="5238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Os conteúdos com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colaboradores em evidência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lideraram o LinkedIn em setembro: a SIPAT teve 93 interações e 1.577 cliques, e o media training com executivos alcançou o maior número de impressões do mês (3.610). Ações de impacto social, como o Fórum de Jaracaty e o Mutirão de Sustentabilidade, também estiveram entre os destaques, reforçando o potencial de pautas ESG com pessoas reais na plataforma.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5750" y="6096000"/>
            <a:ext cx="256267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Montserrat"/>
              </a:rPr>
              <a:t>Taxa de engajamento = interações ÷ impressões.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266" y="190500"/>
            <a:ext cx="92913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ECHOENERGIA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514475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linkedin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3972818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newsletter - performance e indicadores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4825" y="4943475"/>
            <a:ext cx="1734741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Montserrat"/>
              </a:rPr>
              <a:t>Publicado em:</a:t>
            </a:r>
            <a:r>
              <a:rPr sz="1300" b="0" i="0">
                <a:solidFill>
                  <a:srgbClr val="000000"/>
                </a:solidFill>
                <a:latin typeface="Montserrat"/>
              </a:rPr>
              <a:t> 25/09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3775" y="2019300"/>
            <a:ext cx="1962150" cy="24645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1" i="0">
                <a:solidFill>
                  <a:srgbClr val="000000"/>
                </a:solidFill>
                <a:latin typeface="Montserrat"/>
              </a:rPr>
              <a:t>1 edição em setembro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(agosto: 2 edições)</a:t>
            </a:r>
          </a:p>
          <a:p>
            <a:pPr algn="l">
              <a:lnSpc>
                <a:spcPts val="1406"/>
              </a:lnSpc>
            </a:pPr>
          </a:p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“O que está em movimento na Echoenergia?”</a:t>
            </a:r>
          </a:p>
          <a:p>
            <a:pPr algn="l">
              <a:lnSpc>
                <a:spcPts val="1406"/>
              </a:lnSpc>
            </a:pPr>
          </a:p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1.042 impressões</a:t>
            </a:r>
          </a:p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319 visualizações</a:t>
            </a:r>
          </a:p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19 interações</a:t>
            </a:r>
          </a:p>
          <a:p>
            <a:pPr algn="l">
              <a:lnSpc>
                <a:spcPts val="1406"/>
              </a:lnSpc>
            </a:pPr>
          </a:p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O pico diário de visualizações do mês (cerca de 250) aconteceu no dia da publicação.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7817" y="5819775"/>
            <a:ext cx="848767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publicações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26461" y="1276350"/>
            <a:ext cx="1025128" cy="4667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000" b="0" i="0" spc="-30">
                <a:solidFill>
                  <a:srgbClr val="000000"/>
                </a:solidFill>
                <a:latin typeface="Montserrat"/>
              </a:rPr>
              <a:t>813</a:t>
            </a:r>
            <a:r>
              <a:rPr sz="2400" b="1" i="0" spc="-30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4548" y="1704975"/>
            <a:ext cx="1148953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000000"/>
                </a:solidFill>
                <a:latin typeface="Montserrat"/>
              </a:rPr>
              <a:t>VISUALIZAÇÕES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5607" y="1876425"/>
            <a:ext cx="230668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Montserrat"/>
              </a:rPr>
              <a:t>redução de 91% em relação ao mês anterior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5076" y="1276350"/>
            <a:ext cx="1435298" cy="4667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000" b="0" i="0" spc="-30">
                <a:solidFill>
                  <a:srgbClr val="000000"/>
                </a:solidFill>
                <a:latin typeface="Montserrat"/>
              </a:rPr>
              <a:t>28.928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13888" y="1704975"/>
            <a:ext cx="917674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000000"/>
                </a:solidFill>
                <a:latin typeface="Montserrat"/>
              </a:rPr>
              <a:t>ASSINANTES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04648" y="1876425"/>
            <a:ext cx="113615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4F9A3A"/>
                </a:solidFill>
                <a:latin typeface="Montserrat"/>
              </a:rPr>
              <a:t>238 novos assinantes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3671" y="2095500"/>
            <a:ext cx="1370707" cy="4667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000" b="0" i="0" spc="-30">
                <a:solidFill>
                  <a:srgbClr val="000000"/>
                </a:solidFill>
                <a:latin typeface="Montserrat"/>
              </a:rPr>
              <a:t>1.555</a:t>
            </a:r>
            <a:r>
              <a:rPr sz="2400" b="1" i="0" spc="-30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240" y="2524125"/>
            <a:ext cx="94357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000000"/>
                </a:solidFill>
                <a:latin typeface="Montserrat"/>
              </a:rPr>
              <a:t>IMPRESSÕES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1617" y="2695575"/>
            <a:ext cx="233466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Montserrat"/>
              </a:rPr>
              <a:t>redução de 68% em relação ao mês anterior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91576" y="2095500"/>
            <a:ext cx="762149" cy="4667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000" b="0" i="0" spc="-30">
                <a:solidFill>
                  <a:srgbClr val="000000"/>
                </a:solidFill>
                <a:latin typeface="Montserrat"/>
              </a:rPr>
              <a:t>22</a:t>
            </a:r>
            <a:r>
              <a:rPr sz="2400" b="1" i="0" spc="-30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0452" y="2524125"/>
            <a:ext cx="1124396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000000"/>
                </a:solidFill>
                <a:latin typeface="Montserrat"/>
              </a:rPr>
              <a:t>ENGAJAMENTO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7401" y="2695575"/>
            <a:ext cx="233050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Montserrat"/>
              </a:rPr>
              <a:t>redução de 78% em relação ao mês anterior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6414" y="2962275"/>
            <a:ext cx="91797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2621" y="4495800"/>
            <a:ext cx="79280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visualizações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88562" y="4495800"/>
            <a:ext cx="140642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número de publicações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9725" y="5810250"/>
            <a:ext cx="69859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impressões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81605" y="5810250"/>
            <a:ext cx="82034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engajamento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9521" y="6105525"/>
            <a:ext cx="2151608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demonstrativo de performance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266" y="190500"/>
            <a:ext cx="92913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ECHOENERGIA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514475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linkedin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4428381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análises sobre o desempenho da newsletter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8120" y="1438275"/>
            <a:ext cx="141476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temas para priorizar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175" y="2000250"/>
            <a:ext cx="117752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Futuro da energia;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" y="2243138"/>
            <a:ext cx="1952476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Mercado livre + oportunidades;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" y="2486025"/>
            <a:ext cx="3178683" cy="3381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Inovação aplicada (IA, Digital Twins, Projeto Nebula);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" y="2914650"/>
            <a:ext cx="175825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Impactos para as empresas.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9966" y="4010025"/>
            <a:ext cx="1871067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temas para segundo plano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175" y="4572000"/>
            <a:ext cx="263797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Edições apenas com agenda institucional;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175" y="4814888"/>
            <a:ext cx="298326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Notícias sem consequência prática para o leitor.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4862" y="1819275"/>
            <a:ext cx="2022277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transformando em conteúdo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1975" y="2400300"/>
            <a:ext cx="3551492" cy="1081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Manter a lógica que performa melhor ao longo do ano, respondendo em cada edição:</a:t>
            </a:r>
          </a:p>
          <a:p>
            <a:pPr algn="l">
              <a:lnSpc>
                <a:spcPts val="1462"/>
              </a:lnSpc>
            </a:pPr>
          </a:p>
          <a:p>
            <a:pPr algn="l">
              <a:lnSpc>
                <a:spcPts val="1462"/>
              </a:lnSpc>
            </a:pPr>
            <a:r>
              <a:rPr sz="1000" b="1" i="0">
                <a:solidFill>
                  <a:srgbClr val="000000"/>
                </a:solidFill>
                <a:latin typeface="Montserrat"/>
              </a:rPr>
              <a:t>O que está mudando?</a:t>
            </a:r>
          </a:p>
          <a:p>
            <a:pPr algn="l">
              <a:lnSpc>
                <a:spcPts val="1462"/>
              </a:lnSpc>
            </a:pPr>
            <a:r>
              <a:rPr sz="1000" b="1" i="0">
                <a:solidFill>
                  <a:srgbClr val="000000"/>
                </a:solidFill>
                <a:latin typeface="Montserrat"/>
              </a:rPr>
              <a:t>Por que isso importa?</a:t>
            </a:r>
          </a:p>
          <a:p>
            <a:pPr algn="l">
              <a:lnSpc>
                <a:spcPts val="1462"/>
              </a:lnSpc>
            </a:pPr>
            <a:r>
              <a:rPr sz="1000" b="1" i="0">
                <a:solidFill>
                  <a:srgbClr val="000000"/>
                </a:solidFill>
                <a:latin typeface="Montserrat"/>
              </a:rPr>
              <a:t>O que isso representa para as empresas?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3268" y="1438275"/>
            <a:ext cx="1706463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aprendizado estratégico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725" y="2019300"/>
            <a:ext cx="3355276" cy="1081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Com apenas uma edição em setembro, visualizações, impressões e engajamento caíram. A base de assinantes continuou crescendo (+238), o que indica que a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frequência de publicação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é o principal fator para sustentar o alcance da newsletter.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9167" y="3819525"/>
            <a:ext cx="1134666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direcionamento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725" y="4400550"/>
            <a:ext cx="3355276" cy="7096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Retomar a cadência de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duas edições por mês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e testar o formato de guia visual, conectando os temas do setor a oportunidades práticas para os negócios.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266" y="190500"/>
            <a:ext cx="92913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ECHOENERGIA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514475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linkedin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3307259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newsletter - perfil dos assinantes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63739" y="1323975"/>
            <a:ext cx="158933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predominância · São Paulo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1666875"/>
            <a:ext cx="113332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Montserrat"/>
              </a:rPr>
              <a:t>São Paulo e Região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94709" y="1666875"/>
            <a:ext cx="29646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26%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1895475"/>
            <a:ext cx="137621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Montserrat"/>
              </a:rPr>
              <a:t>Rio de Janeiro e Região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74630" y="1895475"/>
            <a:ext cx="21654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5" y="2124075"/>
            <a:ext cx="109314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Montserrat"/>
              </a:rPr>
              <a:t>Fortaleza e Região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4630" y="2124075"/>
            <a:ext cx="21654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325" y="2352675"/>
            <a:ext cx="103599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Montserrat"/>
              </a:rPr>
              <a:t>São Luís e Região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4630" y="2352675"/>
            <a:ext cx="21654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325" y="2581275"/>
            <a:ext cx="86960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Montserrat"/>
              </a:rPr>
              <a:t>Natal e Região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4630" y="2581275"/>
            <a:ext cx="21654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19908" y="3438525"/>
            <a:ext cx="2065734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geolocalização dos assinantes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2715" y="1323975"/>
            <a:ext cx="259586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predominância · Petróleo e gás / Renováveis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825" y="1666875"/>
            <a:ext cx="198700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Montserrat"/>
              </a:rPr>
              <a:t>Extração de petróleo e gás natural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80130" y="1666875"/>
            <a:ext cx="21654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825" y="1895475"/>
            <a:ext cx="292759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Montserrat"/>
              </a:rPr>
              <a:t>Fabricação de equipamentos de energia renovável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80130" y="1895475"/>
            <a:ext cx="21654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0825" y="2124075"/>
            <a:ext cx="69383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Montserrat"/>
              </a:rPr>
              <a:t>Construção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80130" y="2124075"/>
            <a:ext cx="21654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0825" y="2352675"/>
            <a:ext cx="137368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Montserrat"/>
              </a:rPr>
              <a:t>Serviços de engenharia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80130" y="2352675"/>
            <a:ext cx="21654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0825" y="2581275"/>
            <a:ext cx="251102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Montserrat"/>
              </a:rPr>
              <a:t>Serviços de eletricidade, gás, água e esgoto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0130" y="2581275"/>
            <a:ext cx="21654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1839" y="3438525"/>
            <a:ext cx="1552873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setores dos assinantes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09417" y="3800475"/>
            <a:ext cx="164365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predominância · Eletricistas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5325" y="4143375"/>
            <a:ext cx="59814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Montserrat"/>
              </a:rPr>
              <a:t>Eletricista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74630" y="4143375"/>
            <a:ext cx="21654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325" y="4371975"/>
            <a:ext cx="141714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Montserrat"/>
              </a:rPr>
              <a:t>Técnico de manutenção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74630" y="4371975"/>
            <a:ext cx="21654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5325" y="4600575"/>
            <a:ext cx="79935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Montserrat"/>
              </a:rPr>
              <a:t>Safety Officer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74630" y="4600575"/>
            <a:ext cx="21654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5325" y="4829175"/>
            <a:ext cx="116547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Montserrat"/>
              </a:rPr>
              <a:t>Engenheiro elétrico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74630" y="4829175"/>
            <a:ext cx="21654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5325" y="5057775"/>
            <a:ext cx="109433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Montserrat"/>
              </a:rPr>
              <a:t>Analista financeiro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74630" y="5057775"/>
            <a:ext cx="21654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93752" y="5915025"/>
            <a:ext cx="1517898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cargos dos assinantes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53562" y="3800475"/>
            <a:ext cx="200501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predominância · Grupo Equatorial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00825" y="4143375"/>
            <a:ext cx="101545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Montserrat"/>
              </a:rPr>
              <a:t>Grupo Equatorial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80130" y="4143375"/>
            <a:ext cx="21654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0825" y="4371975"/>
            <a:ext cx="70797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Montserrat"/>
              </a:rPr>
              <a:t>Neoenergia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80130" y="4371975"/>
            <a:ext cx="21654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1%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00825" y="4600575"/>
            <a:ext cx="76229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Montserrat"/>
              </a:rPr>
              <a:t>Echoenergia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80130" y="4600575"/>
            <a:ext cx="21654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1%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00825" y="4829175"/>
            <a:ext cx="40377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Montserrat"/>
              </a:rPr>
              <a:t>Vestas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80130" y="4829175"/>
            <a:ext cx="21654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1%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00825" y="5057775"/>
            <a:ext cx="77911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Montserrat"/>
              </a:rPr>
              <a:t>AXIA Energia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80130" y="5057775"/>
            <a:ext cx="21654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Montserrat"/>
              </a:rPr>
              <a:t>1%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86836" y="5915025"/>
            <a:ext cx="2542729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instituições/empresas dos assinantes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14477" y="5172075"/>
            <a:ext cx="7782223" cy="971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300" b="1" i="0" spc="-126">
                <a:solidFill>
                  <a:srgbClr val="EA2548"/>
                </a:solidFill>
                <a:latin typeface="Montserrat"/>
              </a:rPr>
              <a:t>enova energia solar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8960" y="190500"/>
            <a:ext cx="147444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ENOVA ENERGIA SOLAR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514475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linkedin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276350"/>
            <a:ext cx="16764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ALCANCE </a:t>
            </a:r>
            <a:r>
              <a:rPr sz="700" b="1" i="0" spc="18">
                <a:solidFill>
                  <a:srgbClr val="FFFFFF"/>
                </a:solidFill>
                <a:latin typeface="Montserrat"/>
              </a:rPr>
              <a:t>(VISITANTES ÚNICOS)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8430" y="1495425"/>
            <a:ext cx="928241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101</a:t>
            </a:r>
            <a:r>
              <a:rPr sz="2150" b="1" i="0" spc="-27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1770" y="193357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crescimento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58%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2900" y="1276350"/>
            <a:ext cx="123720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VISITAS AO PERFIL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07930" y="1495425"/>
            <a:ext cx="928241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101</a:t>
            </a:r>
            <a:r>
              <a:rPr sz="2150" b="1" i="0" spc="-27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1270" y="193357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crescimento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58%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466850"/>
            <a:ext cx="132680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TAXA DE RETENÇÃO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3022" y="1685925"/>
            <a:ext cx="977205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20%</a:t>
            </a:r>
            <a:r>
              <a:rPr sz="2150" b="1" i="0" spc="-27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770" y="212407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crescimento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12 pontos percentuais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2895600"/>
            <a:ext cx="85933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INTERAÇÕES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25067" y="3114675"/>
            <a:ext cx="454968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1</a:t>
            </a:r>
            <a:r>
              <a:rPr sz="2150" b="1" i="0" spc="-27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3687" y="3552825"/>
            <a:ext cx="157787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Montserrat"/>
              </a:rPr>
              <a:t>nenhuma publicação no mês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2900" y="2895600"/>
            <a:ext cx="138127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NOVOS SEGUIDORES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6248" y="3114675"/>
            <a:ext cx="691604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20</a:t>
            </a:r>
            <a:r>
              <a:rPr sz="2150" b="1" i="0" spc="-27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388" y="3552825"/>
            <a:ext cx="2073473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Montserrat"/>
              </a:rPr>
              <a:t>com total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17.237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seguidores ao todo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2851" y="2762250"/>
            <a:ext cx="3237548" cy="348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Novos seguidores ÷ Visitas ao perfil × 100</a:t>
            </a:r>
          </a:p>
          <a:p>
            <a:pPr algn="ctr">
              <a:lnSpc>
                <a:spcPts val="961"/>
              </a:lnSpc>
            </a:pPr>
            <a:r>
              <a:rPr sz="700" b="1" i="0">
                <a:solidFill>
                  <a:srgbClr val="000000"/>
                </a:solidFill>
                <a:latin typeface="Montserrat"/>
              </a:rPr>
              <a:t>Indica a capacidade e eficiência do perfil em converter visitantes em seguidores efetivos.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6819" y="44481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62175" y="4857750"/>
            <a:ext cx="8103833" cy="5238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Mesmo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sem publicações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, o LinkedIn da Enova teve crescimento de 58% nos visitantes e quadruplicou os novos seguidores (de 5 para 20). O canal segue atuando como vitrine institucional da marca, com público concentrado em São Luís e forte interesse pela página de vagas, que recebeu metade dos visitantes do mês.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8960" y="190500"/>
            <a:ext cx="147444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ENOVA ENERGIA SOLAR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514475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linkedin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2114104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demonstrativo 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4475" y="1362075"/>
            <a:ext cx="64293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5BA346"/>
                </a:solidFill>
                <a:latin typeface="Montserrat"/>
              </a:rPr>
              <a:t>M.A: +58%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549" y="3152775"/>
            <a:ext cx="179040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visitantes únicos | alcance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98531" y="1162050"/>
            <a:ext cx="528638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300" b="1" i="0">
                <a:solidFill>
                  <a:srgbClr val="5BA346"/>
                </a:solidFill>
                <a:latin typeface="Montserrat"/>
              </a:rPr>
              <a:t>17.237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9320" y="1352550"/>
            <a:ext cx="766911" cy="952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Montserrat"/>
              </a:rPr>
              <a:t>seguidores ao todo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2448" y="3152775"/>
            <a:ext cx="1777603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seguidores e crescimento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6473" y="5381625"/>
            <a:ext cx="1288554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total de interações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5402" y="3505200"/>
            <a:ext cx="324296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000000"/>
                </a:solidFill>
                <a:latin typeface="Montserrat"/>
              </a:rP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7546" y="5381625"/>
            <a:ext cx="1167259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taxa de retenção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3500" y="5772150"/>
            <a:ext cx="241027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Montserrat"/>
              </a:rPr>
              <a:t>A.A: ANO ANTERIOR; | M.A: MÊS ANTERIOR;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5419" y="9429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9625" y="1333500"/>
            <a:ext cx="3512248" cy="2543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No LinkedIn, a Enova mantém seu papel de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vitrine institucional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. Mesmo sem publicações, setembro reverteu a desaceleração de agosto: os visitantes cresceram 58% (101) e os novos seguidores passaram de 5 para 20.</a:t>
            </a:r>
          </a:p>
          <a:p>
            <a:pPr algn="just">
              <a:lnSpc>
                <a:spcPts val="1350"/>
              </a:lnSpc>
            </a:pPr>
          </a:p>
          <a:p>
            <a:pPr algn="just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A taxa de retenção subiu para 20%, voltando ao patamar de julho. Metade dos visitantes passou pela página de vagas, e 55% das visualizações vieram de São Luís, o que reforça a função do canal como ponto de consulta e validação para quem busca conhecer a empresa.</a:t>
            </a:r>
          </a:p>
          <a:p>
            <a:pPr algn="just">
              <a:lnSpc>
                <a:spcPts val="1350"/>
              </a:lnSpc>
            </a:pPr>
          </a:p>
          <a:p>
            <a:pPr algn="just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Ainda assim, a ausência de conteúdos próprios limita o potencial de relacionamento: o canal recebe interesse, mas não oferece conteúdo para transformar esse fluxo em comunidade.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8960" y="190500"/>
            <a:ext cx="147444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ENOVA ENERGIA SOLAR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514475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linkedin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39283" y="1476375"/>
            <a:ext cx="43353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VISITAS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0469" y="1476375"/>
            <a:ext cx="94922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novos seguidores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7345" y="1476375"/>
            <a:ext cx="102587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taxa de retenção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1821" y="5248275"/>
            <a:ext cx="1167259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taxa de retenção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3123" y="5800725"/>
            <a:ext cx="4885754" cy="2762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8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relação entre visitas ao perfil x novos seguidores mensais.</a:t>
            </a:r>
          </a:p>
          <a:p>
            <a:pPr algn="ctr">
              <a:lnSpc>
                <a:spcPts val="1080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Indica a capacidade e eficiência do perfil em converter visitantes em seguidores efetivos.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0050" y="6096000"/>
            <a:ext cx="2729657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700" b="1" i="0" spc="17">
                <a:solidFill>
                  <a:srgbClr val="EA2548"/>
                </a:solidFill>
                <a:latin typeface="Montserrat"/>
              </a:rPr>
              <a:t>TÁ ROLANDO NA REDE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54307" y="190500"/>
            <a:ext cx="2509093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ECHOENERGIA E ENOVA ENERGIA SOLAR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3755975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tá rolando nas redes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5477768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exemplos de menções sobre a marca nas redes sociais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750" y="1333500"/>
            <a:ext cx="1531144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  <a:latin typeface="Montserrat"/>
              </a:rPr>
              <a:t>rede social: </a:t>
            </a:r>
            <a:r>
              <a:rPr sz="1050" b="0" i="0">
                <a:solidFill>
                  <a:srgbClr val="000000"/>
                </a:solidFill>
                <a:latin typeface="Montserrat"/>
              </a:rPr>
              <a:t>Instagram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150" y="1771650"/>
            <a:ext cx="449803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EA2548"/>
                </a:solidFill>
                <a:latin typeface="Montserrat"/>
              </a:rPr>
              <a:t>Echoenergia</a:t>
            </a:r>
            <a:r>
              <a:rPr sz="950" b="0" i="0">
                <a:solidFill>
                  <a:srgbClr val="333333"/>
                </a:solidFill>
                <a:latin typeface="Montserrat"/>
              </a:rPr>
              <a:t> · Reels mercado livre · 25/09 · </a:t>
            </a:r>
            <a:r>
              <a:rPr sz="950" b="0" i="0">
                <a:solidFill>
                  <a:srgbClr val="333333"/>
                </a:solidFill>
                <a:latin typeface="Montserrat"/>
              </a:rPr>
              <a:t>Esther Muzel, analista comercial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8900" y="1771650"/>
            <a:ext cx="375002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EA2548"/>
                </a:solidFill>
                <a:latin typeface="Montserrat"/>
              </a:rPr>
              <a:t>Echoenergia</a:t>
            </a:r>
            <a:r>
              <a:rPr sz="950" b="0" i="0">
                <a:solidFill>
                  <a:srgbClr val="333333"/>
                </a:solidFill>
                <a:latin typeface="Montserrat"/>
              </a:rPr>
              <a:t> · Reels "Sua conta de energia aumentou?" · 18/09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82075" y="2871043"/>
            <a:ext cx="2854928" cy="10679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214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Os comentários dos dois Reels destacam a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clareza da explicação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 e a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escolha das porta-vozes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. Colaboradores à frente da câmera aproximam a marca do público e dão credibilidade a temas técnicos, como a abertura do mercado livre de energia, editoria que passou de 0 para 5 publicações em setembro.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0050" y="6096000"/>
            <a:ext cx="4199632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700" b="1" i="0" spc="17">
                <a:solidFill>
                  <a:srgbClr val="EA2548"/>
                </a:solidFill>
                <a:latin typeface="Montserrat"/>
              </a:rPr>
              <a:t>APRENDIZADOS E PLANO DE AÇÃO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54307" y="190500"/>
            <a:ext cx="2509093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ECHOENERGIA E ENOVA ENERGIA SOLAR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5498306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aprendizados e plano de 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18931" y="1038225"/>
            <a:ext cx="954137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aprendizados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3750" y="1066800"/>
            <a:ext cx="680293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50" b="0" i="0">
                <a:solidFill>
                  <a:srgbClr val="EA2548"/>
                </a:solidFill>
                <a:latin typeface="Montserrat"/>
              </a:rPr>
              <a:t>Echo Energia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0" y="1066800"/>
            <a:ext cx="1001613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50" b="0" i="0">
                <a:solidFill>
                  <a:srgbClr val="EA2548"/>
                </a:solidFill>
                <a:latin typeface="Montserrat"/>
              </a:rPr>
              <a:t>Enova Energia Solar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8625" y="1409700"/>
            <a:ext cx="1228279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000000"/>
                </a:solidFill>
                <a:latin typeface="Montserrat"/>
              </a:rPr>
              <a:t>Alcance e Interações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625" y="2383631"/>
            <a:ext cx="164663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000000"/>
                </a:solidFill>
                <a:latin typeface="Montserrat"/>
              </a:rPr>
              <a:t>Crescimento de Seguidores: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75" y="1574006"/>
            <a:ext cx="5513642" cy="297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93"/>
              </a:lnSpc>
            </a:pPr>
            <a:r>
              <a:rPr sz="8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850" b="1" i="0">
                <a:solidFill>
                  <a:srgbClr val="000000"/>
                </a:solidFill>
                <a:latin typeface="Montserrat"/>
              </a:rPr>
              <a:t>Instagram:</a:t>
            </a:r>
            <a:r>
              <a:rPr sz="850" b="0" i="0">
                <a:solidFill>
                  <a:srgbClr val="000000"/>
                </a:solidFill>
                <a:latin typeface="Montserrat"/>
              </a:rPr>
              <a:t> -10% no alcance e -22% nas interações, com taxa de engajamento estável (3,8%), visitas ao perfil +8% e cliques no link +85%; collab com o Grupo Equatorial foi o maior destaque do mês;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075" y="1978819"/>
            <a:ext cx="5513642" cy="297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93"/>
              </a:lnSpc>
            </a:pPr>
            <a:r>
              <a:rPr sz="8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850" b="1" i="0">
                <a:solidFill>
                  <a:srgbClr val="000000"/>
                </a:solidFill>
                <a:latin typeface="Montserrat"/>
              </a:rPr>
              <a:t>LinkedIn:</a:t>
            </a:r>
            <a:r>
              <a:rPr sz="850" b="0" i="0">
                <a:solidFill>
                  <a:srgbClr val="000000"/>
                </a:solidFill>
                <a:latin typeface="Montserrat"/>
              </a:rPr>
              <a:t> -10% nos visitantes únicos e -46% nas interações, com mês concentrado em agendas institucionais e destaque para conteúdos com colaboradores.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075" y="2547938"/>
            <a:ext cx="53383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850" b="1" i="0">
                <a:solidFill>
                  <a:srgbClr val="000000"/>
                </a:solidFill>
                <a:latin typeface="Montserrat"/>
              </a:rPr>
              <a:t>Instagram:</a:t>
            </a:r>
            <a:r>
              <a:rPr sz="850" b="0" i="0">
                <a:solidFill>
                  <a:srgbClr val="000000"/>
                </a:solidFill>
                <a:latin typeface="Montserrat"/>
              </a:rPr>
              <a:t> +91 seguidores, encerrando o período com 16.116 seguidores e taxa de retenção de 7%;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075" y="2788444"/>
            <a:ext cx="5513642" cy="297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93"/>
              </a:lnSpc>
            </a:pPr>
            <a:r>
              <a:rPr sz="8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850" b="1" i="0">
                <a:solidFill>
                  <a:srgbClr val="000000"/>
                </a:solidFill>
                <a:latin typeface="Montserrat"/>
              </a:rPr>
              <a:t>LinkedIn:</a:t>
            </a:r>
            <a:r>
              <a:rPr sz="850" b="0" i="0">
                <a:solidFill>
                  <a:srgbClr val="000000"/>
                </a:solidFill>
                <a:latin typeface="Montserrat"/>
              </a:rPr>
              <a:t> +567 novos seguidores, finalizando o período com 82.780 seguidores e taxa de retenção de 26%.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6025" y="1409700"/>
            <a:ext cx="1228279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000000"/>
                </a:solidFill>
                <a:latin typeface="Montserrat"/>
              </a:rPr>
              <a:t>Alcance e Interações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6025" y="2383631"/>
            <a:ext cx="164663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000000"/>
                </a:solidFill>
                <a:latin typeface="Montserrat"/>
              </a:rPr>
              <a:t>Crescimento de Seguidores: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7475" y="1574006"/>
            <a:ext cx="5513642" cy="297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93"/>
              </a:lnSpc>
            </a:pPr>
            <a:r>
              <a:rPr sz="8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850" b="1" i="0">
                <a:solidFill>
                  <a:srgbClr val="000000"/>
                </a:solidFill>
                <a:latin typeface="Montserrat"/>
              </a:rPr>
              <a:t>Instagram:</a:t>
            </a:r>
            <a:r>
              <a:rPr sz="850" b="0" i="0">
                <a:solidFill>
                  <a:srgbClr val="000000"/>
                </a:solidFill>
                <a:latin typeface="Montserrat"/>
              </a:rPr>
              <a:t> -39% no alcance e -9% nas interações, com 4 publicações no mês e taxa de engajamento de 30%; destaque para o Reels em collab com a Echo;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7475" y="1978819"/>
            <a:ext cx="5513642" cy="297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93"/>
              </a:lnSpc>
            </a:pPr>
            <a:r>
              <a:rPr sz="8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850" b="1" i="0">
                <a:solidFill>
                  <a:srgbClr val="000000"/>
                </a:solidFill>
                <a:latin typeface="Montserrat"/>
              </a:rPr>
              <a:t>LinkedIn:</a:t>
            </a:r>
            <a:r>
              <a:rPr sz="850" b="0" i="0">
                <a:solidFill>
                  <a:srgbClr val="000000"/>
                </a:solidFill>
                <a:latin typeface="Montserrat"/>
              </a:rPr>
              <a:t> +58% nos visitantes únicos, mesmo sem publicações, mantendo o papel institucional do canal.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7475" y="2547938"/>
            <a:ext cx="5513642" cy="297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93"/>
              </a:lnSpc>
            </a:pPr>
            <a:r>
              <a:rPr sz="8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850" b="1" i="0">
                <a:solidFill>
                  <a:srgbClr val="000000"/>
                </a:solidFill>
                <a:latin typeface="Montserrat"/>
              </a:rPr>
              <a:t>Instagram:</a:t>
            </a:r>
            <a:r>
              <a:rPr sz="850" b="0" i="0">
                <a:solidFill>
                  <a:srgbClr val="000000"/>
                </a:solidFill>
                <a:latin typeface="Montserrat"/>
              </a:rPr>
              <a:t> saldo de -33 seguidores, encerrando o período com 20.369 seguidores e taxa de retenção de -6%;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7475" y="2952750"/>
            <a:ext cx="5513642" cy="297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93"/>
              </a:lnSpc>
            </a:pPr>
            <a:r>
              <a:rPr sz="8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850" b="1" i="0">
                <a:solidFill>
                  <a:srgbClr val="000000"/>
                </a:solidFill>
                <a:latin typeface="Montserrat"/>
              </a:rPr>
              <a:t>LinkedIn:</a:t>
            </a:r>
            <a:r>
              <a:rPr sz="850" b="0" i="0">
                <a:solidFill>
                  <a:srgbClr val="000000"/>
                </a:solidFill>
                <a:latin typeface="Montserrat"/>
              </a:rPr>
              <a:t> +20 novos seguidores, finalizando o período com 17.237 seguidores e taxa de retenção de 20%.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4540" y="4181475"/>
            <a:ext cx="336292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plano de ação - objetivos para o mês em vigência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225" y="4591050"/>
            <a:ext cx="1100048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Ampliar as collabs: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repetir parcerias com o Grupo Equatorial em datas relevantes e manter collabs entre Echo e Enova, que trouxeram os maiores alcances do mês para as duas marcas.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225" y="4845844"/>
            <a:ext cx="889009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Aprofundar a série de Mercado Livre de Energia: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responder às dúvidas reais que aparecem nos comentários, com colaboradores como porta-vozes.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225" y="5100638"/>
            <a:ext cx="742667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Retomar a frequência da Enova: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recuperar o volume de publicações no Instagram e iniciar conteúdos próprios no LinkedIn.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225" y="5355431"/>
            <a:ext cx="674563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Newsletter com cadência quinzenal: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voltar a duas edições por mês para sustentar visualizações e engajamento.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54307" y="190500"/>
            <a:ext cx="2509093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ECHOENERGIA E ENOVA ENERGIA SOLAR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52251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resumo: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495746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estratégias identificadas, propostas e próximos passos: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8364" y="1533525"/>
            <a:ext cx="179427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o que devemos continuar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25067" y="1809750"/>
            <a:ext cx="74071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1" i="0">
                <a:solidFill>
                  <a:srgbClr val="EA2548"/>
                </a:solidFill>
                <a:latin typeface="Montserrat"/>
              </a:rPr>
              <a:t>VALIDADO 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" y="2190750"/>
            <a:ext cx="3178683" cy="678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Collabs: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o Dia do Cliente com o Grupo Equatorial foi o conteúdo de maior alcance e interações da Echo, e a collab com a Echo foi o destaque da Enova.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" y="2962275"/>
            <a:ext cx="3178683" cy="5000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Mercado Livre de Energia: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os conteúdos próprios com mais interações tratam do tema, com engajamento de 12% e 13%.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" y="3555206"/>
            <a:ext cx="3178683" cy="5000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Pessoas em evidência: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SIPAT e media training no LinkedIn e a gerente de CX no CONAREC lideraram seus canais.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36840" y="1533525"/>
            <a:ext cx="131832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pontos de atenção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1229" y="1809750"/>
            <a:ext cx="156954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1" i="0">
                <a:solidFill>
                  <a:srgbClr val="EA2548"/>
                </a:solidFill>
                <a:latin typeface="Montserrat"/>
              </a:rPr>
              <a:t>O QUE MERECE CUIDADO 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8675" y="2190750"/>
            <a:ext cx="3178683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Escala de distribuição: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alcance em queda nas duas marcas (Echo -10%, Enova -39%).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8675" y="2605088"/>
            <a:ext cx="3178683" cy="5000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Frequência da Enova: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4 posts no Instagram e nenhum no LinkedIn; a base fechou o mês com saldo negativo de seguidores.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8675" y="3198019"/>
            <a:ext cx="3178683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LinkedIn e newsletter da Echo: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interações -46% e apenas uma edição da newsletter no mês.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4946" y="1533525"/>
            <a:ext cx="1523107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o que devemos testar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68929" y="1809750"/>
            <a:ext cx="654993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1" i="0">
                <a:solidFill>
                  <a:srgbClr val="EA2548"/>
                </a:solidFill>
                <a:latin typeface="Montserrat"/>
              </a:rPr>
              <a:t>HIPÓTESES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9175" y="2190750"/>
            <a:ext cx="3178683" cy="5000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Série de perguntas e respostas sobre o Mercado Livre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com colaboradores (foco em comentários e compartilhamentos).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9175" y="2783681"/>
            <a:ext cx="3178683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Collabs recorrentes Echo + Enova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sobre energia solar por assinatura (foco em alcance para a Enova).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9175" y="3198019"/>
            <a:ext cx="307345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Stories interativos pós-evento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(foco em retenção).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9175" y="3433762"/>
            <a:ext cx="3178683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Newsletter em formato de guia visual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(foco em visualizações no LinkedIn).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54307" y="190500"/>
            <a:ext cx="2509093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ECHOENERGIA E ENOVA ENERGIA SOLAR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675507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glossário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50" y="1057275"/>
            <a:ext cx="968662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Alcance: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Número de contas únicas que visualizaram o conteúdo em determinado período, independentemente da quantidade de vezes que cada uma o acessou;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" y="1312069"/>
            <a:ext cx="642535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Impressões: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Total de vezes que o conteúdo foi exibido, incluindo múltiplas visualizações pela mesma conta;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" y="1566862"/>
            <a:ext cx="829553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Visualizações: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Número de vezes que o conteúdo foi assistido/exibido, contabilizando todas as repetições, sem distinção de usuários únicos;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1821656"/>
            <a:ext cx="781169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Visitas ao perfil: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Quantidade de acessos ao perfil da marca, provenientes de publicações, anúncios, buscas ou compartilhamentos;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076450"/>
            <a:ext cx="11203876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Seguidores totais: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Número acumulado de contas que seguem o perfil até o final do período analisado. Representa o tamanho da base atual da marca, independentemente de quando esses seguidores foram adquiridos;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2509838"/>
            <a:ext cx="530036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Novos seguidores: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Total de pessoas que passaram a seguir o perfil no período analisado;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2764631"/>
            <a:ext cx="11203876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Taxa de retenção (visitasXseguidores):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Percentual de visitantes do perfil que se tornam seguidores. Mede a eficiência do perfil em transformar interesse em vínculo contínuo. (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Novos Seguidores ÷ Visitas × 100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3198019"/>
            <a:ext cx="746655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Interações: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Ações realizadas pelos usuários em um post (curtidas, comentários, compartilhamentos, salvamentos, respostas);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3452812"/>
            <a:ext cx="387786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Engajamento: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Soma das interações recebidas em um conteúdo;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3707606"/>
            <a:ext cx="763979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Taxa de engajamento: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Indicador de envolvimento proporcional do público em relação ao alcance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(Interações ÷ Alcance × 100)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3962400"/>
            <a:ext cx="11203876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Alcance orgânico: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Número de contas únicas que visualizaram o conteúdo sem investimento em mídia paga, incluindo seguidores e não seguidores que tiveram contato de forma espontânea no explorar, hashtags ou compartilhamentos;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4395788"/>
            <a:ext cx="720119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Alcance pago: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Número de contas únicas que visualizaram o conteúdo a partir de anúncios ou impulsionamentos pagos.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5750" y="6124575"/>
            <a:ext cx="1303586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50" b="1" i="0" spc="33">
                <a:solidFill>
                  <a:srgbClr val="FFFFFF"/>
                </a:solidFill>
                <a:latin typeface="Montserrat"/>
              </a:rPr>
              <a:t>OBRIGADO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