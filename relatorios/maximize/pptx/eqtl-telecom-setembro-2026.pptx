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78661" y="5027414"/>
            <a:ext cx="635138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3564" y="5447407"/>
            <a:ext cx="8796486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EQUATORIAL TELECOM - SETEMBRO|2026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989237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8499" y="1285875"/>
            <a:ext cx="102200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5694" y="1685925"/>
            <a:ext cx="11476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contas alcançadas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8008" y="1809750"/>
            <a:ext cx="78313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513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6827" y="21526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143%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193" y="258127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247" y="2705100"/>
            <a:ext cx="596057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+</a:t>
            </a:r>
            <a:r>
              <a:rPr sz="2250" b="0" i="0" spc="-22">
                <a:solidFill>
                  <a:srgbClr val="000000"/>
                </a:solidFill>
                <a:latin typeface="Montserrat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654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5.351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669" y="258127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3368" y="2705100"/>
            <a:ext cx="62686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8%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0994" y="3048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4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5046" y="355282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0783" y="3676650"/>
            <a:ext cx="78313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303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54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73%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4217" y="3552825"/>
            <a:ext cx="1325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engajamento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490" y="3676650"/>
            <a:ext cx="67047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59%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099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interações ÷ alcance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(ver observação abaixo)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6290" y="482917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337" y="1285875"/>
            <a:ext cx="930176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facebook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9512" y="1685925"/>
            <a:ext cx="88582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visualizadores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9382" y="1809750"/>
            <a:ext cx="585936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12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9677" y="21526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71%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0043" y="258127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7477" y="2705100"/>
            <a:ext cx="235297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939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534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8191" y="2581275"/>
            <a:ext cx="96291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visitas à página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6607" y="2705100"/>
            <a:ext cx="585936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23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384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21%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7896" y="355282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7477" y="3676650"/>
            <a:ext cx="235297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939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sem publicações: a agência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não tem acesso à página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7545" y="3552825"/>
            <a:ext cx="8242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visualizações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6607" y="3676650"/>
            <a:ext cx="585936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24</a:t>
            </a:r>
            <a:r>
              <a:rPr sz="1800" b="1" i="0" spc="-22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384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9%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9140" y="482917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410" y="5391150"/>
            <a:ext cx="10203180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dados obtidos no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Meta Business Suite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. Taxa de engajamento calculada como interações ÷ alcance (glossário); o valor publicado em agosto (1%) seguiu outra base, por isso não há comparação direta. Facebook: variações calculadas pelo próprio Meta; a agência não tem acesso de publicação à página, por isso os conteúdos não são replicados nela.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149900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- setembro|26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72782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diante dos dados analisados, compreendemos: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2982" y="1438275"/>
            <a:ext cx="31005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categorização de conteúdos compartilhados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1943100"/>
            <a:ext cx="5317426" cy="108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1" i="0">
                <a:solidFill>
                  <a:srgbClr val="000000"/>
                </a:solidFill>
                <a:latin typeface="Montserrat"/>
              </a:rPr>
              <a:t>INSTAGRAM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(8 posts)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03 conteúdos comerciais (LAN 2 LAN/NOC, soluções de voz e projetos personalizados);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03 conteúdos institucionais (time, presença em 7 estados e parcerias);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01 conteúdo educativo (Dicionário Tech: SLA);</a:t>
            </a:r>
          </a:p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01 conteúdo sazonal (collab de Dia do Cliente com o @grupoequatorial).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8489" y="1438275"/>
            <a:ext cx="27405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temas que geraram mais engajamento: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228850"/>
            <a:ext cx="311869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Humanização: o time por trás das soluções;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500312"/>
            <a:ext cx="33623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Data comemorativa em collab (Dia do Cliente);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2771775"/>
            <a:ext cx="360208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Institucionais: presença nacional e DNA da marca.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6458" y="3990975"/>
            <a:ext cx="177358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distribuição por editoria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8563" y="3990975"/>
            <a:ext cx="180037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distribuição por formato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160" y="4333875"/>
            <a:ext cx="28470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1518" y="4333875"/>
            <a:ext cx="44931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8480" y="4333875"/>
            <a:ext cx="5002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6438900"/>
            <a:ext cx="708823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Montserrat"/>
              </a:rPr>
              <a:t>Classificação de setembro sugerida a partir das legendas dos posts; ajustar se necessário. Formatos de janeiro a agosto conforme o relatório anterior.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251906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1726406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resultados gerais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2719" y="1285875"/>
            <a:ext cx="130656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resultados anuais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3382" y="3514725"/>
            <a:ext cx="48413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6735" y="3514725"/>
            <a:ext cx="6374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1352" y="3514725"/>
            <a:ext cx="10483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506" y="3895725"/>
            <a:ext cx="195098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perfil geral dos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804" y="4726186"/>
            <a:ext cx="3414141" cy="7503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6"/>
              </a:lnSpc>
            </a:pPr>
            <a:r>
              <a:rPr sz="1000" b="1" i="0">
                <a:solidFill>
                  <a:srgbClr val="EA2548"/>
                </a:solidFill>
                <a:latin typeface="Montserrat"/>
              </a:rPr>
              <a:t>DADO PENDENTE</a:t>
            </a:r>
          </a:p>
          <a:p>
            <a:pPr algn="ctr">
              <a:lnSpc>
                <a:spcPts val="1316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principais cidades dos seguidores</a:t>
            </a:r>
          </a:p>
          <a:p>
            <a:pPr algn="ctr">
              <a:lnSpc>
                <a:spcPts val="1316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(Meta Business Suite › Público › Principais localizações)</a:t>
            </a:r>
          </a:p>
          <a:p>
            <a:pPr algn="ctr">
              <a:lnSpc>
                <a:spcPts val="1316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agosto: São Luís-MA 27%, Maceió-AL 5%, Belém-PA 5%, Teresina-PI 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0576" y="6219825"/>
            <a:ext cx="8954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geolocalização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3759" y="6219825"/>
            <a:ext cx="4528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gênero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0108" y="6219825"/>
            <a:ext cx="76393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idade média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794" y="6438900"/>
            <a:ext cx="681841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resultados referentes ao Instagram. Faixa etária somando mulheres e homens, com leitura aproximada do gráfico do Meta.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989237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722465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do investimento em mídia paga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7006" y="1419225"/>
            <a:ext cx="26622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valores investimentos mensalmente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6014" y="2466975"/>
            <a:ext cx="177522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VALOR TOTAL INVESTIDO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5618" y="2867025"/>
            <a:ext cx="1916013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R$ 1.278,28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5161" y="3209925"/>
            <a:ext cx="65677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em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5825" y="4953000"/>
            <a:ext cx="614020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ontserrat"/>
              </a:rPr>
              <a:t>Em setembro, </a:t>
            </a:r>
            <a:r>
              <a:rPr sz="800" b="1" i="0">
                <a:solidFill>
                  <a:srgbClr val="595959"/>
                </a:solidFill>
                <a:latin typeface="Montserrat"/>
              </a:rPr>
              <a:t>não houve investimento em mídia paga</a:t>
            </a:r>
            <a:r>
              <a:rPr sz="800" b="0" i="0">
                <a:solidFill>
                  <a:srgbClr val="595959"/>
                </a:solidFill>
                <a:latin typeface="Montserrat"/>
              </a:rPr>
              <a:t>: 100% das 9.705 visualizações do Instagram foram orgânicas.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62138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INSTAGRAM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76350"/>
            <a:ext cx="6484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8430" y="149542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513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143%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900" y="12763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405" y="149542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1.075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12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33%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763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1341" y="1495425"/>
            <a:ext cx="74056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8%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4 pontos percentuais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2851" y="25336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8956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8430" y="3114675"/>
            <a:ext cx="92824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303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7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73%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2900" y="28956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8361" y="3114675"/>
            <a:ext cx="70752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+</a:t>
            </a:r>
            <a:r>
              <a:rPr sz="2700" b="0" i="0" spc="-27">
                <a:solidFill>
                  <a:srgbClr val="000000"/>
                </a:solidFill>
                <a:latin typeface="Montserrat"/>
              </a:rPr>
              <a:t>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12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5.351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segundo o Meta: 151 novos seguimentos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0861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7776" y="3305175"/>
            <a:ext cx="158755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8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770" y="37052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+1 criativo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6819" y="4448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0175" y="4857750"/>
            <a:ext cx="9673400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Em setembro,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 Equatorial Telecom mais que dobrou o alcance (+143%)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 registrou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crescimento de 73% nas interações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mesmo sem investimento em mídia. O resultado foi puxado pela collab de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Dia do Cliente com o @grupoequatorial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 pelo carrossel sobre o time Telecom. A comunidade avançou para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5.351 seguidores (+83)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o melhor saldo desde maio, e as visitas ao perfil cresceram 33%.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114104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225" y="1362075"/>
            <a:ext cx="6874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M.A: +143%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4997" y="3152775"/>
            <a:ext cx="109150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9725" y="1362075"/>
            <a:ext cx="10097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5.351 seguidores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225" y="3571875"/>
            <a:ext cx="63609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M.A: +73%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2191" y="3505200"/>
            <a:ext cx="27086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ontserrat"/>
              </a:rPr>
              <a:t>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5772150"/>
            <a:ext cx="168265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legenda: M.A: MÊS ANTERIOR;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419" y="1019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1409700"/>
            <a:ext cx="3512402" cy="28217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Em setembro, o perfil da Equatorial Telecom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interrompeu a sequência de queda no alcance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que vinha desde fevereiro, chegando a 513 contas (+143%), em um mês 100% orgânico.</a:t>
            </a:r>
          </a:p>
          <a:p>
            <a:pPr algn="just">
              <a:lnSpc>
                <a:spcPts val="1406"/>
              </a:lnSpc>
            </a:pPr>
          </a:p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As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interações chegaram a 303 (+73%)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o maior volume do ano. O pico de visualizações em 15/09 coincide com a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collab de Dia do Cliente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e o carrossel sobre o time Telecom (19/09) concentrou o maior alcance diário do mês.</a:t>
            </a:r>
          </a:p>
          <a:p>
            <a:pPr algn="just">
              <a:lnSpc>
                <a:spcPts val="1406"/>
              </a:lnSpc>
            </a:pPr>
          </a:p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A base ganhou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83 seguidores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(151 novos seguimentos, segundo o Meta) e a taxa de retenção subiu para 8%, sinalizando que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conteúdos humanizados e institucionais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estão convertendo melhor as visitas em seguidores.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10793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do alcance anual e taxa de retenção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2674" y="1514475"/>
            <a:ext cx="500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orgânico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280" y="1514475"/>
            <a:ext cx="46404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anúncio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9578" y="3524250"/>
            <a:ext cx="20072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ontserrat"/>
              </a:rPr>
              <a:t>alcance orgânico x patrocinado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6323" y="3990975"/>
            <a:ext cx="354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929" y="3990975"/>
            <a:ext cx="9492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5804" y="3990975"/>
            <a:ext cx="10258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555" y="6164014"/>
            <a:ext cx="3139440" cy="2470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1"/>
              </a:lnSpc>
            </a:pPr>
            <a:r>
              <a:rPr sz="100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  <a:p>
            <a:pPr algn="ctr">
              <a:lnSpc>
                <a:spcPts val="1121"/>
              </a:lnSpc>
            </a:pPr>
            <a:r>
              <a:rPr sz="700" b="0" i="0">
                <a:solidFill>
                  <a:srgbClr val="FFFFFF"/>
                </a:solidFill>
                <a:latin typeface="Montserrat"/>
              </a:rPr>
              <a:t>(relação entre visitas ao perfil x novos seguidores mensais)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0069" y="1704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6125" y="2190750"/>
            <a:ext cx="4591584" cy="895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com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crescimento de 143%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o perfil voltou a superar a marca de 500 contas alcançadas, todas de forma orgânica. A alta foi sustentada pela collab de Dia do Cliente e pelo carrossel sobre o time, mostrando que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conteúdos com pessoas ampliam a distribuição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mesmo sem mídia.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6125" y="3195638"/>
            <a:ext cx="4591738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Retenção de seguidores: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as visitas ao perfil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cresceram 33%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para 1.075, e a taxa de retenção avançou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para 8%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a entrada de 83 novos seguidores. É a maior taxa desde maio, indicando uma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recuperação consistente no crescimento da comunidade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35681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crescimento anual de seguidores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3852" y="1590675"/>
            <a:ext cx="10407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total de seguidores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2257" y="1590675"/>
            <a:ext cx="136624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 no mês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6917" y="5734050"/>
            <a:ext cx="19981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total de seguidores mensal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2895" y="6096000"/>
            <a:ext cx="492621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ontserrat"/>
              </a:rPr>
              <a:t>Novos seguidores = saldo do mês (total do mês − total do mês anterior). Em julho, o saldo foi de −3.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79983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- feed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36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8907" y="1171575"/>
            <a:ext cx="26759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19/09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75" y="3324225"/>
            <a:ext cx="15238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3787080"/>
            <a:ext cx="15597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5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504" y="3684240"/>
            <a:ext cx="18945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391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85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8531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4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961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5137" y="1171575"/>
            <a:ext cx="2841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23/09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3066" y="3324225"/>
            <a:ext cx="148351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18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1850" y="3787080"/>
            <a:ext cx="9614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625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6254" y="3684240"/>
            <a:ext cx="19392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1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128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52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23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1190" y="1171575"/>
            <a:ext cx="29081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30/09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5724" y="3324225"/>
            <a:ext cx="15235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13%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3787080"/>
            <a:ext cx="9614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90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9004" y="3684240"/>
            <a:ext cx="14882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40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403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79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59157" y="1228725"/>
            <a:ext cx="12218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3940" y="1171575"/>
            <a:ext cx="29081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28/09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7077" y="3324225"/>
            <a:ext cx="14864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73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7350" y="3787080"/>
            <a:ext cx="9614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175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1754" y="3684240"/>
            <a:ext cx="1556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67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76781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707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025" y="4781550"/>
            <a:ext cx="11361002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O carrossel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"Por trás de toda grande solução existe um grande time"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foi o destaque absoluto do mês: 58 interações, 391 contas alcançadas e 15% de engajamento, além de trazer seguidor novo. Os demais conteúdos próprios ficaram entre 6 e 7 interações. Fora do ranking, 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collab de Dia do Cliente com o @grupoequatorial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somou 12,9 mil visualizações e 204 interações (127 comentários), números compartilhados com o perfil do Grupo. O resultado reforça que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pessoas e bastidores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geram mais conexão que conteúdos só de produto.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750" y="6096000"/>
            <a:ext cx="1129292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Montserrat"/>
              </a:rPr>
              <a:t>Interações = curtidas + comentários + compartilhamentos + salvamentos; taxa de engajamento = interações ÷ alcance. Dados da exportação de posts do Meta Business Suite. Empates em 7 interações ordenados como no ranking do Meta.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4199632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APRENDIZADOS E PLANO DE 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4788396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e sugestões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18594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diante dos dados analisados e sugerimos: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6189" y="1419225"/>
            <a:ext cx="101962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aprendizados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828800"/>
            <a:ext cx="141595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Alcance e Interações: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538412"/>
            <a:ext cx="18564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ontserrat"/>
              </a:rPr>
              <a:t>Crescimento de Seguidores: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2014538"/>
            <a:ext cx="983426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Instagram: +143% no alcance e +73% nas interações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em um mês 100% orgânico, puxados pela collab de Dia do Cliente e pelo carrossel sobre o time Telecom;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2276475"/>
            <a:ext cx="777567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Facebook: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sem publicações, já que a agência não tem acesso à página; ainda assim, ela registrou 24 visualizações e 23 visitas.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2724150"/>
            <a:ext cx="737190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Instagram: +83 seguidores e retenção de 8%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aumento de 33% nas visitas ao perfil. É o melhor saldo desde maio;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2986088"/>
            <a:ext cx="281895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Facebook: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base estável, com 534 seguidores.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9074" y="4181475"/>
            <a:ext cx="105385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plano de 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4591050"/>
            <a:ext cx="966147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Ampliar os conteúdos com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pessoas e bastidores do time Telecom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(especialistas, rotina, atendimento consultivo), formato que liderou alcance e interações;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4852988"/>
            <a:ext cx="618886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Manter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collabs com o @grupoequatorial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em datas relevantes para ampliar a distribuição orgânica;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5114925"/>
            <a:ext cx="683508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Dar continuidade ao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Dicionário Tech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 aos conteúdos de soluções, aproximando-os de casos reais de clientes;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5376862"/>
            <a:ext cx="63165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Retomar os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stories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(nenhum publicado em setembro) com bastidores e enquetes do Dicionário Tech.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2251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resumo: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95746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estratégias identificadas, propostas e próximos passos: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8364" y="1533525"/>
            <a:ext cx="17942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continuar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5067" y="1809750"/>
            <a:ext cx="74071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VALIDADO 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2190750"/>
            <a:ext cx="3178683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Conteúdos humanizados: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o carrossel sobre o time foi o post próprio com mais alcance e interações.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805112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Collabs com o Grupo Equatorial: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o Dia do Cliente impulsionou visualizações e comentários.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3233738"/>
            <a:ext cx="3178683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Institucionais de posicionamento: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presença em 7 estados e DNA da marca mantiveram boas taxas de engajamento.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6840" y="1533525"/>
            <a:ext cx="13183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pontos de atenção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1229" y="1809750"/>
            <a:ext cx="1569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O QUE MERECE CUIDADO 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2190750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Conteúdos de produto: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posts comerciais ficaram entre 6 e 7 interações.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675" y="2619375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Saídas de seguidores: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foram 151 novos seguimentos, mas o saldo ficou em +83.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048000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Stories parados: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nenhum story publicado em setembro.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946" y="1533525"/>
            <a:ext cx="152310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testar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8929" y="1809750"/>
            <a:ext cx="6549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HIPÓTESES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9175" y="2190750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Especialistas explicando soluções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em reels (foco em alcance e autoridade).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175" y="2619375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Cases de clientes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dos 7 estados atendidos (foco em prova social).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9175" y="3048000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CTAs para seguir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nos conteúdos de bastidores (foco em retenção).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175" y="3476625"/>
            <a:ext cx="3178683" cy="338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Stories com enquetes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do Dicionário Tech (foco em participação).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9859" y="190500"/>
            <a:ext cx="1423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675507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glossário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057275"/>
            <a:ext cx="968662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em determinado período, independentemente da quantidade de vezes que cada uma o acessou;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312069"/>
            <a:ext cx="76886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Métrica que substituiu o alcance no Meta Business Suite; número de contas únicas que visualizaram o conteúdo;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1566862"/>
            <a:ext cx="64253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Impressões: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Total de vezes que o conteúdo foi exibido, incluindo múltiplas visualizações pela mesma conta;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821656"/>
            <a:ext cx="82955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vezes que o conteúdo foi assistido/exibido, contabilizando todas as repetições, sem distinção de usuários únicos;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076450"/>
            <a:ext cx="781169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Visitas ao perfil: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Quantidade de acessos ao perfil da marca, provenientes de publicações, anúncios, buscas ou compartilhamentos;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31244"/>
            <a:ext cx="53465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Saldo de pessoas que passaram a seguir o perfil no período analisado;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586038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retenção (visitas x seguidores):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Percentual de visitantes do perfil que se tornam seguidores. Mede a eficiência do perfil em transformar interesse em vínculo contínuo (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 ÷ Visitas × 100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019425"/>
            <a:ext cx="74665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Interações: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Ações realizadas pelos usuários em um post (curtidas, comentários, compartilhamentos, salvamentos, respostas);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274219"/>
            <a:ext cx="38778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Soma das interações recebidas em um conteúdo;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529012"/>
            <a:ext cx="76397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Indicador de envolvimento proporcional do público em relação ao alcance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(Interações ÷ Alcance × 100)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783806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orgânico: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sem investimento em mídia paga, incluindo seguidores e não seguidores que tiveram contato de forma espontânea no explorar, hashtags ou compartilhamentos;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217194"/>
            <a:ext cx="72011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pago: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a partir de anúncios ou impulsionamentos pagos;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471988"/>
            <a:ext cx="1018832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CPM (Custo por Mil Impressões):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Valor investido para gerar mil impressões do conteúdo. Mede a eficiência da verba de mídia na distribuição e exposição da comunicação.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" y="6124575"/>
            <a:ext cx="13035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50" b="1" i="0" spc="33">
                <a:solidFill>
                  <a:srgbClr val="FFFFFF"/>
                </a:solidFill>
                <a:latin typeface="Montserrat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