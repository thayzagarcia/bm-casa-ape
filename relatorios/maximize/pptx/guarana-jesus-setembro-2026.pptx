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78661" y="5027414"/>
            <a:ext cx="635138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3371" y="5447407"/>
            <a:ext cx="747667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GUARANÁ JESUS - SETEMBRO|2026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94233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overview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48079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desempenho geral por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499" y="1285875"/>
            <a:ext cx="102200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5694" y="1685925"/>
            <a:ext cx="11476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1182" y="1809750"/>
            <a:ext cx="143663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371.754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682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45%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19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6094" y="2705100"/>
            <a:ext cx="10523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+</a:t>
            </a:r>
            <a:r>
              <a:rPr sz="2250" b="0" i="0" spc="-22">
                <a:solidFill>
                  <a:srgbClr val="000000"/>
                </a:solidFill>
                <a:latin typeface="Montserrat"/>
              </a:rPr>
              <a:t>1.623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6544" y="3048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81.093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; saldo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52% menor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que o de agosto (+3.402)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66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4844" y="2705100"/>
            <a:ext cx="82391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15%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0994" y="3048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 ponto percentual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5046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2630" y="3676650"/>
            <a:ext cx="123944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37.336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654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3%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4217" y="355282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4844" y="3676650"/>
            <a:ext cx="82391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10%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994" y="40195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5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629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337" y="1285875"/>
            <a:ext cx="930176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facebook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9512" y="1685925"/>
            <a:ext cx="8858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visualizadores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4032" y="1809750"/>
            <a:ext cx="143663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152.185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967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48%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004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6999" y="2705100"/>
            <a:ext cx="73625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-194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939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156.042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651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4264" y="2705100"/>
            <a:ext cx="93062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-17%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3844" y="3048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33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5121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1229" y="3676650"/>
            <a:ext cx="10422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2.409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9677" y="40195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49%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914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0936" y="5391150"/>
            <a:ext cx="293012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dados obtidos no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Meta Business Suite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14990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- setembro|26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782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analisados, compreendemos: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982" y="1438275"/>
            <a:ext cx="31005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categorização de conteúdos compartilhados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1943100"/>
            <a:ext cx="5317426" cy="1035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1" i="0">
                <a:solidFill>
                  <a:srgbClr val="000000"/>
                </a:solidFill>
                <a:latin typeface="Montserrat"/>
              </a:rPr>
              <a:t>INSTAGRAM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(11 posts)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4 collabs com creators (@thaynaraog, @ostropix e @paivete)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5 conteúdos sazonais da campanha Aniversário de São Luís (#SãoLuísEsseÉOMeuPatrimônio)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conteúdo de ação com o público (regulamento #MeuPatrimônio)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conteúdo com foco regional/cultural (Sul do Maranhão)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489" y="1438275"/>
            <a:ext cx="27405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que geraram mais engajamento: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228850"/>
            <a:ext cx="317807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Aniversário de São Luís / patrimônio cultural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500312"/>
            <a:ext cx="332214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Regionalidade: lugares e hábitos ludovicenses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458" y="3990975"/>
            <a:ext cx="177358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editoria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8563" y="3990975"/>
            <a:ext cx="180037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160" y="4333875"/>
            <a:ext cx="28470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1518" y="43338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8480" y="4333875"/>
            <a:ext cx="5002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94233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overview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58916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investimentos e anúncios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735" y="1419225"/>
            <a:ext cx="211082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investimento total (em reais)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6965" y="1419225"/>
            <a:ext cx="109611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foco das 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4681" y="1743075"/>
            <a:ext cx="74786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engajamento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192" y="1743075"/>
            <a:ext cx="41567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tráfego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3620" y="1419225"/>
            <a:ext cx="12495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visão estratégica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6305" y="1876425"/>
            <a:ext cx="208418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EA2548"/>
                </a:solidFill>
                <a:latin typeface="Montserrat"/>
              </a:rPr>
              <a:t>investimento total | setembro/26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6423" y="1981200"/>
            <a:ext cx="2583805" cy="4667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 i="0" spc="-30">
                <a:solidFill>
                  <a:srgbClr val="000000"/>
                </a:solidFill>
                <a:latin typeface="Montserrat"/>
              </a:rPr>
              <a:t>R$ 2.977,04</a:t>
            </a:r>
            <a:r>
              <a:rPr sz="2400" b="1" i="0" spc="-30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790" y="2409825"/>
            <a:ext cx="366922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7225" y="2911673"/>
            <a:ext cx="3669221" cy="2464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1" i="0">
                <a:solidFill>
                  <a:srgbClr val="000000"/>
                </a:solidFill>
                <a:latin typeface="Montserrat"/>
              </a:rPr>
              <a:t>Setembro não teve verba extra para a campanha de Aniversário de São Luís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: a ação foi sustentada pela verba recorrente do mês, que recuou 23%. A estratégia foi dividir o investimento em duas frentes: manter ativa a campanha de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visitas ao perfil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iniciada em agosto com o carrossel "Desculpa…", e direcionar parte da verba para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impulsionar os conteúdos do aniversário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. Com isso, a mídia trabalhou nas duas pontas: sustentou o crescimento da comunidade (6.311 visitas a R$ 0,30) e ampliou a circulação dos conteúdos de maior resposta orgânica a custos baixos (ThruPlay entre R$ 0,02 e R$ 0,05). O CPM médio do mês foi de R$ 5,67.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Para os próximos meses, a recomendação é planejar verba específica para as datas-chave do calendário, preservando o always-on de seguidores.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8079" y="4086225"/>
            <a:ext cx="208389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 e comparativos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4495800"/>
            <a:ext cx="7417080" cy="895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o investimento em mídia paga somou R$ 2.977,04 (-23%)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525.339 impressões 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371.754 contas alcançadas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Sem verba adicional para a campanha,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63%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(R$ 1.877,83) seguiu na campanha de visitas ao perfil com o carrossel "Desculpa…", iniciada em agosto, 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37%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(R$ 1.099,21) foi remanejado para impulsionar os 5 vídeos e o carrossel do Aniversário de São Luís. Mesmo com verba enxuta, a taxa de retenção subiu para 15% e as interações cresceram 3%, mostrando eficiência na distribuição.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71" y="6400800"/>
            <a:ext cx="7946708" cy="252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12"/>
              </a:lnSpc>
            </a:pPr>
            <a:r>
              <a:rPr sz="7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750" b="0" i="0">
                <a:solidFill>
                  <a:srgbClr val="000000"/>
                </a:solidFill>
                <a:latin typeface="Montserrat"/>
              </a:rPr>
              <a:t> Tráfego = campanha de visitas ao perfil, voltada à descoberta da marca e ao crescimento de seguidores. Engajamento = campanhas de ThruPlay e de engajamento com a publicação.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62138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INSTAGRAM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690045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mensal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6850"/>
            <a:ext cx="6484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6417" y="1685925"/>
            <a:ext cx="171241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371.754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45%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900" y="14668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4235" y="1685925"/>
            <a:ext cx="147578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10.771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12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54%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668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3022" y="1685925"/>
            <a:ext cx="97720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15%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 ponto percentual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2851" y="27241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0861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4735" y="3305175"/>
            <a:ext cx="147578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37.336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7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0861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4517" y="3305175"/>
            <a:ext cx="125521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+</a:t>
            </a:r>
            <a:r>
              <a:rPr sz="2700" b="0" i="0" spc="-27">
                <a:solidFill>
                  <a:srgbClr val="000000"/>
                </a:solidFill>
                <a:latin typeface="Montserrat"/>
              </a:rPr>
              <a:t>1.623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1270" y="3743325"/>
            <a:ext cx="3021711" cy="416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81.093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· agosto: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+3.402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saldo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52% menor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que o mês anterior · Meta: 2.990 novos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766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2703" y="3495675"/>
            <a:ext cx="179784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11 criativos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770" y="38957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+4 criativos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além de 24 stories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819" y="46005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2175" y="5010150"/>
            <a:ext cx="8103680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mês dos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414 anos de São Luís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o Guaraná Jesus manteve o volume de interações (37.336, +3%) mesmo com alcance 45% menor que o de agosto, levando a taxa de engajamento de 5% para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10%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O perfil conquistou 1.623 seguidores líquidos e 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taxa de retenção subiu para 15%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As visualizações orgânicas cresceram 57%, enquanto as vindas de anúncios recuaram 68%.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51174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1362075"/>
            <a:ext cx="882048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EA2548"/>
                </a:solidFill>
                <a:latin typeface="Montserrat"/>
              </a:rPr>
              <a:t>M.A: -45%</a:t>
            </a:r>
          </a:p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000000"/>
                </a:solidFill>
                <a:latin typeface="Montserrat"/>
              </a:rPr>
              <a:t>A.A: pendente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4997" y="3152775"/>
            <a:ext cx="10915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9225" y="1285875"/>
            <a:ext cx="1788316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5BA346"/>
                </a:solidFill>
                <a:latin typeface="Montserrat"/>
              </a:rPr>
              <a:t>M.A: +1.623 segs (ago: +3.402)</a:t>
            </a:r>
          </a:p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000000"/>
                </a:solidFill>
                <a:latin typeface="Montserrat"/>
              </a:rPr>
              <a:t>A.A: pendente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4475" y="3571875"/>
            <a:ext cx="882048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5BA346"/>
                </a:solidFill>
                <a:latin typeface="Montserrat"/>
              </a:rPr>
              <a:t>M.A: +3%</a:t>
            </a:r>
          </a:p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000000"/>
                </a:solidFill>
                <a:latin typeface="Montserrat"/>
              </a:rPr>
              <a:t>A.A: 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899" y="3505200"/>
            <a:ext cx="28545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5772150"/>
            <a:ext cx="291435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legenda: A.A: ANO ANTERIOR; | M.A: MÊS ANTERIOR;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419" y="1019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1409700"/>
            <a:ext cx="3512402" cy="2200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setembro, o perfil alcançou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371.754 contas (-45%)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segundo o Gerenciador de Anúncios, acompanhando a redução de 23% no investimento em mídia.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Mesmo assim,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as interações cresceram 3%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e chegaram a 37.336, o maior volume do ano. A collab com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@thaynaraog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(07/09) concentrou mais da metade desse total, com 18.986 curtidas, 1.013 compartilhamentos e 503 comentários.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 base chegou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81.093 seguidores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com saldo de 1.623 no mês (52% abaixo dos +3.402 de agosto), e a taxa de retenção subiu para 15%: menos visitas ao perfil (-54%), mas proporcionalmente mais conversão em seguidores.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0793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alcance anual e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6924" y="1476375"/>
            <a:ext cx="500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orgânico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5530" y="1476375"/>
            <a:ext cx="46404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anúncio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8223" y="3686175"/>
            <a:ext cx="2158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orgânico x patrocinado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0573" y="4086225"/>
            <a:ext cx="354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3179" y="408622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054" y="408622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7805" y="6259116"/>
            <a:ext cx="3139440" cy="2851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1"/>
              </a:lnSpc>
            </a:pPr>
            <a:r>
              <a:rPr sz="100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  <a:p>
            <a:pPr algn="ctr">
              <a:lnSpc>
                <a:spcPts val="1121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(relação entre visitas ao perfil x novos seguidores mensais)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4819" y="15144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2000250"/>
            <a:ext cx="5180383" cy="895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o alcance geral recuou 45%, para 371.754 contas (Gerenciador de Anúncios). No detalhamento do Meta Business Suite, o alcance patrocinado no Instagram foi de 259.445 contas (-56%) e o orgânico de 36.158 (-59%). Já nas visualizações, 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orgânico cresceu 57%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(375.902), com destaque para as collabs com creators, que levaram os conteúdos para além da base da marca.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005138"/>
            <a:ext cx="5180076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Taxa de retenção: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as visitas ao perfil caíram 54%, para 10.771, mas o saldo de 1.623 novos seguidores elevou a taxa de retenção para 15%, indicando que o público que chegou ao perfil converteu melhor do que em agosto.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5695950"/>
            <a:ext cx="5356670" cy="252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2"/>
              </a:lnSpc>
            </a:pPr>
            <a:r>
              <a:rPr sz="750" b="0" i="0">
                <a:solidFill>
                  <a:srgbClr val="595959"/>
                </a:solidFill>
                <a:latin typeface="Montserrat"/>
              </a:rPr>
              <a:t>Valores do Meta Business Suite (card Alcance, detalhamento orgânico/anúncios). A soma das partes (295.603) supera o total porque parte do público foi alcançada tanto por conteúdos orgânicos quanto pagos.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92574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no feed - 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811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4886" y="1171575"/>
            <a:ext cx="29036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07/09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6434" y="3086100"/>
            <a:ext cx="120863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COLLAB @THAYNARAOG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8825" y="3324225"/>
            <a:ext cx="15238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850" y="3787080"/>
            <a:ext cx="35480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20.502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2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254" y="3684240"/>
            <a:ext cx="37951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137.243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7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728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12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973" y="1171575"/>
            <a:ext cx="285452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22/09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4180" y="3086100"/>
            <a:ext cx="102349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COLLAB @OSTROPIX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2752" y="3324225"/>
            <a:ext cx="14864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3025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3025" y="3787080"/>
            <a:ext cx="29646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3.456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7429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7429" y="3684240"/>
            <a:ext cx="37147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40.899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2456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2456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6415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9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6307" y="1171575"/>
            <a:ext cx="29929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08/09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9355" y="3086100"/>
            <a:ext cx="102349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COLLAB @OSTROPIX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1648" y="3324225"/>
            <a:ext cx="14790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787080"/>
            <a:ext cx="26238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3.153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6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604" y="3684240"/>
            <a:ext cx="35808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69.439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6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6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15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" y="4781550"/>
            <a:ext cx="11360848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Os três conteúdos de maior interação são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collabs com creators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dentro da campanha de Aniversário de São Luís. O destaque foi a collab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@thaynaraog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(07/09): 137.243 contas alcançadas e 20.502 interações, mais da metade do total do mês, com taxa de engajamento de 15%. Em seguida vieram as duas collabs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@ostropix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(22/09 e 08/09), com mais de 3 mil interações cada. Somadas, as 4 collabs do mês levaram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716 pessoas a seguir o perfil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 partir dos próprios posts, contra 11 dos posts da marca.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O resultado é pontual de campanha e serve como insight para as próximas ações sazonais, e não como régua para o conteúdo recorrente.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750" y="6096000"/>
            <a:ext cx="825043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Interações = curtidas + comentários + compartilhamentos + salvamentos; taxa de engajamento = interações ÷ alcance. Dados da exportação de posts do Meta Business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92574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no feed - 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1704975"/>
            <a:ext cx="32831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EA2548"/>
                </a:solidFill>
                <a:latin typeface="Montserrat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0434" y="1704975"/>
            <a:ext cx="65901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EA2548"/>
                </a:solidFill>
                <a:latin typeface="Montserrat"/>
              </a:rPr>
              <a:t>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1100" y="1704975"/>
            <a:ext cx="55840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EA2548"/>
                </a:solidFill>
                <a:latin typeface="Montserrat"/>
              </a:rPr>
              <a:t>formato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721" y="1704975"/>
            <a:ext cx="52923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612" y="1704975"/>
            <a:ext cx="69979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EA2548"/>
                </a:solidFill>
                <a:latin typeface="Montserrat"/>
              </a:rPr>
              <a:t>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89257" y="1704975"/>
            <a:ext cx="81691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EA2548"/>
                </a:solidFill>
                <a:latin typeface="Montserrat"/>
              </a:rPr>
              <a:t>taxa de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1943100"/>
            <a:ext cx="38323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07/09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0434" y="1943100"/>
            <a:ext cx="376609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Collab @thaynaraog · "São Luís é patrimônio de quem vive…"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1100" y="1943100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6487" y="1943100"/>
            <a:ext cx="58846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137.243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554" y="1943100"/>
            <a:ext cx="50184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20.502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1299" y="1943100"/>
            <a:ext cx="43487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14,9%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181225"/>
            <a:ext cx="37653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22/09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0434" y="2181225"/>
            <a:ext cx="380583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Collab @ostropix · "Onde tem o Guaraná Jesus mais gelado…"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1100" y="2181225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3105" y="2181225"/>
            <a:ext cx="50184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40.899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1320" y="2181225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3.456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917" y="2181225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8,5%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2419350"/>
            <a:ext cx="39558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08/09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0434" y="2419350"/>
            <a:ext cx="253007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Collab @ostropix · "414 anos de São Luís"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1100" y="2419350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3105" y="2419350"/>
            <a:ext cx="50184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69.439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1320" y="2419350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3.153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917" y="2419350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4,5%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2657475"/>
            <a:ext cx="35882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10/09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0434" y="2657475"/>
            <a:ext cx="277772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Collab @paivete · "Bora turistar por São Luís"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1100" y="2657475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3105" y="2657475"/>
            <a:ext cx="50184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38.974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1320" y="2657475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1.139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7917" y="2657475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2,9%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2895600"/>
            <a:ext cx="3881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02/09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0434" y="2895600"/>
            <a:ext cx="140032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"414 anos de histórias"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1100" y="2895600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9872" y="2895600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5.938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8150" y="2895600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917" y="2895600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5,6%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825" y="3133725"/>
            <a:ext cx="40183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04/09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0434" y="3133725"/>
            <a:ext cx="257249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"Patrimônio é tudo aquilo que compõe…"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1100" y="3133725"/>
            <a:ext cx="58429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3105" y="3133725"/>
            <a:ext cx="50184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26.807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8150" y="3133725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7917" y="3133725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1,2%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825" y="3371850"/>
            <a:ext cx="37504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25/09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70434" y="3371850"/>
            <a:ext cx="371266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"São Luís tem patrimônio em cada canto" (fotos do público)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1100" y="3371850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99872" y="3371850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1.059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8150" y="3371850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71299" y="3371850"/>
            <a:ext cx="43487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14,1%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825" y="3609975"/>
            <a:ext cx="32399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11/09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70434" y="3609975"/>
            <a:ext cx="205591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Roteiro digital pelos patrimônios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1100" y="3609975"/>
            <a:ext cx="58429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9872" y="3609975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1.290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8150" y="3609975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57917" y="3609975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8,8%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825" y="3848100"/>
            <a:ext cx="3493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15/09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70434" y="3848100"/>
            <a:ext cx="179129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Coleção de selos de São Luís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1100" y="3848100"/>
            <a:ext cx="58429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99872" y="3848100"/>
            <a:ext cx="4150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1.018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28150" y="3848100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101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57917" y="3848100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9,9%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5825" y="4086225"/>
            <a:ext cx="34691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17/09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70434" y="4086225"/>
            <a:ext cx="330413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Ação #SãoLuísEsseÉOMeuPatrimônio (regulamento)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1100" y="4086225"/>
            <a:ext cx="52402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16702" y="4086225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747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14917" y="4086225"/>
            <a:ext cx="21148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57917" y="4086225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5,0%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5825" y="4324350"/>
            <a:ext cx="38382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30/09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70434" y="4324350"/>
            <a:ext cx="183802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Passeios do Sul do Maranhão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1100" y="4324350"/>
            <a:ext cx="329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16702" y="4324350"/>
            <a:ext cx="29825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317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14917" y="4324350"/>
            <a:ext cx="21148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22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57917" y="4324350"/>
            <a:ext cx="3482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 i="0">
                <a:solidFill>
                  <a:srgbClr val="000000"/>
                </a:solidFill>
                <a:latin typeface="Montserrat"/>
              </a:rPr>
              <a:t>6,9%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1500" y="6057900"/>
            <a:ext cx="82473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Todos os 11 posts de setembro, ordenados por interações (exportação de posts do Meta Business Suite). Collabs com creators ocupam as 4 primeiras posições.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071789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stories mais relevantes - por visualização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286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559" y="4505325"/>
            <a:ext cx="124673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5,6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893" y="4791075"/>
            <a:ext cx="18142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22 DE SETEMBRO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5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9969" y="4505325"/>
            <a:ext cx="12619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4,9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3893" y="4791075"/>
            <a:ext cx="18142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22 DE SETEMBRO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2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9052" y="4505325"/>
            <a:ext cx="12578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4,7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0893" y="4791075"/>
            <a:ext cx="18142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22 DE SETEMBRO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7889" y="1190625"/>
            <a:ext cx="6829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2525" y="1638300"/>
            <a:ext cx="3021711" cy="1928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Os 24 stories do mês somaram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42,8 mil visualizações, crescimento de 225%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em relação a agosto. Os mais vistos fazem parte da sequência de vídeos publicada em 22/09 com cenas do cotidiano ludovicense, como o bar, o restaurante e a feira, que somou mais de 19 mil visualizações. Os stories de 10 e 14/09 apresentaram o roteiro digital pelos patrimônios de São Luís. O resultado mostra que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 vida real da cidade é um território forte para os stories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da marca.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536853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FACEBOOK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690045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mensal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6850"/>
            <a:ext cx="11684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VISUALIZADORES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6417" y="1685925"/>
            <a:ext cx="171241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152.185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48%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900" y="14668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405" y="16859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1.135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12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34%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668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026" y="1685925"/>
            <a:ext cx="1105198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-17%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33 pontos percentuais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2851" y="27241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0861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2905" y="330517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2.409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7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49%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0861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124" y="3305175"/>
            <a:ext cx="875854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-194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12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156.042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· agosto: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+281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177 novos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766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7776" y="3495675"/>
            <a:ext cx="158755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7 criativos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770" y="38957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-7 criativos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4 fotos e 3 Reels, além de 10 stories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819" y="46005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2175" y="5010150"/>
            <a:ext cx="8103680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o Facebook acompanhou a redução de distribuição: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visualizadores -48% e interações -49%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metade dos criativos de agosto no feed. As visitas recuaram 34% e a página voltou a ter saldo negativo de seguidores (-194), levando a taxa de retenção a -17%. O conteúdo de maior desempenho foi o Reels "414 anos de São Luís", com 38,8 mil visualizações.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51174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3500"/>
            <a:ext cx="10282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 spc="18">
                <a:solidFill>
                  <a:srgbClr val="FFFFFF"/>
                </a:solidFill>
                <a:latin typeface="Montserrat"/>
              </a:rPr>
              <a:t>NOVA MÉTRICA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5475" y="1362075"/>
            <a:ext cx="882048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EA2548"/>
                </a:solidFill>
                <a:latin typeface="Montserrat"/>
              </a:rPr>
              <a:t>M.A: -48%</a:t>
            </a:r>
          </a:p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000000"/>
                </a:solidFill>
                <a:latin typeface="Montserrat"/>
              </a:rPr>
              <a:t>A.A: pendente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7050" y="3152775"/>
            <a:ext cx="158740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visualizadores mensais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9225" y="1285875"/>
            <a:ext cx="1539061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EA2548"/>
                </a:solidFill>
                <a:latin typeface="Montserrat"/>
              </a:rPr>
              <a:t>M.A: -194 segs (ago: +281)</a:t>
            </a:r>
          </a:p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000000"/>
                </a:solidFill>
                <a:latin typeface="Montserrat"/>
              </a:rPr>
              <a:t>A.A: pendente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3495675"/>
            <a:ext cx="882048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EA2548"/>
                </a:solidFill>
                <a:latin typeface="Montserrat"/>
              </a:rPr>
              <a:t>M.A: -49%</a:t>
            </a:r>
          </a:p>
          <a:p>
            <a:pPr algn="l">
              <a:lnSpc>
                <a:spcPts val="1080"/>
              </a:lnSpc>
            </a:pPr>
            <a:r>
              <a:rPr sz="900" b="1" i="0">
                <a:solidFill>
                  <a:srgbClr val="000000"/>
                </a:solidFill>
                <a:latin typeface="Montserrat"/>
              </a:rPr>
              <a:t>A.A: pendente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9211" y="3505200"/>
            <a:ext cx="33917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-17%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72150"/>
            <a:ext cx="592082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Obs: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a partir de junho/26, a Meta substituiu a métrica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Alcance por Visualizadores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para páginas do Facebook.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419" y="1019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1409700"/>
            <a:ext cx="3512402" cy="237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No Facebook, setembro registrou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152.185 visualizadores (-48%)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e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2.409 interações (-49%)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com visualizadores em patamar próximo ao de julho.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As visualizações somaram 228.234, das quais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78% vieram de anúncios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(179.030) e 22% do orgânico (49.204, -75%). Isso mostra que, no Facebook, a distribuição da página segue fortemente dependente da mídia paga.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Os Reels foram o formato com mais interações (907), seguidos pelas publicações com várias fotos (525). A base encerrou o mês com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156.042 seguidores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saldo de -194, e a taxa de retenção voltou ao campo negativo (-17%) após o resultado positivo de agosto.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92574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no feed - 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811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2746" y="1171575"/>
            <a:ext cx="27250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10/09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0326" y="3086100"/>
            <a:ext cx="132085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CONTEÚDO PATROCINADO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405" y="3324225"/>
            <a:ext cx="14808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850" y="3787080"/>
            <a:ext cx="20776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737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254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254" y="3684240"/>
            <a:ext cx="4246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38,8 mil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7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728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0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7921" y="1171575"/>
            <a:ext cx="27250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10/09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5501" y="3086100"/>
            <a:ext cx="132085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CONTEÚDO PATROCINADO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341" y="3324225"/>
            <a:ext cx="15851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0,5%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3025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3025" y="3787080"/>
            <a:ext cx="188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7429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7429" y="3684240"/>
            <a:ext cx="41776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36,6 mil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2456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2456" y="3684240"/>
            <a:ext cx="21892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9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1664" y="1171575"/>
            <a:ext cx="293936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02/09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7332" y="3324225"/>
            <a:ext cx="14875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787080"/>
            <a:ext cx="13230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604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604" y="3684240"/>
            <a:ext cx="22904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408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6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6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15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025" y="4781550"/>
            <a:ext cx="11360848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No Facebook, os destaques de setembro também vieram da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campanha de Aniversário de São Luís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O Reels "414 anos de São Luís" teve 38,8 mil visualizações e 737 interações, o maior resultado do mês na página. A publicação "Patrimônio é tudo aquilo que compõe a…", do mesmo dia, teve visualizações semelhantes, mas menos interações. Entre os posts orgânicos, o Reels "414 anos de histórias" (02/09) teve o maior volume de interações (17). Na página, os cliques no link cresceram 38% (1.141).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" y="6096000"/>
            <a:ext cx="1013296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Taxa de engajamento = interações ÷ visualizações. Os criativos 1 e 2 são as versões em anúncio, publicadas em 10/09 (card "Posts mais relevantes" do Meta Business Suite); o 3 vem da exportação de posts da página.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629781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gráfico de relação visitas x novos seguidores x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239" y="1628775"/>
            <a:ext cx="54128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177" y="1628775"/>
            <a:ext cx="148426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090" y="1628775"/>
            <a:ext cx="15530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1821" y="53435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1511" y="5876925"/>
            <a:ext cx="7828979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70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relação entre visitas ao perfil x novos seguidores mensais.</a:t>
            </a:r>
          </a:p>
          <a:p>
            <a:pPr algn="ctr">
              <a:lnSpc>
                <a:spcPts val="1170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272965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TÁ ROLANDO NA REDE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37559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tá rolando nas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47776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exemplos de menções sobre a marca nas redes sociais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1333500"/>
            <a:ext cx="153114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Montserrat"/>
              </a:rPr>
              <a:t>rede social: </a:t>
            </a:r>
            <a:r>
              <a:rPr sz="1050" b="0" i="0">
                <a:solidFill>
                  <a:srgbClr val="000000"/>
                </a:solidFill>
                <a:latin typeface="Montserrat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" y="1771650"/>
            <a:ext cx="24641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@ostropix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collab (parceria paga) · 22/09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1325" y="3428554"/>
            <a:ext cx="2854928" cy="657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"Onde tem o Guaraná Jesus mais gelado de São Luís?" gerou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identificação com a cidade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inclusive de maranhenses que moram longe, e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intenção de consumo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1771650"/>
            <a:ext cx="14699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@paivete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collab · 10/09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2075" y="4157365"/>
            <a:ext cx="2854928" cy="657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"Bora turistar por São Luís" teve comentários elogiando o vídeo e o creator como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garoto-propaganda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da marca, reforçando o papel dos creators locais na campanha.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4199632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APRENDIZADOS E PLANO DE AÇÃO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51906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20645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o que setembro nos ensina para os próximos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2900" y="1628775"/>
            <a:ext cx="14604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território e conteúdo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2209800"/>
            <a:ext cx="3276790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Identidade local é o território mais forte da marca.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Com alcance 45% menor, as interações cresceram 3% e a taxa de engajamento passou de 5% para 10%: quando a marca fala de São Luís e de quem vive a cidade, a resposta é proporcionalmente maior.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3381375"/>
            <a:ext cx="3276790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Campanha não é régua.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As collabs com creators concentraram a maior parte das interações, mas é um recurso pontual, que a marca não costuma usar. Os posts próprios somaram cerca de 1,1 mil interações: esse é o patamar a ser evoluído no conteúdo recorrente.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8156" y="1628775"/>
            <a:ext cx="145568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comunidade e mídia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2209800"/>
            <a:ext cx="3276790" cy="1266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O always-on de seguidores sustenta o crescimento.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 campanha de visitas ao perfil seguiu ativa e o perfil converteu 15% das visitas em seguidores, mesmo com 54% menos visitas. Por outro lado, o saldo de seguidores foi 52% menor que o de agosto, o que mostra que o crescimento acompanha o volume de mídia.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050" y="3567112"/>
            <a:ext cx="3276790" cy="895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Verba enxuta pede priorização.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Sem verba extra para a campanha, remanejar parte do investimento para impulsionar os conteúdos de maior resposta orgânica trouxe resultado a baixo custo, mas reduziu a escala de alcance.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824" y="1628775"/>
            <a:ext cx="47610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3925" y="2209800"/>
            <a:ext cx="3276790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Stories são o canal com mais espaço para crescer.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As visualizações cresceram 225% com cenas simples do cotidiano ludovicense, conteúdo de produção leve e alta identificação.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3925" y="3009900"/>
            <a:ext cx="3276790" cy="895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O Facebook funciona como canal de mídia, não de comunidade.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78% das visualizações vieram de anúncios e a página perdeu 194 seguidores. O canal deve ser planejado como apoio de alcance, com metas próprias.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60330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plano de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01404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ads, stories e feed · médio e longo prazo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1175" y="1724025"/>
            <a:ext cx="203790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ontserrat"/>
              </a:rPr>
              <a:t>médio prazo · próximos 3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1800" y="1724025"/>
            <a:ext cx="22621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ontserrat"/>
              </a:rPr>
              <a:t>longo prazo · próximos 6 a 12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243138"/>
            <a:ext cx="3016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EA2548"/>
                </a:solidFill>
                <a:latin typeface="Montserrat"/>
              </a:rPr>
              <a:t>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5" y="2047875"/>
            <a:ext cx="4915186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Manter o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always-on de visitas ao perfil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com verba fixa mensal, renovando o criativo (o carrossel "Desculpa…" roda desde agosto). Reservar uma parte da verba para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impulsionar posts com melhor resposta orgânica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nas primeiras 48h.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2047875"/>
            <a:ext cx="491518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Montar um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calendário anual de mídia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com verba específica para as datas-chave da marca, sem tirar recursos do always-on. Acompanhar custo por visita e por seguidor como indicadores de eficiência.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943225"/>
            <a:ext cx="5374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EA2548"/>
                </a:solidFill>
                <a:latin typeface="Montserrat"/>
              </a:rPr>
              <a:t>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1175" y="2819400"/>
            <a:ext cx="491518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1" i="0">
                <a:solidFill>
                  <a:srgbClr val="000000"/>
                </a:solidFill>
                <a:latin typeface="Montserrat"/>
              </a:rPr>
              <a:t>Priorizar stories do cotidiano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sempre que houver produção: cenas da cidade, pontos de venda, momentos de consumo, com enquetes e caixas de pergunta para gerar respostas.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2819400"/>
            <a:ext cx="491518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Criar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quadros fixos semanais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nos stories e organizar destaques temáticos, transformando o canal em espaço de relacionamento contínuo com a comunidade.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3571875"/>
            <a:ext cx="37162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EA2548"/>
                </a:solidFill>
                <a:latin typeface="Montserrat"/>
              </a:rPr>
              <a:t>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175" y="3448050"/>
            <a:ext cx="491518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Levar os insights da campanha para o conteúdo próprio: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identidade ludovicense, patrimônio e pessoas reais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em Reels, sem depender de creators. Usar as collabs apenas como referência para as próximas campanhas.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448050"/>
            <a:ext cx="491518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Consolidar uma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linha editorial com pilares fixos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(produto, identidade local e sazonal) e metas por pilar, com creators entrando apenas como reforço pontual em campanhas.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129088"/>
            <a:ext cx="73372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1175" y="4076700"/>
            <a:ext cx="4915186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Adaptar os Reels de melhor desempenho do Instagram para a página e retomar o volume de publicações de agosto.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4076700"/>
            <a:ext cx="4915186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Definir o papel do canal como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apoio de alcance pago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com metas próprias de visualização e cliques.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2251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resumo: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95746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estratégias identificadas, propostas e próximos passos: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8364" y="1533525"/>
            <a:ext cx="17942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continuar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5067" y="1809750"/>
            <a:ext cx="74071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VALIDADO 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Always-on de 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sustentou a taxa de retenção de 15% mesmo com menos visitas.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605088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Identidade ludovicense: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os conteúdos sobre São Luís lideraram as interações no Instagram e no Facebook.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198019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Stories do cotidiano: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+225% nas visualizações com produção leve.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3612356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Datas da cidade: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 aniversário de São Luís gerou o maior volume de interações do ano no Instagram.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6840" y="1533525"/>
            <a:ext cx="13183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pontos de 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1229" y="1809750"/>
            <a:ext cx="1569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O QUE MERECE CUIDADO 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recuo de 45% no Instagram e 48% no Facebook, acompanhando a menor verba de mídia.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2605088"/>
            <a:ext cx="3178683" cy="678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Dependência de campanha: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sem as collabs, os posts próprios somaram cerca de 1,1 mil interações; o conteúdo recorrente precisa ganhar tração própria.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3376612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saldo 52% menor que o de agosto, acompanhando a verba menor.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8675" y="37909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saldo negativo de seguidores e distribuição dependente de anúncios.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946" y="1533525"/>
            <a:ext cx="15231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testar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8929" y="1809750"/>
            <a:ext cx="6549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HIPÓTESES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1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Séries de lugares e hábitos de São Luís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fora do período de campanha (foco em alcance orgânico).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175" y="2605088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Stories com cenas do cotidiano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e caixas de interação (foco em visualizações e respostas).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175" y="3019425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Reels exclusivos para o Facebook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interações e seguidores na página).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9175" y="3433762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Verba específica para datas-chave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separada do always-on (foco em escala sem perder retenção).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9175" y="3848100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Creators como reforço pontual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em campanhas, usando setembro como referência (foco em alcance).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50798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quadro resumo | big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89855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resumo do desempenho do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8680" y="2847975"/>
            <a:ext cx="9410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6975" y="1323975"/>
            <a:ext cx="6222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0840" y="4600575"/>
            <a:ext cx="67687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seguidores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2225" y="3076575"/>
            <a:ext cx="38531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+1.623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485" y="6353175"/>
            <a:ext cx="6374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2225" y="4829175"/>
            <a:ext cx="564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090" y="3067050"/>
            <a:ext cx="25946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top 3 criativos por interações: 20.502 · 3.456 · 3.153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8582" y="3543300"/>
            <a:ext cx="121458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tá rolando nas redes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886" y="1524000"/>
            <a:ext cx="108852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feedback no perfil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2450" y="3798391"/>
            <a:ext cx="257264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julianaccastroo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Que conteúdo massa 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4003625"/>
            <a:ext cx="85219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Montserrat"/>
              </a:rPr>
              <a:t>1 sem · 1 curtida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2450" y="4449812"/>
            <a:ext cx="3669221" cy="3195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minimundoleila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Como faço pra comprar esse guaraná no Rio de Janeiro?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2450" y="4822180"/>
            <a:ext cx="93478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Montserrat"/>
              </a:rPr>
              <a:t>1 sem · 4 curtidas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8625" y="5163592"/>
            <a:ext cx="3924300" cy="281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4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Comentários de setembro destacam a identificação com São Luís, a qualidade do conteúdo e a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procura pelo produto fora do Maranhão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67550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glossário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057275"/>
            <a:ext cx="96866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em determinado período, independentemente da quantidade de vezes que cada uma o acessou;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312069"/>
            <a:ext cx="90241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Métrica que substituiu o alcance nas páginas do Facebook a partir de junho/26; número de contas únicas que visualizaram o conteúdo;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1566862"/>
            <a:ext cx="6425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Impressões: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Total de vezes que o conteúdo foi exibido, incluindo múltiplas visualizações pela mesma conta;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821656"/>
            <a:ext cx="82955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vezes que o conteúdo foi assistido/exibido, contabilizando todas as repetições, sem distinção de usuários únicos;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076450"/>
            <a:ext cx="78116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Visitas ao perfil: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Quantidade de acessos ao perfil da marca, provenientes de publicações, anúncios, buscas ou compartilhamentos;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31244"/>
            <a:ext cx="53465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Saldo de pessoas que passaram a seguir o perfil no período analisado;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86038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retenção (visitas x seguidores):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Percentual de visitantes do perfil que se tornam seguidores. Mede a eficiência do perfil em transformar interesse em vínculo contínuo (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 ÷ Visitas × 100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019425"/>
            <a:ext cx="74665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Ações realizadas pelos usuários em um post (curtidas, comentários, compartilhamentos, salvamentos, respostas);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274219"/>
            <a:ext cx="3877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Soma das interações recebidas em um conteúdo;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529012"/>
            <a:ext cx="7639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Indicador de envolvimento proporcional do público em relação ao alcance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(Interações ÷ Alcance × 100)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83806"/>
            <a:ext cx="46575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ThruPlay: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Reprodução de um vídeo até o fim ou por pelo menos 15 segundos;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038600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orgânico: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sem investimento em mídia paga, incluindo seguidores e não seguidores que tiveram contato de forma espontânea no explorar, hashtags ou compartilhamentos;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471988"/>
            <a:ext cx="72011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pago: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a partir de anúncios ou impulsionamentos pagos.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997029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CAMPANHA ANIVERSÁRIO DE SÃO LUÍS · 414 ANOS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05809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aniversário de são luís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7326809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#SãoLuísEsseÉOMeuPatrimônio · visão geral da campanha em setembro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6850"/>
            <a:ext cx="85665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CONTEÚDOS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8813" y="1685925"/>
            <a:ext cx="511373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13" y="2124075"/>
            <a:ext cx="2531174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publicados entre 02 e 25/09</a:t>
            </a:r>
          </a:p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4 em collab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com creators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900" y="1466850"/>
            <a:ext cx="127456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 SOMADO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5833" y="1685925"/>
            <a:ext cx="153218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323.414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413" y="2124075"/>
            <a:ext cx="2531174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soma do alcance dos 10 posts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no 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146685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651" y="1685925"/>
            <a:ext cx="129554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29.300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913" y="2124075"/>
            <a:ext cx="2531174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78%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das interações do perfil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no mês (37.336)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5900" y="146685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8245" y="1685925"/>
            <a:ext cx="74801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727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8556" y="2124075"/>
            <a:ext cx="2727388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pessoas que seguiram o perfil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a partir dos posts da campanha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2895600"/>
            <a:ext cx="106099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VISUALIZAÇÕES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333" y="3114675"/>
            <a:ext cx="153218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408.563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13" y="3552825"/>
            <a:ext cx="2531174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soma dos 10 posts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no Instagram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0900" y="2895600"/>
            <a:ext cx="10081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INVESTIMENTO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6568" y="3114675"/>
            <a:ext cx="215071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R$ 1.099,21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6413" y="3552825"/>
            <a:ext cx="2531174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37%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da verba recorrente do mês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sem verba extra · 6 anúncios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0" y="2895600"/>
            <a:ext cx="8001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THRUPLAYS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51" y="3114675"/>
            <a:ext cx="129554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33.870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913" y="3552825"/>
            <a:ext cx="2531174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nos 5 vídeos impulsionados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de R$ 0,02 a R$ 0,05 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5900" y="2895600"/>
            <a:ext cx="6340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COLLABS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6083" y="3114675"/>
            <a:ext cx="153218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286.555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8556" y="3552825"/>
            <a:ext cx="2727388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alcance somado das 4 collabs</a:t>
            </a:r>
          </a:p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89%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do alcance da campanha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6819" y="427672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275" y="4686300"/>
            <a:ext cx="11164787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A campanha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#SãoLuísEsseÉOMeuPatrimônio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concentrou o mês do Guaraná Jesus: os 10 conteúdos somaram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29.300 interações, 78% de todo o perfil em setembro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As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collabs com creators locais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(@thaynaraog, @ostropix e @paivete), recurso pouco usual para a marca, foram o motor da campanha, com 89% do alcance somado e 716 dos 727 novos seguidores gerados pelos posts. Sem verba extra, R$ 1.099,21 da verba recorrente sustentaram a circulação dos vídeos, com custo por ThruPlay entre R$ 0,02 e R$ 0,05, e o carrossel impulsionado gerou 12.232 engajamentos a R$ 0,01 cada.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210300"/>
            <a:ext cx="11772900" cy="252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2"/>
              </a:lnSpc>
            </a:pPr>
            <a:r>
              <a:rPr sz="750" b="0" i="0">
                <a:solidFill>
                  <a:srgbClr val="595959"/>
                </a:solidFill>
                <a:latin typeface="Montserrat"/>
              </a:rPr>
              <a:t>Alcance e visualizações somados por post (uma mesma conta pode ter visto mais de um conteúdo). Interações = curtidas + comentários + compartilhamentos + salvamentos. Fontes: exportação de posts do Meta Business Suite e Gerenciador de Anúncios.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05809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aniversário de são luís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0688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lista de conteúdos e collabs · instagram e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" y="1628775"/>
            <a:ext cx="29482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EA2548"/>
                </a:solidFill>
                <a:latin typeface="Montserrat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748" y="1628775"/>
            <a:ext cx="58727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EA2548"/>
                </a:solidFill>
                <a:latin typeface="Montserrat"/>
              </a:rPr>
              <a:t>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827" y="1628775"/>
            <a:ext cx="49842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EA2548"/>
                </a:solidFill>
                <a:latin typeface="Montserrat"/>
              </a:rPr>
              <a:t>formato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8308" y="1628775"/>
            <a:ext cx="6222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EA2548"/>
                </a:solidFill>
                <a:latin typeface="Montserrat"/>
              </a:rPr>
              <a:t>IG alcance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918" y="1628775"/>
            <a:ext cx="62879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EA2548"/>
                </a:solidFill>
                <a:latin typeface="Montserrat"/>
              </a:rPr>
              <a:t>IG visualiz.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163" y="1628775"/>
            <a:ext cx="77316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EA2548"/>
                </a:solidFill>
                <a:latin typeface="Montserrat"/>
              </a:rPr>
              <a:t>IG interações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2813" y="1628775"/>
            <a:ext cx="7783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EA2548"/>
                </a:solidFill>
                <a:latin typeface="Montserrat"/>
              </a:rPr>
              <a:t>IG novos seg.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4604" y="1628775"/>
            <a:ext cx="65588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EA2548"/>
                </a:solidFill>
                <a:latin typeface="Montserrat"/>
              </a:rPr>
              <a:t>FB 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3228" y="1628775"/>
            <a:ext cx="80679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EA2548"/>
                </a:solidFill>
                <a:latin typeface="Montserrat"/>
              </a:rPr>
              <a:t>FB interações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975" y="1847850"/>
            <a:ext cx="34766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02/09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748" y="1847850"/>
            <a:ext cx="124316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"414 anos de histórias"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5827" y="1847850"/>
            <a:ext cx="2958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8935" y="1847850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5.938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6093" y="1847850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4.376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8137" y="184785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6289" y="1847850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301" y="184785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8483" y="1847850"/>
            <a:ext cx="1915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2066925"/>
            <a:ext cx="35986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04/09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9748" y="2066925"/>
            <a:ext cx="358333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"Patrimônio é tudo aquilo que compõe…" (convite à participação)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5827" y="2066925"/>
            <a:ext cx="52134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2288" y="2066925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26.807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6093" y="206692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6.399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8137" y="20669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6289" y="206692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2301" y="20669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15130" y="206692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975" y="2286000"/>
            <a:ext cx="34334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07/09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9748" y="2286000"/>
            <a:ext cx="33861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Collab @thaynaraog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· "São Luís é patrimônio de quem vive…"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5827" y="2286000"/>
            <a:ext cx="2958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5642" y="2286000"/>
            <a:ext cx="5249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137.243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2800" y="2286000"/>
            <a:ext cx="5249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210.302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8055" y="2286000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20.502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2996" y="228600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32852" y="2286000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82388" y="2286000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975" y="2505075"/>
            <a:ext cx="35436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08/09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9748" y="2505075"/>
            <a:ext cx="22909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Collab @ostropix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· "414 anos de São Luís"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25827" y="2505075"/>
            <a:ext cx="2958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2288" y="2505075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69.439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39446" y="2505075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90.936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4701" y="250507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3.153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2996" y="250507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32852" y="2505075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82388" y="2505075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1975" y="2724150"/>
            <a:ext cx="32176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10/09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9748" y="2724150"/>
            <a:ext cx="250328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Collab @paivete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· "Bora turistar por São Luís"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25827" y="2724150"/>
            <a:ext cx="2958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2288" y="2724150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38.974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9446" y="2724150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23.622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4701" y="2724150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1.139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19642" y="2724150"/>
            <a:ext cx="1915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32852" y="2724150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82388" y="2724150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975" y="2943225"/>
            <a:ext cx="29095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11/09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9748" y="2943225"/>
            <a:ext cx="182314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Roteiro digital pelos patrimônios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5827" y="2943225"/>
            <a:ext cx="52134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8935" y="294322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1.290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6093" y="294322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2.677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8137" y="29432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96289" y="294322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12301" y="29432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193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15130" y="294322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1975" y="3162300"/>
            <a:ext cx="31343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15/09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9748" y="3162300"/>
            <a:ext cx="15890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Coleção de selos de São Luís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5827" y="3162300"/>
            <a:ext cx="52134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8935" y="3162300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1.018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6093" y="3162300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2.347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8137" y="316230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96289" y="3162300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2301" y="316230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285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8483" y="3162300"/>
            <a:ext cx="1915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1975" y="3381375"/>
            <a:ext cx="31134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17/09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9748" y="3381375"/>
            <a:ext cx="292715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Ação #SãoLuísEsseÉOMeuPatrimônio (regulamento)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25827" y="3381375"/>
            <a:ext cx="46806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2370" y="338137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747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6093" y="338137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1.436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4783" y="3381375"/>
            <a:ext cx="1915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96289" y="338137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12301" y="338137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515130" y="338137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1975" y="3600450"/>
            <a:ext cx="3373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22/09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9748" y="3600450"/>
            <a:ext cx="34193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Collab @ostropix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· "Onde tem o Guaraná Jesus mais gelado…"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25827" y="3600450"/>
            <a:ext cx="2958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2288" y="3600450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40.899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39446" y="3600450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64.998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4701" y="3600450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3.456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42996" y="360045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32852" y="3600450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482388" y="3600450"/>
            <a:ext cx="14763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975" y="3819525"/>
            <a:ext cx="3360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25/09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9748" y="3819525"/>
            <a:ext cx="32886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"São Luís tem patrimônio em cada canto" (fotos do público)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25827" y="3819525"/>
            <a:ext cx="2958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78935" y="381952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1.059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6093" y="381952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1.470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28137" y="38195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149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96289" y="3819525"/>
            <a:ext cx="11489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12301" y="38195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253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8483" y="3819525"/>
            <a:ext cx="1915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9748" y="4048125"/>
            <a:ext cx="26021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Total da campanha (10 conteúdos · 4 collabs)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25642" y="4048125"/>
            <a:ext cx="5249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323.414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62800" y="4048125"/>
            <a:ext cx="5249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408.563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48055" y="4048125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29.300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42996" y="4048125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727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08865" y="4048125"/>
            <a:ext cx="3716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1.482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38483" y="4048125"/>
            <a:ext cx="1915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000000"/>
                </a:solidFill>
                <a:latin typeface="Montserrat"/>
              </a:rPr>
              <a:t>57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9748" y="4267200"/>
            <a:ext cx="91023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A0000"/>
                </a:solidFill>
                <a:latin typeface="Montserrat"/>
              </a:rPr>
              <a:t>Subtotal collabs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25642" y="4267200"/>
            <a:ext cx="5249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9A0000"/>
                </a:solidFill>
                <a:latin typeface="Montserrat"/>
              </a:rPr>
              <a:t>286.555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62800" y="4267200"/>
            <a:ext cx="5249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9A0000"/>
                </a:solidFill>
                <a:latin typeface="Montserrat"/>
              </a:rPr>
              <a:t>389.858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48055" y="4267200"/>
            <a:ext cx="44827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9A0000"/>
                </a:solidFill>
                <a:latin typeface="Montserrat"/>
              </a:rPr>
              <a:t>28.250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42996" y="4267200"/>
            <a:ext cx="2681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9A0000"/>
                </a:solidFill>
                <a:latin typeface="Montserrat"/>
              </a:rPr>
              <a:t>716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4825" y="4562475"/>
            <a:ext cx="1102444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Linhas destacadas: collabs com creators (publicadas no Instagram, sem versão na página do Facebook). Valores totais de cada post na exportação do Meta; o detalhamento dos anúncios aparece na próxima tela.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6245" y="190500"/>
            <a:ext cx="10471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05809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aniversário de são luís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077569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anúncios da campanha · Gerenciador de Anúncios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4672" y="1628775"/>
            <a:ext cx="5220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anúncio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705" y="1628775"/>
            <a:ext cx="81423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EA2548"/>
                </a:solidFill>
                <a:latin typeface="Montserrat"/>
              </a:rPr>
              <a:t>investimento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4667" y="1628775"/>
            <a:ext cx="4914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310" y="1628775"/>
            <a:ext cx="709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EA2548"/>
                </a:solidFill>
                <a:latin typeface="Montserrat"/>
              </a:rPr>
              <a:t>impressões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3359" y="1628775"/>
            <a:ext cx="59382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EA2548"/>
                </a:solidFill>
                <a:latin typeface="Montserrat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8021" y="1628775"/>
            <a:ext cx="36150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EA2548"/>
                </a:solidFill>
                <a:latin typeface="Montserrat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4672" y="2019300"/>
            <a:ext cx="140225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Vídeo · collab @ostropix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7886" y="2019300"/>
            <a:ext cx="653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R$ 299,73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9968" y="201930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29.898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5495" y="201930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35.792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8546" y="2019300"/>
            <a:ext cx="9986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6.289 ThruPlays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6457" y="2019300"/>
            <a:ext cx="4930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R$ 0,05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4672" y="2571750"/>
            <a:ext cx="13608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Vídeo · collab @paivete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7886" y="2571750"/>
            <a:ext cx="653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R$ 200,00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9968" y="257175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36.589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5495" y="257175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42.809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8625" y="2571750"/>
            <a:ext cx="10785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10.694 ThruPlays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6457" y="2571750"/>
            <a:ext cx="4930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R$ 0,02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4672" y="3052762"/>
            <a:ext cx="159899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Vídeo · selo "São Luís é</a:t>
            </a:r>
          </a:p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um patrimônio"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7886" y="3124200"/>
            <a:ext cx="653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R$ 150,00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9968" y="312420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24.712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5495" y="312420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33.399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546" y="3124200"/>
            <a:ext cx="9986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6.018 ThruPlays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6457" y="3124200"/>
            <a:ext cx="4930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R$ 0,02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4672" y="3605212"/>
            <a:ext cx="159899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Vídeo · selo "A Ilha do</a:t>
            </a:r>
          </a:p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amor é um patrimônio"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7886" y="3676650"/>
            <a:ext cx="653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R$ 149,67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0038" y="3676650"/>
            <a:ext cx="3860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3.277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565" y="3676650"/>
            <a:ext cx="3860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7.718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8546" y="3676650"/>
            <a:ext cx="9986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5.439 ThruPlays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6457" y="3676650"/>
            <a:ext cx="4930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R$ 0,03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4672" y="4229100"/>
            <a:ext cx="6808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Vídeo · selo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7886" y="4229100"/>
            <a:ext cx="653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R$ 149,81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0038" y="4229100"/>
            <a:ext cx="3860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4.769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5565" y="4229100"/>
            <a:ext cx="3860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9.295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8546" y="4229100"/>
            <a:ext cx="9986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5.430 ThruPlays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6457" y="4229100"/>
            <a:ext cx="4930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R$ 0,03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4672" y="4781550"/>
            <a:ext cx="55810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87886" y="4781550"/>
            <a:ext cx="653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R$ 150,00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9968" y="478155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25.291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5495" y="4781550"/>
            <a:ext cx="466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36.569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9246" y="4781550"/>
            <a:ext cx="1347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12.232 engajamentos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6457" y="4781550"/>
            <a:ext cx="4930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R$ 0,01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4672" y="5181600"/>
            <a:ext cx="9971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Montserrat"/>
              </a:rPr>
              <a:t>Total campanha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9986" y="5181600"/>
            <a:ext cx="7609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R$ 1.099,21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02422" y="5181600"/>
            <a:ext cx="5936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124.536*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35426" y="5181600"/>
            <a:ext cx="5461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165.582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8625" y="5181600"/>
            <a:ext cx="10785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33.870 ThruPlays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4825" y="5486400"/>
            <a:ext cx="7397306" cy="3937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*Alcance somado por anúncio (uma mesma conta pode ter sido impactada por mais de um anúncio). Identificação dos criativos pelas miniaturas do Gerenciador. A campanha de visitas ao perfil (carrossel "Desculpa…", R$ 1.877,83) não faz parte da ação de aniversário e ficou de fora.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79694" y="12858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525" y="1695450"/>
            <a:ext cx="3414141" cy="2464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A mídia da campanha priorizou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visualização completa dos vídeos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: os 5 vídeos somaram 33.870 ThruPlays com custo entre R$ 0,02 e R$ 0,05. O vídeo em collab com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@paivete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foi o mais eficiente, com 10.694 ThruPlays a R$ 0,02 e o maior alcance pago (36.589). O carrossel teve o menor custo por resultado da campanha,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R$ 0,01 por engajamento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.</a:t>
            </a:r>
          </a:p>
          <a:p>
            <a:pPr algn="just">
              <a:lnSpc>
                <a:spcPts val="1406"/>
              </a:lnSpc>
            </a:pPr>
          </a:p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Os vídeos com selos de patrimônio tiveram bom custo por ThruPlay, mas alcance pago menor que o das collabs. Como a marca não tem o hábito de trabalhar com creators, esse resultado deve ser lido como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insight para as próximas campanhas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e não como régua para o conteúdo recorrente.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" y="6124575"/>
            <a:ext cx="13035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50" b="1" i="0" spc="33">
                <a:solidFill>
                  <a:srgbClr val="FFFFFF"/>
                </a:solidFill>
                <a:latin typeface="Montserrat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